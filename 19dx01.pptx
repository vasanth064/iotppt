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aleway"/>
      <p:regular r:id="rId21"/>
      <p:bold r:id="rId22"/>
      <p:italic r:id="rId23"/>
      <p:boldItalic r:id="rId24"/>
    </p:embeddedFont>
    <p:embeddedFont>
      <p:font typeface="Roboto"/>
      <p:regular r:id="rId25"/>
      <p:bold r:id="rId26"/>
      <p:italic r:id="rId27"/>
      <p:boldItalic r:id="rId28"/>
    </p:embeddedFont>
    <p:embeddedFont>
      <p:font typeface="Source Sans Pr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2B1FE8-43CF-47B7-8FF2-0FCDE447C84C}">
  <a:tblStyle styleId="{062B1FE8-43CF-47B7-8FF2-0FCDE447C84C}"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SourceSansPr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ourceSansPro-italic.fntdata"/><Relationship Id="rId30" Type="http://schemas.openxmlformats.org/officeDocument/2006/relationships/font" Target="fonts/SourceSansPr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SourceSansPr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22f445037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22f445037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214cfff5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214cfff5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24c8d096b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24c8d096b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22f445037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22f445037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214cfff570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214cfff57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24c8d096b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24c8d096b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22f445037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22f445037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4c8d096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24c8d096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22f4450374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22f445037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24c8d096b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24c8d096b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24c8d096b9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24c8d096b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2b32eef20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2b32eef20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2b32eef2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2b32eef2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nvSpPr>
        <p:spPr>
          <a:xfrm>
            <a:off x="410050" y="367225"/>
            <a:ext cx="8401200" cy="2124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800"/>
              <a:t>Department : Diploma in Computer engineering</a:t>
            </a:r>
            <a:endParaRPr b="1" sz="1800"/>
          </a:p>
          <a:p>
            <a:pPr indent="0" lvl="0" marL="0" rtl="0" algn="l">
              <a:lnSpc>
                <a:spcPct val="150000"/>
              </a:lnSpc>
              <a:spcBef>
                <a:spcPts val="0"/>
              </a:spcBef>
              <a:spcAft>
                <a:spcPts val="0"/>
              </a:spcAft>
              <a:buNone/>
            </a:pPr>
            <a:r>
              <a:rPr b="1" lang="en" sz="1800"/>
              <a:t>Course code : Z18602</a:t>
            </a:r>
            <a:endParaRPr b="1" sz="1800"/>
          </a:p>
          <a:p>
            <a:pPr indent="0" lvl="0" marL="0" rtl="0" algn="l">
              <a:lnSpc>
                <a:spcPct val="150000"/>
              </a:lnSpc>
              <a:spcBef>
                <a:spcPts val="0"/>
              </a:spcBef>
              <a:spcAft>
                <a:spcPts val="0"/>
              </a:spcAft>
              <a:buNone/>
            </a:pPr>
            <a:r>
              <a:rPr b="1" lang="en" sz="1800"/>
              <a:t>Course title : Building Internet of Things</a:t>
            </a:r>
            <a:endParaRPr b="1" sz="1800"/>
          </a:p>
          <a:p>
            <a:pPr indent="0" lvl="0" marL="0" rtl="0" algn="l">
              <a:lnSpc>
                <a:spcPct val="150000"/>
              </a:lnSpc>
              <a:spcBef>
                <a:spcPts val="0"/>
              </a:spcBef>
              <a:spcAft>
                <a:spcPts val="0"/>
              </a:spcAft>
              <a:buNone/>
            </a:pPr>
            <a:r>
              <a:rPr b="1" lang="en" sz="1800"/>
              <a:t>Topic : </a:t>
            </a:r>
            <a:r>
              <a:rPr b="1" lang="en" sz="1800">
                <a:solidFill>
                  <a:schemeClr val="dk2"/>
                </a:solidFill>
              </a:rPr>
              <a:t>Research of MQTT, CoAP, HTTP and XMPP IoT Communication protocols for Embedded Systems </a:t>
            </a:r>
            <a:endParaRPr b="1" sz="1800"/>
          </a:p>
        </p:txBody>
      </p:sp>
      <p:sp>
        <p:nvSpPr>
          <p:cNvPr id="59" name="Google Shape;59;p13"/>
          <p:cNvSpPr txBox="1"/>
          <p:nvPr/>
        </p:nvSpPr>
        <p:spPr>
          <a:xfrm>
            <a:off x="580025" y="2867225"/>
            <a:ext cx="466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Source Sans Pro"/>
                <a:ea typeface="Source Sans Pro"/>
                <a:cs typeface="Source Sans Pro"/>
                <a:sym typeface="Source Sans Pro"/>
              </a:rPr>
              <a:t>By - V Abishek -19DX01</a:t>
            </a:r>
            <a:endParaRPr b="1">
              <a:solidFill>
                <a:schemeClr val="lt1"/>
              </a:solidFill>
              <a:latin typeface="Source Sans Pro"/>
              <a:ea typeface="Source Sans Pro"/>
              <a:cs typeface="Source Sans Pro"/>
              <a:sym typeface="Source Sans Pro"/>
            </a:endParaRPr>
          </a:p>
        </p:txBody>
      </p:sp>
      <p:sp>
        <p:nvSpPr>
          <p:cNvPr id="60" name="Google Shape;60;p13"/>
          <p:cNvSpPr txBox="1"/>
          <p:nvPr/>
        </p:nvSpPr>
        <p:spPr>
          <a:xfrm>
            <a:off x="410050" y="3720025"/>
            <a:ext cx="81918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rPr>
              <a:t>N. Nikolov, "Research of MQTT, CoAP, HTTP and XMPP IoT Communication protocols for Embedded Systems," </a:t>
            </a:r>
            <a:r>
              <a:rPr b="1" i="1" lang="en">
                <a:solidFill>
                  <a:schemeClr val="lt1"/>
                </a:solidFill>
              </a:rPr>
              <a:t>2020 XXIX International Scientific Conference Electronics (ET)</a:t>
            </a:r>
            <a:r>
              <a:rPr b="1" lang="en">
                <a:solidFill>
                  <a:schemeClr val="lt1"/>
                </a:solidFill>
              </a:rPr>
              <a:t>, 2020, pp. 1-4, doi: 10.1109/ET50336.2020.9238208.</a:t>
            </a:r>
            <a:endParaRPr b="1">
              <a:solidFill>
                <a:schemeClr val="lt1"/>
              </a:solidFill>
            </a:endParaRPr>
          </a:p>
          <a:p>
            <a:pPr indent="0" lvl="0" marL="0" rtl="0" algn="just">
              <a:spcBef>
                <a:spcPts val="0"/>
              </a:spcBef>
              <a:spcAft>
                <a:spcPts val="0"/>
              </a:spcAft>
              <a:buNone/>
            </a:pPr>
            <a:r>
              <a:t/>
            </a:r>
            <a:endParaRPr b="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nvSpPr>
        <p:spPr>
          <a:xfrm>
            <a:off x="414150" y="329425"/>
            <a:ext cx="7650000" cy="522600"/>
          </a:xfrm>
          <a:prstGeom prst="rect">
            <a:avLst/>
          </a:prstGeom>
          <a:noFill/>
          <a:ln>
            <a:noFill/>
          </a:ln>
        </p:spPr>
        <p:txBody>
          <a:bodyPr anchorCtr="0" anchor="t" bIns="91425" lIns="91425" spcFirstLastPara="1" rIns="91425" wrap="square" tIns="91425">
            <a:spAutoFit/>
          </a:bodyPr>
          <a:lstStyle/>
          <a:p>
            <a:pPr indent="-4180" lvl="0" marL="139423" marR="366118" rtl="0" algn="l">
              <a:lnSpc>
                <a:spcPct val="96072"/>
              </a:lnSpc>
              <a:spcBef>
                <a:spcPts val="2542"/>
              </a:spcBef>
              <a:spcAft>
                <a:spcPts val="0"/>
              </a:spcAft>
              <a:buNone/>
            </a:pPr>
            <a:r>
              <a:rPr b="1" lang="en" sz="2195">
                <a:solidFill>
                  <a:schemeClr val="dk2"/>
                </a:solidFill>
                <a:latin typeface="Raleway"/>
                <a:ea typeface="Raleway"/>
                <a:cs typeface="Raleway"/>
                <a:sym typeface="Raleway"/>
              </a:rPr>
              <a:t>MQTT: </a:t>
            </a:r>
            <a:r>
              <a:rPr b="1" lang="en" sz="2100">
                <a:solidFill>
                  <a:srgbClr val="111111"/>
                </a:solidFill>
                <a:highlight>
                  <a:srgbClr val="FFFFFF"/>
                </a:highlight>
                <a:latin typeface="Roboto"/>
                <a:ea typeface="Roboto"/>
                <a:cs typeface="Roboto"/>
                <a:sym typeface="Roboto"/>
              </a:rPr>
              <a:t>Message Queuing Telemetry Transport</a:t>
            </a:r>
            <a:endParaRPr b="1"/>
          </a:p>
        </p:txBody>
      </p:sp>
      <p:sp>
        <p:nvSpPr>
          <p:cNvPr id="66" name="Google Shape;66;p14"/>
          <p:cNvSpPr txBox="1"/>
          <p:nvPr/>
        </p:nvSpPr>
        <p:spPr>
          <a:xfrm>
            <a:off x="653275" y="1075675"/>
            <a:ext cx="7747200" cy="3955800"/>
          </a:xfrm>
          <a:prstGeom prst="rect">
            <a:avLst/>
          </a:prstGeom>
          <a:noFill/>
          <a:ln>
            <a:noFill/>
          </a:ln>
        </p:spPr>
        <p:txBody>
          <a:bodyPr anchorCtr="0" anchor="t" bIns="91425" lIns="91425" spcFirstLastPara="1" rIns="91425" wrap="square" tIns="91425">
            <a:spAutoFit/>
          </a:bodyPr>
          <a:lstStyle/>
          <a:p>
            <a:pPr indent="-317500" lvl="0" marL="457200" marR="51826" rtl="0" algn="just">
              <a:lnSpc>
                <a:spcPct val="150000"/>
              </a:lnSpc>
              <a:spcBef>
                <a:spcPts val="0"/>
              </a:spcBef>
              <a:spcAft>
                <a:spcPts val="0"/>
              </a:spcAft>
              <a:buClr>
                <a:schemeClr val="dk2"/>
              </a:buClr>
              <a:buSzPts val="1400"/>
              <a:buChar char="●"/>
            </a:pPr>
            <a:r>
              <a:rPr lang="en">
                <a:solidFill>
                  <a:schemeClr val="dk2"/>
                </a:solidFill>
              </a:rPr>
              <a:t>The MQTT architecture has a Client/Server model  where each sensor is a client and connects to a server</a:t>
            </a:r>
            <a:endParaRPr>
              <a:solidFill>
                <a:schemeClr val="dk2"/>
              </a:solidFill>
            </a:endParaRPr>
          </a:p>
          <a:p>
            <a:pPr indent="-317500" lvl="0" marL="457200" marR="51826" rtl="0" algn="just">
              <a:lnSpc>
                <a:spcPct val="150000"/>
              </a:lnSpc>
              <a:spcBef>
                <a:spcPts val="0"/>
              </a:spcBef>
              <a:spcAft>
                <a:spcPts val="0"/>
              </a:spcAft>
              <a:buClr>
                <a:schemeClr val="dk2"/>
              </a:buClr>
              <a:buSzPts val="1400"/>
              <a:buChar char="●"/>
            </a:pPr>
            <a:r>
              <a:rPr lang="en">
                <a:solidFill>
                  <a:schemeClr val="dk2"/>
                </a:solidFill>
              </a:rPr>
              <a:t>The  server is known as a broker using TCP communication</a:t>
            </a:r>
            <a:endParaRPr>
              <a:solidFill>
                <a:schemeClr val="dk2"/>
              </a:solidFill>
            </a:endParaRPr>
          </a:p>
          <a:p>
            <a:pPr indent="-317500" lvl="0" marL="457200" marR="51826" rtl="0" algn="just">
              <a:lnSpc>
                <a:spcPct val="150000"/>
              </a:lnSpc>
              <a:spcBef>
                <a:spcPts val="0"/>
              </a:spcBef>
              <a:spcAft>
                <a:spcPts val="0"/>
              </a:spcAft>
              <a:buClr>
                <a:schemeClr val="dk2"/>
              </a:buClr>
              <a:buSzPts val="1400"/>
              <a:buChar char="●"/>
            </a:pPr>
            <a:r>
              <a:rPr lang="en">
                <a:solidFill>
                  <a:schemeClr val="dk2"/>
                </a:solidFill>
              </a:rPr>
              <a:t>The  MQTT protocol is message-oriented and each message is  published on a topic. Customers can subscribe to several  topics. Each customer subscribed to a topic receives every  message posted in the topic</a:t>
            </a:r>
            <a:endParaRPr>
              <a:solidFill>
                <a:schemeClr val="dk2"/>
              </a:solidFill>
            </a:endParaRPr>
          </a:p>
          <a:p>
            <a:pPr indent="-317500" lvl="0" marL="457200" marR="51826" rtl="0" algn="just">
              <a:lnSpc>
                <a:spcPct val="150000"/>
              </a:lnSpc>
              <a:spcBef>
                <a:spcPts val="0"/>
              </a:spcBef>
              <a:spcAft>
                <a:spcPts val="0"/>
              </a:spcAft>
              <a:buClr>
                <a:schemeClr val="dk2"/>
              </a:buClr>
              <a:buSzPts val="1400"/>
              <a:buFont typeface="Roboto"/>
              <a:buChar char="●"/>
            </a:pPr>
            <a:r>
              <a:rPr lang="en">
                <a:solidFill>
                  <a:schemeClr val="dk2"/>
                </a:solidFill>
              </a:rPr>
              <a:t>For security, MQTT brokers  may require username and password authentication from  customers to connect</a:t>
            </a:r>
            <a:endParaRPr>
              <a:solidFill>
                <a:schemeClr val="dk2"/>
              </a:solidFill>
            </a:endParaRPr>
          </a:p>
          <a:p>
            <a:pPr indent="-317500" lvl="0" marL="457200" marR="51826" rtl="0" algn="just">
              <a:lnSpc>
                <a:spcPct val="150000"/>
              </a:lnSpc>
              <a:spcBef>
                <a:spcPts val="0"/>
              </a:spcBef>
              <a:spcAft>
                <a:spcPts val="0"/>
              </a:spcAft>
              <a:buClr>
                <a:schemeClr val="dk2"/>
              </a:buClr>
              <a:buSzPts val="1400"/>
              <a:buChar char="●"/>
            </a:pPr>
            <a:r>
              <a:rPr lang="en">
                <a:solidFill>
                  <a:schemeClr val="dk2"/>
                </a:solidFill>
              </a:rPr>
              <a:t>To ensure privacy, the TCP  connection can be encrypted with SSL/TLS certificate.  </a:t>
            </a:r>
            <a:endParaRPr>
              <a:solidFill>
                <a:schemeClr val="dk2"/>
              </a:solidFill>
            </a:endParaRPr>
          </a:p>
          <a:p>
            <a:pPr indent="-317500" lvl="0" marL="457200" marR="51826" rtl="0" algn="just">
              <a:lnSpc>
                <a:spcPct val="150000"/>
              </a:lnSpc>
              <a:spcBef>
                <a:spcPts val="0"/>
              </a:spcBef>
              <a:spcAft>
                <a:spcPts val="0"/>
              </a:spcAft>
              <a:buClr>
                <a:schemeClr val="dk2"/>
              </a:buClr>
              <a:buSzPts val="1400"/>
              <a:buChar char="●"/>
            </a:pPr>
            <a:r>
              <a:rPr lang="en">
                <a:solidFill>
                  <a:schemeClr val="dk2"/>
                </a:solidFill>
              </a:rPr>
              <a:t>MQTT has support for  persistent messages stored on the broker. Only the last persistent and constant message is  displayed.</a:t>
            </a:r>
            <a:endParaRPr>
              <a:solidFill>
                <a:schemeClr val="dk2"/>
              </a:solidFill>
            </a:endParaRPr>
          </a:p>
          <a:p>
            <a:pPr indent="0" lvl="0" marL="457200" rtl="0" algn="just">
              <a:lnSpc>
                <a:spcPct val="150000"/>
              </a:lnSpc>
              <a:spcBef>
                <a:spcPts val="0"/>
              </a:spcBef>
              <a:spcAft>
                <a:spcPts val="0"/>
              </a:spcAft>
              <a:buNone/>
            </a:pPr>
            <a:r>
              <a:t/>
            </a:r>
            <a:endParaRPr>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5"/>
          <p:cNvPicPr preferRelativeResize="0"/>
          <p:nvPr/>
        </p:nvPicPr>
        <p:blipFill>
          <a:blip r:embed="rId3">
            <a:alphaModFix/>
          </a:blip>
          <a:stretch>
            <a:fillRect/>
          </a:stretch>
        </p:blipFill>
        <p:spPr>
          <a:xfrm>
            <a:off x="544081" y="211200"/>
            <a:ext cx="7942569" cy="47211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727125" y="1783000"/>
            <a:ext cx="8382600" cy="1931700"/>
          </a:xfrm>
          <a:prstGeom prst="rect">
            <a:avLst/>
          </a:prstGeom>
          <a:noFill/>
          <a:ln>
            <a:noFill/>
          </a:ln>
        </p:spPr>
        <p:txBody>
          <a:bodyPr anchorCtr="0" anchor="t" bIns="91425" lIns="91425" spcFirstLastPara="1" rIns="91425" wrap="square" tIns="91425">
            <a:spAutoFit/>
          </a:bodyPr>
          <a:lstStyle/>
          <a:p>
            <a:pPr indent="-758" lvl="0" marL="4677" marR="112930" rtl="0" algn="l">
              <a:lnSpc>
                <a:spcPct val="150000"/>
              </a:lnSpc>
              <a:spcBef>
                <a:spcPts val="0"/>
              </a:spcBef>
              <a:spcAft>
                <a:spcPts val="0"/>
              </a:spcAft>
              <a:buNone/>
            </a:pPr>
            <a:r>
              <a:rPr lang="en">
                <a:solidFill>
                  <a:schemeClr val="dk2"/>
                </a:solidFill>
              </a:rPr>
              <a:t>To initialize the protocol we must to set the used port, server  address and CallBack function:  </a:t>
            </a:r>
            <a:endParaRPr>
              <a:solidFill>
                <a:schemeClr val="dk2"/>
              </a:solidFill>
            </a:endParaRPr>
          </a:p>
          <a:p>
            <a:pPr indent="0" lvl="0" marL="457200" marR="161940" rtl="0" algn="l">
              <a:lnSpc>
                <a:spcPct val="150000"/>
              </a:lnSpc>
              <a:spcBef>
                <a:spcPts val="0"/>
              </a:spcBef>
              <a:spcAft>
                <a:spcPts val="0"/>
              </a:spcAft>
              <a:buNone/>
            </a:pPr>
            <a:r>
              <a:rPr lang="en" sz="1300">
                <a:solidFill>
                  <a:schemeClr val="dk2"/>
                </a:solidFill>
              </a:rPr>
              <a:t>client.setServer(mqtt_server, 1883);</a:t>
            </a:r>
            <a:endParaRPr sz="1300">
              <a:solidFill>
                <a:schemeClr val="dk2"/>
              </a:solidFill>
            </a:endParaRPr>
          </a:p>
          <a:p>
            <a:pPr indent="0" lvl="0" marL="457200" marR="161940" rtl="0" algn="l">
              <a:lnSpc>
                <a:spcPct val="150000"/>
              </a:lnSpc>
              <a:spcBef>
                <a:spcPts val="0"/>
              </a:spcBef>
              <a:spcAft>
                <a:spcPts val="0"/>
              </a:spcAft>
              <a:buNone/>
            </a:pPr>
            <a:r>
              <a:rPr lang="en" sz="1300">
                <a:solidFill>
                  <a:schemeClr val="dk2"/>
                </a:solidFill>
              </a:rPr>
              <a:t>client.setCallback(callback);  </a:t>
            </a:r>
            <a:endParaRPr sz="1300">
              <a:solidFill>
                <a:schemeClr val="dk2"/>
              </a:solidFill>
            </a:endParaRPr>
          </a:p>
          <a:p>
            <a:pPr indent="-3666" lvl="0" marL="5057" marR="113776" rtl="0" algn="l">
              <a:lnSpc>
                <a:spcPct val="150000"/>
              </a:lnSpc>
              <a:spcBef>
                <a:spcPts val="0"/>
              </a:spcBef>
              <a:spcAft>
                <a:spcPts val="0"/>
              </a:spcAft>
              <a:buNone/>
            </a:pPr>
            <a:r>
              <a:rPr lang="en">
                <a:solidFill>
                  <a:schemeClr val="dk2"/>
                </a:solidFill>
              </a:rPr>
              <a:t>To send a message and subscribe for a Topic are uses the  following :  </a:t>
            </a:r>
            <a:endParaRPr>
              <a:solidFill>
                <a:schemeClr val="dk2"/>
              </a:solidFill>
            </a:endParaRPr>
          </a:p>
          <a:p>
            <a:pPr indent="0" lvl="0" marL="457326" marR="150588" rtl="0" algn="l">
              <a:lnSpc>
                <a:spcPct val="150000"/>
              </a:lnSpc>
              <a:spcBef>
                <a:spcPts val="0"/>
              </a:spcBef>
              <a:spcAft>
                <a:spcPts val="0"/>
              </a:spcAft>
              <a:buNone/>
            </a:pPr>
            <a:r>
              <a:rPr lang="en" sz="1300">
                <a:solidFill>
                  <a:schemeClr val="dk2"/>
                </a:solidFill>
              </a:rPr>
              <a:t>client.subscribe("SetPin4/GPIO");   </a:t>
            </a:r>
            <a:endParaRPr sz="1300">
              <a:solidFill>
                <a:schemeClr val="dk2"/>
              </a:solidFill>
            </a:endParaRPr>
          </a:p>
          <a:p>
            <a:pPr indent="0" lvl="0" marL="457326" marR="150588" rtl="0" algn="l">
              <a:lnSpc>
                <a:spcPct val="150000"/>
              </a:lnSpc>
              <a:spcBef>
                <a:spcPts val="0"/>
              </a:spcBef>
              <a:spcAft>
                <a:spcPts val="0"/>
              </a:spcAft>
              <a:buNone/>
            </a:pPr>
            <a:r>
              <a:rPr lang="en" sz="1300">
                <a:solidFill>
                  <a:schemeClr val="dk2"/>
                </a:solidFill>
              </a:rPr>
              <a:t>client.publish("esp32/stateGPIO", Pin4);  </a:t>
            </a:r>
            <a:endParaRPr sz="1300"/>
          </a:p>
        </p:txBody>
      </p:sp>
      <p:sp>
        <p:nvSpPr>
          <p:cNvPr id="77" name="Google Shape;77;p16"/>
          <p:cNvSpPr txBox="1"/>
          <p:nvPr/>
        </p:nvSpPr>
        <p:spPr>
          <a:xfrm>
            <a:off x="633450" y="425500"/>
            <a:ext cx="6474900" cy="461700"/>
          </a:xfrm>
          <a:prstGeom prst="rect">
            <a:avLst/>
          </a:prstGeom>
          <a:noFill/>
          <a:ln>
            <a:noFill/>
          </a:ln>
        </p:spPr>
        <p:txBody>
          <a:bodyPr anchorCtr="0" anchor="t" bIns="91425" lIns="91425" spcFirstLastPara="1" rIns="91425" wrap="square" tIns="91425">
            <a:spAutoFit/>
          </a:bodyPr>
          <a:lstStyle/>
          <a:p>
            <a:pPr indent="0" lvl="0" marL="0" rtl="0" algn="l">
              <a:spcBef>
                <a:spcPts val="1545"/>
              </a:spcBef>
              <a:spcAft>
                <a:spcPts val="0"/>
              </a:spcAft>
              <a:buNone/>
            </a:pPr>
            <a:r>
              <a:rPr b="1" lang="en" sz="1800">
                <a:solidFill>
                  <a:schemeClr val="dk2"/>
                </a:solidFill>
              </a:rPr>
              <a:t>SOFTWARE REALIZATION OF EXPERIMENTAL STAGE :</a:t>
            </a:r>
            <a:endParaRPr b="1" sz="1800"/>
          </a:p>
        </p:txBody>
      </p:sp>
      <p:sp>
        <p:nvSpPr>
          <p:cNvPr id="78" name="Google Shape;78;p16"/>
          <p:cNvSpPr txBox="1"/>
          <p:nvPr/>
        </p:nvSpPr>
        <p:spPr>
          <a:xfrm>
            <a:off x="727125" y="994500"/>
            <a:ext cx="44652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Source Sans Pro"/>
              <a:buChar char="●"/>
            </a:pPr>
            <a:r>
              <a:rPr lang="en">
                <a:latin typeface="Source Sans Pro"/>
                <a:ea typeface="Source Sans Pro"/>
                <a:cs typeface="Source Sans Pro"/>
                <a:sym typeface="Source Sans Pro"/>
              </a:rPr>
              <a:t>The Experimental stage uses </a:t>
            </a:r>
            <a:r>
              <a:rPr b="1" lang="en">
                <a:latin typeface="Source Sans Pro"/>
                <a:ea typeface="Source Sans Pro"/>
                <a:cs typeface="Source Sans Pro"/>
                <a:sym typeface="Source Sans Pro"/>
              </a:rPr>
              <a:t>ESP32 </a:t>
            </a:r>
            <a:r>
              <a:rPr lang="en">
                <a:latin typeface="Source Sans Pro"/>
                <a:ea typeface="Source Sans Pro"/>
                <a:cs typeface="Source Sans Pro"/>
                <a:sym typeface="Source Sans Pro"/>
              </a:rPr>
              <a:t>system on chip</a:t>
            </a:r>
            <a:endParaRPr>
              <a:latin typeface="Source Sans Pro"/>
              <a:ea typeface="Source Sans Pro"/>
              <a:cs typeface="Source Sans Pro"/>
              <a:sym typeface="Source Sans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nvSpPr>
        <p:spPr>
          <a:xfrm>
            <a:off x="641675" y="356175"/>
            <a:ext cx="6577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2"/>
                </a:solidFill>
                <a:latin typeface="Roboto"/>
                <a:ea typeface="Roboto"/>
                <a:cs typeface="Roboto"/>
                <a:sym typeface="Roboto"/>
              </a:rPr>
              <a:t>CoAP protocol : </a:t>
            </a:r>
            <a:r>
              <a:rPr b="1" lang="en" sz="2100">
                <a:solidFill>
                  <a:schemeClr val="dk2"/>
                </a:solidFill>
                <a:latin typeface="Roboto"/>
                <a:ea typeface="Roboto"/>
                <a:cs typeface="Roboto"/>
                <a:sym typeface="Roboto"/>
              </a:rPr>
              <a:t>Constrained Application Protocol</a:t>
            </a:r>
            <a:endParaRPr b="1" sz="2100">
              <a:latin typeface="Roboto"/>
              <a:ea typeface="Roboto"/>
              <a:cs typeface="Roboto"/>
              <a:sym typeface="Roboto"/>
            </a:endParaRPr>
          </a:p>
        </p:txBody>
      </p:sp>
      <p:sp>
        <p:nvSpPr>
          <p:cNvPr id="84" name="Google Shape;84;p17"/>
          <p:cNvSpPr txBox="1"/>
          <p:nvPr/>
        </p:nvSpPr>
        <p:spPr>
          <a:xfrm>
            <a:off x="717200" y="961675"/>
            <a:ext cx="7895400" cy="2986200"/>
          </a:xfrm>
          <a:prstGeom prst="rect">
            <a:avLst/>
          </a:prstGeom>
          <a:noFill/>
          <a:ln>
            <a:noFill/>
          </a:ln>
        </p:spPr>
        <p:txBody>
          <a:bodyPr anchorCtr="0" anchor="t" bIns="91425" lIns="91425" spcFirstLastPara="1" rIns="91425" wrap="square" tIns="91425">
            <a:spAutoFit/>
          </a:bodyPr>
          <a:lstStyle/>
          <a:p>
            <a:pPr indent="-317500" lvl="0" marL="457200" marR="176279" rtl="0" algn="just">
              <a:lnSpc>
                <a:spcPct val="150000"/>
              </a:lnSpc>
              <a:spcBef>
                <a:spcPts val="0"/>
              </a:spcBef>
              <a:spcAft>
                <a:spcPts val="0"/>
              </a:spcAft>
              <a:buClr>
                <a:schemeClr val="dk2"/>
              </a:buClr>
              <a:buSzPts val="1400"/>
              <a:buChar char="●"/>
            </a:pPr>
            <a:r>
              <a:rPr lang="en">
                <a:solidFill>
                  <a:schemeClr val="dk2"/>
                </a:solidFill>
              </a:rPr>
              <a:t>CoAP is designed for the  needs of limited devices</a:t>
            </a:r>
            <a:endParaRPr>
              <a:solidFill>
                <a:schemeClr val="dk2"/>
              </a:solidFill>
            </a:endParaRPr>
          </a:p>
          <a:p>
            <a:pPr indent="-317500" lvl="0" marL="457200" marR="176279" rtl="0" algn="just">
              <a:lnSpc>
                <a:spcPct val="150000"/>
              </a:lnSpc>
              <a:spcBef>
                <a:spcPts val="0"/>
              </a:spcBef>
              <a:spcAft>
                <a:spcPts val="0"/>
              </a:spcAft>
              <a:buClr>
                <a:schemeClr val="dk2"/>
              </a:buClr>
              <a:buSzPts val="1400"/>
              <a:buChar char="●"/>
            </a:pPr>
            <a:r>
              <a:rPr lang="en">
                <a:solidFill>
                  <a:schemeClr val="dk2"/>
                </a:solidFill>
              </a:rPr>
              <a:t>CoAP  follows the client/server model</a:t>
            </a:r>
            <a:endParaRPr>
              <a:solidFill>
                <a:srgbClr val="222222"/>
              </a:solidFill>
              <a:highlight>
                <a:schemeClr val="lt1"/>
              </a:highlight>
            </a:endParaRPr>
          </a:p>
          <a:p>
            <a:pPr indent="-317500" lvl="0" marL="457200" rtl="0" algn="just">
              <a:lnSpc>
                <a:spcPct val="150000"/>
              </a:lnSpc>
              <a:spcBef>
                <a:spcPts val="0"/>
              </a:spcBef>
              <a:spcAft>
                <a:spcPts val="0"/>
              </a:spcAft>
              <a:buClr>
                <a:srgbClr val="222222"/>
              </a:buClr>
              <a:buSzPts val="1400"/>
              <a:buFont typeface="Roboto"/>
              <a:buChar char="●"/>
            </a:pPr>
            <a:r>
              <a:rPr lang="en">
                <a:solidFill>
                  <a:schemeClr val="dk2"/>
                </a:solidFill>
              </a:rPr>
              <a:t>CoAP  works with UDP </a:t>
            </a:r>
            <a:r>
              <a:rPr lang="en">
                <a:solidFill>
                  <a:srgbClr val="222222"/>
                </a:solidFill>
                <a:highlight>
                  <a:schemeClr val="lt1"/>
                </a:highlight>
              </a:rPr>
              <a:t>Protocol and it is Asynchronous Message Exchange</a:t>
            </a:r>
            <a:endParaRPr>
              <a:solidFill>
                <a:srgbClr val="222222"/>
              </a:solidFill>
              <a:highlight>
                <a:schemeClr val="lt1"/>
              </a:highlight>
            </a:endParaRPr>
          </a:p>
          <a:p>
            <a:pPr indent="-317500" lvl="0" marL="457200" marR="176279" rtl="0" algn="just">
              <a:lnSpc>
                <a:spcPct val="150000"/>
              </a:lnSpc>
              <a:spcBef>
                <a:spcPts val="0"/>
              </a:spcBef>
              <a:spcAft>
                <a:spcPts val="0"/>
              </a:spcAft>
              <a:buClr>
                <a:srgbClr val="222222"/>
              </a:buClr>
              <a:buSzPts val="1400"/>
              <a:buChar char="●"/>
            </a:pPr>
            <a:r>
              <a:rPr lang="en">
                <a:solidFill>
                  <a:schemeClr val="dk2"/>
                </a:solidFill>
              </a:rPr>
              <a:t>Clients make requests to  servers, servers send back responses. Customers can  perform the following GET, PUT, POST, and DELETE  operations</a:t>
            </a:r>
            <a:endParaRPr>
              <a:solidFill>
                <a:schemeClr val="dk2"/>
              </a:solidFill>
            </a:endParaRPr>
          </a:p>
          <a:p>
            <a:pPr indent="-317500" lvl="0" marL="457200" marR="176279" rtl="0" algn="just">
              <a:lnSpc>
                <a:spcPct val="150000"/>
              </a:lnSpc>
              <a:spcBef>
                <a:spcPts val="0"/>
              </a:spcBef>
              <a:spcAft>
                <a:spcPts val="0"/>
              </a:spcAft>
              <a:buClr>
                <a:schemeClr val="dk2"/>
              </a:buClr>
              <a:buSzPts val="1400"/>
              <a:buChar char="●"/>
            </a:pPr>
            <a:r>
              <a:rPr lang="en">
                <a:solidFill>
                  <a:schemeClr val="dk2"/>
                </a:solidFill>
              </a:rPr>
              <a:t>CoAP is designed to work in conjunction with  the HTTP and REST network through simple servers</a:t>
            </a:r>
            <a:endParaRPr>
              <a:solidFill>
                <a:srgbClr val="222222"/>
              </a:solidFill>
              <a:highlight>
                <a:schemeClr val="lt1"/>
              </a:highlight>
            </a:endParaRPr>
          </a:p>
          <a:p>
            <a:pPr indent="-317500" lvl="0" marL="457200" marR="176279" rtl="0" algn="just">
              <a:lnSpc>
                <a:spcPct val="150000"/>
              </a:lnSpc>
              <a:spcBef>
                <a:spcPts val="0"/>
              </a:spcBef>
              <a:spcAft>
                <a:spcPts val="0"/>
              </a:spcAft>
              <a:buClr>
                <a:srgbClr val="222222"/>
              </a:buClr>
              <a:buSzPts val="1400"/>
              <a:buChar char="●"/>
            </a:pPr>
            <a:r>
              <a:rPr lang="en">
                <a:solidFill>
                  <a:schemeClr val="dk2"/>
                </a:solidFill>
              </a:rPr>
              <a:t>CoAP packages are much smaller  than HTTP TCP streams. CoAP allows UDP  broadcasting and multicast to be used for addressing</a:t>
            </a:r>
            <a:endParaRPr>
              <a:solidFill>
                <a:srgbClr val="222222"/>
              </a:solidFill>
              <a:highlight>
                <a:schemeClr val="lt1"/>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p:cNvPicPr preferRelativeResize="0"/>
          <p:nvPr/>
        </p:nvPicPr>
        <p:blipFill>
          <a:blip r:embed="rId3">
            <a:alphaModFix/>
          </a:blip>
          <a:stretch>
            <a:fillRect/>
          </a:stretch>
        </p:blipFill>
        <p:spPr>
          <a:xfrm>
            <a:off x="596000" y="116800"/>
            <a:ext cx="7952000" cy="4909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nvSpPr>
        <p:spPr>
          <a:xfrm>
            <a:off x="709250" y="1618700"/>
            <a:ext cx="7930500" cy="2045700"/>
          </a:xfrm>
          <a:prstGeom prst="rect">
            <a:avLst/>
          </a:prstGeom>
          <a:noFill/>
          <a:ln>
            <a:noFill/>
          </a:ln>
        </p:spPr>
        <p:txBody>
          <a:bodyPr anchorCtr="0" anchor="t" bIns="91425" lIns="91425" spcFirstLastPara="1" rIns="91425" wrap="square" tIns="91425">
            <a:spAutoFit/>
          </a:bodyPr>
          <a:lstStyle/>
          <a:p>
            <a:pPr indent="0" lvl="0" marL="0" marR="112477" rtl="0" algn="just">
              <a:lnSpc>
                <a:spcPct val="95907"/>
              </a:lnSpc>
              <a:spcBef>
                <a:spcPts val="0"/>
              </a:spcBef>
              <a:spcAft>
                <a:spcPts val="0"/>
              </a:spcAft>
              <a:buNone/>
            </a:pPr>
            <a:r>
              <a:rPr lang="en">
                <a:solidFill>
                  <a:schemeClr val="dk2"/>
                </a:solidFill>
              </a:rPr>
              <a:t>To set the client response callback, start the client and  get request to server are used the follow line of code:  </a:t>
            </a:r>
            <a:endParaRPr>
              <a:solidFill>
                <a:schemeClr val="dk2"/>
              </a:solidFill>
            </a:endParaRPr>
          </a:p>
          <a:p>
            <a:pPr indent="0" lvl="0" marL="457200" marR="156531" rtl="0" algn="l">
              <a:lnSpc>
                <a:spcPct val="96407"/>
              </a:lnSpc>
              <a:spcBef>
                <a:spcPts val="1184"/>
              </a:spcBef>
              <a:spcAft>
                <a:spcPts val="0"/>
              </a:spcAft>
              <a:buNone/>
            </a:pPr>
            <a:r>
              <a:rPr lang="en" sz="1300">
                <a:solidFill>
                  <a:schemeClr val="dk2"/>
                </a:solidFill>
              </a:rPr>
              <a:t> coap.response(callback_response_from_Server); coap.start();  </a:t>
            </a:r>
            <a:endParaRPr sz="1300">
              <a:solidFill>
                <a:schemeClr val="dk2"/>
              </a:solidFill>
            </a:endParaRPr>
          </a:p>
          <a:p>
            <a:pPr indent="-1264" lvl="0" marL="458464" marR="548759" rtl="0" algn="l">
              <a:lnSpc>
                <a:spcPct val="191815"/>
              </a:lnSpc>
              <a:spcBef>
                <a:spcPts val="26"/>
              </a:spcBef>
              <a:spcAft>
                <a:spcPts val="0"/>
              </a:spcAft>
              <a:buNone/>
            </a:pPr>
            <a:r>
              <a:rPr lang="en" sz="1300">
                <a:solidFill>
                  <a:schemeClr val="dk2"/>
                </a:solidFill>
              </a:rPr>
              <a:t> int messageID = coap.get(ip,port,"Lab_example"); </a:t>
            </a:r>
            <a:r>
              <a:rPr lang="en">
                <a:solidFill>
                  <a:schemeClr val="dk2"/>
                </a:solidFill>
              </a:rPr>
              <a:t> </a:t>
            </a:r>
            <a:endParaRPr>
              <a:solidFill>
                <a:schemeClr val="dk2"/>
              </a:solidFill>
            </a:endParaRPr>
          </a:p>
          <a:p>
            <a:pPr indent="-1264" lvl="0" marL="1264" marR="548759" rtl="0" algn="l">
              <a:lnSpc>
                <a:spcPct val="191815"/>
              </a:lnSpc>
              <a:spcBef>
                <a:spcPts val="26"/>
              </a:spcBef>
              <a:spcAft>
                <a:spcPts val="0"/>
              </a:spcAft>
              <a:buNone/>
            </a:pPr>
            <a:r>
              <a:rPr lang="en">
                <a:solidFill>
                  <a:schemeClr val="dk2"/>
                </a:solidFill>
              </a:rPr>
              <a:t>To observe request with the server are used : </a:t>
            </a:r>
            <a:r>
              <a:rPr lang="en">
                <a:solidFill>
                  <a:schemeClr val="dk2"/>
                </a:solidFill>
              </a:rPr>
              <a:t> </a:t>
            </a:r>
            <a:endParaRPr>
              <a:solidFill>
                <a:schemeClr val="dk2"/>
              </a:solidFill>
            </a:endParaRPr>
          </a:p>
          <a:p>
            <a:pPr indent="0" lvl="0" marL="0" rtl="0" algn="l">
              <a:spcBef>
                <a:spcPts val="229"/>
              </a:spcBef>
              <a:spcAft>
                <a:spcPts val="0"/>
              </a:spcAft>
              <a:buNone/>
            </a:pPr>
            <a:r>
              <a:rPr lang="en">
                <a:solidFill>
                  <a:schemeClr val="dk2"/>
                </a:solidFill>
              </a:rPr>
              <a:t> 	</a:t>
            </a:r>
            <a:r>
              <a:rPr lang="en" sz="1300">
                <a:solidFill>
                  <a:schemeClr val="dk2"/>
                </a:solidFill>
              </a:rPr>
              <a:t>int msgid= coap.observe(ip,port," Lab_example ",0); (4)  </a:t>
            </a:r>
            <a:endParaRPr sz="1300">
              <a:solidFill>
                <a:schemeClr val="dk2"/>
              </a:solidFill>
            </a:endParaRPr>
          </a:p>
        </p:txBody>
      </p:sp>
      <p:sp>
        <p:nvSpPr>
          <p:cNvPr id="95" name="Google Shape;95;p19"/>
          <p:cNvSpPr txBox="1"/>
          <p:nvPr/>
        </p:nvSpPr>
        <p:spPr>
          <a:xfrm>
            <a:off x="586375" y="606425"/>
            <a:ext cx="6487200" cy="461700"/>
          </a:xfrm>
          <a:prstGeom prst="rect">
            <a:avLst/>
          </a:prstGeom>
          <a:noFill/>
          <a:ln>
            <a:noFill/>
          </a:ln>
        </p:spPr>
        <p:txBody>
          <a:bodyPr anchorCtr="0" anchor="t" bIns="91425" lIns="91425" spcFirstLastPara="1" rIns="91425" wrap="square" tIns="91425">
            <a:spAutoFit/>
          </a:bodyPr>
          <a:lstStyle/>
          <a:p>
            <a:pPr indent="0" lvl="0" marL="0" rtl="0" algn="l">
              <a:spcBef>
                <a:spcPts val="1545"/>
              </a:spcBef>
              <a:spcAft>
                <a:spcPts val="0"/>
              </a:spcAft>
              <a:buNone/>
            </a:pPr>
            <a:r>
              <a:rPr b="1" lang="en" sz="1800">
                <a:solidFill>
                  <a:schemeClr val="dk2"/>
                </a:solidFill>
              </a:rPr>
              <a:t>SOFTWARE REALIZATION OF EXPERIMENTAL STAGE :</a:t>
            </a:r>
            <a:endParaRPr b="1"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nvSpPr>
        <p:spPr>
          <a:xfrm>
            <a:off x="240625" y="347000"/>
            <a:ext cx="6694800" cy="507900"/>
          </a:xfrm>
          <a:prstGeom prst="rect">
            <a:avLst/>
          </a:prstGeom>
          <a:noFill/>
          <a:ln>
            <a:noFill/>
          </a:ln>
        </p:spPr>
        <p:txBody>
          <a:bodyPr anchorCtr="0" anchor="t" bIns="91425" lIns="91425" spcFirstLastPara="1" rIns="91425" wrap="square" tIns="91425">
            <a:spAutoFit/>
          </a:bodyPr>
          <a:lstStyle/>
          <a:p>
            <a:pPr indent="0" lvl="0" marL="197298" rtl="0" algn="l">
              <a:spcBef>
                <a:spcPts val="353"/>
              </a:spcBef>
              <a:spcAft>
                <a:spcPts val="0"/>
              </a:spcAft>
              <a:buNone/>
            </a:pPr>
            <a:r>
              <a:rPr b="1" lang="en" sz="2100">
                <a:solidFill>
                  <a:schemeClr val="dk2"/>
                </a:solidFill>
                <a:latin typeface="Roboto"/>
                <a:ea typeface="Roboto"/>
                <a:cs typeface="Roboto"/>
                <a:sym typeface="Roboto"/>
              </a:rPr>
              <a:t>HTTP protocol :</a:t>
            </a:r>
            <a:r>
              <a:rPr b="1" lang="en" sz="2100">
                <a:solidFill>
                  <a:schemeClr val="dk2"/>
                </a:solidFill>
                <a:latin typeface="Roboto"/>
                <a:ea typeface="Roboto"/>
                <a:cs typeface="Roboto"/>
                <a:sym typeface="Roboto"/>
              </a:rPr>
              <a:t>hypertext transfer protocol.</a:t>
            </a:r>
            <a:endParaRPr b="1" sz="2100">
              <a:latin typeface="Roboto"/>
              <a:ea typeface="Roboto"/>
              <a:cs typeface="Roboto"/>
              <a:sym typeface="Roboto"/>
            </a:endParaRPr>
          </a:p>
        </p:txBody>
      </p:sp>
      <p:sp>
        <p:nvSpPr>
          <p:cNvPr id="101" name="Google Shape;101;p20"/>
          <p:cNvSpPr txBox="1"/>
          <p:nvPr/>
        </p:nvSpPr>
        <p:spPr>
          <a:xfrm>
            <a:off x="277625" y="1009775"/>
            <a:ext cx="8339100" cy="3632700"/>
          </a:xfrm>
          <a:prstGeom prst="rect">
            <a:avLst/>
          </a:prstGeom>
          <a:noFill/>
          <a:ln>
            <a:noFill/>
          </a:ln>
        </p:spPr>
        <p:txBody>
          <a:bodyPr anchorCtr="0" anchor="t" bIns="91425" lIns="91425" spcFirstLastPara="1" rIns="91425" wrap="square" tIns="91425">
            <a:spAutoFit/>
          </a:bodyPr>
          <a:lstStyle/>
          <a:p>
            <a:pPr indent="-317500" lvl="0" marL="457200" marR="203883" rtl="0" algn="just">
              <a:lnSpc>
                <a:spcPct val="150000"/>
              </a:lnSpc>
              <a:spcBef>
                <a:spcPts val="0"/>
              </a:spcBef>
              <a:spcAft>
                <a:spcPts val="0"/>
              </a:spcAft>
              <a:buClr>
                <a:schemeClr val="dk2"/>
              </a:buClr>
              <a:buSzPts val="1400"/>
              <a:buChar char="●"/>
            </a:pPr>
            <a:r>
              <a:rPr lang="en">
                <a:solidFill>
                  <a:schemeClr val="dk2"/>
                </a:solidFill>
              </a:rPr>
              <a:t>HTTP and web  sockets are common existing standards that can be used to  provide XML or JavaScript Object Notation (JSON) in  payload</a:t>
            </a:r>
            <a:endParaRPr>
              <a:solidFill>
                <a:schemeClr val="dk2"/>
              </a:solidFill>
            </a:endParaRPr>
          </a:p>
          <a:p>
            <a:pPr indent="-317500" lvl="0" marL="457200" marR="203883" rtl="0" algn="just">
              <a:lnSpc>
                <a:spcPct val="150000"/>
              </a:lnSpc>
              <a:spcBef>
                <a:spcPts val="0"/>
              </a:spcBef>
              <a:spcAft>
                <a:spcPts val="0"/>
              </a:spcAft>
              <a:buClr>
                <a:schemeClr val="dk2"/>
              </a:buClr>
              <a:buSzPts val="1400"/>
              <a:buChar char="●"/>
            </a:pPr>
            <a:r>
              <a:rPr lang="en">
                <a:solidFill>
                  <a:schemeClr val="dk2"/>
                </a:solidFill>
              </a:rPr>
              <a:t>JSON provides an abstraction layer for web  developers to create a comprehensive web application with  a permanent web server connection</a:t>
            </a:r>
            <a:endParaRPr>
              <a:solidFill>
                <a:schemeClr val="dk2"/>
              </a:solidFill>
            </a:endParaRPr>
          </a:p>
          <a:p>
            <a:pPr indent="-317500" lvl="0" marL="457200" marR="203883" rtl="0" algn="just">
              <a:lnSpc>
                <a:spcPct val="150000"/>
              </a:lnSpc>
              <a:spcBef>
                <a:spcPts val="0"/>
              </a:spcBef>
              <a:spcAft>
                <a:spcPts val="0"/>
              </a:spcAft>
              <a:buClr>
                <a:schemeClr val="dk2"/>
              </a:buClr>
              <a:buSzPts val="1400"/>
              <a:buChar char="●"/>
            </a:pPr>
            <a:r>
              <a:rPr lang="en">
                <a:solidFill>
                  <a:schemeClr val="dk2"/>
                </a:solidFill>
              </a:rPr>
              <a:t>HTTP is designed for communication  between 2 systems only at a time</a:t>
            </a:r>
            <a:endParaRPr>
              <a:solidFill>
                <a:schemeClr val="dk2"/>
              </a:solidFill>
            </a:endParaRPr>
          </a:p>
          <a:p>
            <a:pPr indent="-317500" lvl="0" marL="457200" marR="203883" rtl="0" algn="just">
              <a:lnSpc>
                <a:spcPct val="150000"/>
              </a:lnSpc>
              <a:spcBef>
                <a:spcPts val="0"/>
              </a:spcBef>
              <a:spcAft>
                <a:spcPts val="0"/>
              </a:spcAft>
              <a:buClr>
                <a:schemeClr val="dk2"/>
              </a:buClr>
              <a:buSzPts val="1400"/>
              <a:buChar char="●"/>
            </a:pPr>
            <a:r>
              <a:rPr lang="en">
                <a:solidFill>
                  <a:schemeClr val="dk2"/>
                </a:solidFill>
              </a:rPr>
              <a:t> In most of the IoT  applications there are a large number of sensors which are  generating data at the same time and want to push this ahead  to the server at the same time HTTP does not fulfill the need  for one to many communication between sensors and the  server</a:t>
            </a:r>
            <a:endParaRPr>
              <a:solidFill>
                <a:schemeClr val="dk2"/>
              </a:solidFill>
            </a:endParaRPr>
          </a:p>
          <a:p>
            <a:pPr indent="-317500" lvl="0" marL="457200" marR="203883" rtl="0" algn="just">
              <a:lnSpc>
                <a:spcPct val="150000"/>
              </a:lnSpc>
              <a:spcBef>
                <a:spcPts val="0"/>
              </a:spcBef>
              <a:spcAft>
                <a:spcPts val="0"/>
              </a:spcAft>
              <a:buClr>
                <a:schemeClr val="dk2"/>
              </a:buClr>
              <a:buSzPts val="1400"/>
              <a:buChar char="●"/>
            </a:pPr>
            <a:r>
              <a:rPr lang="en">
                <a:solidFill>
                  <a:schemeClr val="dk2"/>
                </a:solidFill>
              </a:rPr>
              <a:t>HTTP is a device client, not a server. In other words, it is safer to build  an IoT device that can initiate connections, not receive</a:t>
            </a:r>
            <a:endParaRPr>
              <a:solidFill>
                <a:schemeClr val="dk2"/>
              </a:solidFill>
            </a:endParaRPr>
          </a:p>
          <a:p>
            <a:pPr indent="0" lvl="0" marL="0" marR="52755" rtl="0" algn="just">
              <a:lnSpc>
                <a:spcPct val="150000"/>
              </a:lnSpc>
              <a:spcBef>
                <a:spcPts val="0"/>
              </a:spcBef>
              <a:spcAft>
                <a:spcPts val="0"/>
              </a:spcAft>
              <a:buNone/>
            </a:pPr>
            <a:r>
              <a:t/>
            </a:r>
            <a:endParaRPr>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21"/>
          <p:cNvPicPr preferRelativeResize="0"/>
          <p:nvPr/>
        </p:nvPicPr>
        <p:blipFill>
          <a:blip r:embed="rId3">
            <a:alphaModFix/>
          </a:blip>
          <a:stretch>
            <a:fillRect/>
          </a:stretch>
        </p:blipFill>
        <p:spPr>
          <a:xfrm>
            <a:off x="1438275" y="352425"/>
            <a:ext cx="6267450" cy="4438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nvSpPr>
        <p:spPr>
          <a:xfrm>
            <a:off x="265325" y="234725"/>
            <a:ext cx="7184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Roboto"/>
                <a:ea typeface="Roboto"/>
                <a:cs typeface="Roboto"/>
                <a:sym typeface="Roboto"/>
              </a:rPr>
              <a:t>XMPP : </a:t>
            </a:r>
            <a:r>
              <a:rPr lang="en" sz="2100">
                <a:solidFill>
                  <a:schemeClr val="dk2"/>
                </a:solidFill>
                <a:latin typeface="Roboto"/>
                <a:ea typeface="Roboto"/>
                <a:cs typeface="Roboto"/>
                <a:sym typeface="Roboto"/>
              </a:rPr>
              <a:t>Extensible Messaging and Presence Protocol </a:t>
            </a:r>
            <a:endParaRPr sz="2100">
              <a:latin typeface="Roboto"/>
              <a:ea typeface="Roboto"/>
              <a:cs typeface="Roboto"/>
              <a:sym typeface="Roboto"/>
            </a:endParaRPr>
          </a:p>
        </p:txBody>
      </p:sp>
      <p:sp>
        <p:nvSpPr>
          <p:cNvPr id="112" name="Google Shape;112;p22"/>
          <p:cNvSpPr txBox="1"/>
          <p:nvPr/>
        </p:nvSpPr>
        <p:spPr>
          <a:xfrm>
            <a:off x="462600" y="1433800"/>
            <a:ext cx="8218800" cy="2016300"/>
          </a:xfrm>
          <a:prstGeom prst="rect">
            <a:avLst/>
          </a:prstGeom>
          <a:noFill/>
          <a:ln>
            <a:noFill/>
          </a:ln>
        </p:spPr>
        <p:txBody>
          <a:bodyPr anchorCtr="0" anchor="t" bIns="91425" lIns="91425" spcFirstLastPara="1" rIns="91425" wrap="square" tIns="91425">
            <a:spAutoFit/>
          </a:bodyPr>
          <a:lstStyle/>
          <a:p>
            <a:pPr indent="-317500" lvl="0" marL="457200" marR="175421" rtl="0" algn="just">
              <a:lnSpc>
                <a:spcPct val="150000"/>
              </a:lnSpc>
              <a:spcBef>
                <a:spcPts val="0"/>
              </a:spcBef>
              <a:spcAft>
                <a:spcPts val="0"/>
              </a:spcAft>
              <a:buClr>
                <a:schemeClr val="dk2"/>
              </a:buClr>
              <a:buSzPts val="1400"/>
              <a:buChar char="●"/>
            </a:pPr>
            <a:r>
              <a:rPr lang="en">
                <a:solidFill>
                  <a:schemeClr val="dk2"/>
                </a:solidFill>
              </a:rPr>
              <a:t>M</a:t>
            </a:r>
            <a:r>
              <a:rPr lang="en">
                <a:solidFill>
                  <a:schemeClr val="dk2"/>
                </a:solidFill>
              </a:rPr>
              <a:t>essages that is center-oriented and based on XML  (Extensible Markup Language)</a:t>
            </a:r>
            <a:endParaRPr>
              <a:solidFill>
                <a:schemeClr val="dk2"/>
              </a:solidFill>
            </a:endParaRPr>
          </a:p>
          <a:p>
            <a:pPr indent="-317500" lvl="0" marL="457200" rtl="0" algn="l">
              <a:lnSpc>
                <a:spcPct val="150000"/>
              </a:lnSpc>
              <a:spcBef>
                <a:spcPts val="0"/>
              </a:spcBef>
              <a:spcAft>
                <a:spcPts val="0"/>
              </a:spcAft>
              <a:buClr>
                <a:schemeClr val="dk2"/>
              </a:buClr>
              <a:buSzPts val="1400"/>
              <a:buChar char="●"/>
            </a:pPr>
            <a:r>
              <a:rPr lang="en">
                <a:solidFill>
                  <a:schemeClr val="dk2"/>
                </a:solidFill>
              </a:rPr>
              <a:t>TCP communication protocol based on XML.</a:t>
            </a:r>
            <a:endParaRPr>
              <a:solidFill>
                <a:schemeClr val="dk2"/>
              </a:solidFill>
            </a:endParaRPr>
          </a:p>
          <a:p>
            <a:pPr indent="-317500" lvl="0" marL="457200" marR="175421" rtl="0" algn="just">
              <a:lnSpc>
                <a:spcPct val="150000"/>
              </a:lnSpc>
              <a:spcBef>
                <a:spcPts val="0"/>
              </a:spcBef>
              <a:spcAft>
                <a:spcPts val="0"/>
              </a:spcAft>
              <a:buClr>
                <a:schemeClr val="dk2"/>
              </a:buClr>
              <a:buSzPts val="1400"/>
              <a:buChar char="●"/>
            </a:pPr>
            <a:r>
              <a:rPr lang="en">
                <a:solidFill>
                  <a:schemeClr val="dk2"/>
                </a:solidFill>
              </a:rPr>
              <a:t>This is an open real-time  communication technology that allows a wide range of  applications including instant messaging, presence, lots of  private chat, voice and video calls, collaboration, light  middleware, content and generalized routing of XML data  </a:t>
            </a:r>
            <a:endParaRPr>
              <a:solidFill>
                <a:schemeClr val="dk2"/>
              </a:solidFill>
            </a:endParaRPr>
          </a:p>
          <a:p>
            <a:pPr indent="-317500" lvl="0" marL="457200" marR="175421" rtl="0" algn="just">
              <a:lnSpc>
                <a:spcPct val="150000"/>
              </a:lnSpc>
              <a:spcBef>
                <a:spcPts val="0"/>
              </a:spcBef>
              <a:spcAft>
                <a:spcPts val="0"/>
              </a:spcAft>
              <a:buClr>
                <a:schemeClr val="dk2"/>
              </a:buClr>
              <a:buSzPts val="1400"/>
              <a:buChar char="●"/>
            </a:pPr>
            <a:r>
              <a:rPr lang="en">
                <a:solidFill>
                  <a:schemeClr val="dk2"/>
                </a:solidFill>
              </a:rPr>
              <a:t>XMPP allows two clients to exchange text messages in near-real-time</a:t>
            </a:r>
            <a:endParaRPr>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3"/>
          <p:cNvPicPr preferRelativeResize="0"/>
          <p:nvPr/>
        </p:nvPicPr>
        <p:blipFill>
          <a:blip r:embed="rId3">
            <a:alphaModFix/>
          </a:blip>
          <a:stretch>
            <a:fillRect/>
          </a:stretch>
        </p:blipFill>
        <p:spPr>
          <a:xfrm>
            <a:off x="1456475" y="973300"/>
            <a:ext cx="6231050" cy="3196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nvSpPr>
        <p:spPr>
          <a:xfrm>
            <a:off x="746300" y="1126250"/>
            <a:ext cx="8218800" cy="2657700"/>
          </a:xfrm>
          <a:prstGeom prst="rect">
            <a:avLst/>
          </a:prstGeom>
          <a:noFill/>
          <a:ln>
            <a:noFill/>
          </a:ln>
        </p:spPr>
        <p:txBody>
          <a:bodyPr anchorCtr="0" anchor="t" bIns="91425" lIns="91425" spcFirstLastPara="1" rIns="91425" wrap="square" tIns="91425">
            <a:spAutoFit/>
          </a:bodyPr>
          <a:lstStyle/>
          <a:p>
            <a:pPr indent="-1137" lvl="0" marL="40421" marR="274862" rtl="0" algn="l">
              <a:lnSpc>
                <a:spcPct val="96407"/>
              </a:lnSpc>
              <a:spcBef>
                <a:spcPts val="0"/>
              </a:spcBef>
              <a:spcAft>
                <a:spcPts val="0"/>
              </a:spcAft>
              <a:buNone/>
            </a:pPr>
            <a:r>
              <a:rPr b="1" lang="en">
                <a:solidFill>
                  <a:schemeClr val="dk2"/>
                </a:solidFill>
              </a:rPr>
              <a:t>To connect to the server in the client :  </a:t>
            </a:r>
            <a:endParaRPr b="1">
              <a:solidFill>
                <a:schemeClr val="dk2"/>
              </a:solidFill>
            </a:endParaRPr>
          </a:p>
          <a:p>
            <a:pPr indent="0" lvl="0" marL="492691" marR="101573" rtl="0" algn="l">
              <a:lnSpc>
                <a:spcPct val="95907"/>
              </a:lnSpc>
              <a:spcBef>
                <a:spcPts val="1179"/>
              </a:spcBef>
              <a:spcAft>
                <a:spcPts val="0"/>
              </a:spcAft>
              <a:buNone/>
            </a:pPr>
            <a:r>
              <a:rPr lang="en">
                <a:solidFill>
                  <a:schemeClr val="dk2"/>
                </a:solidFill>
              </a:rPr>
              <a:t>Ethernet.begin(mac, ip);</a:t>
            </a:r>
            <a:endParaRPr>
              <a:solidFill>
                <a:schemeClr val="dk2"/>
              </a:solidFill>
            </a:endParaRPr>
          </a:p>
          <a:p>
            <a:pPr indent="0" lvl="0" marL="492691" marR="101573" rtl="0" algn="l">
              <a:lnSpc>
                <a:spcPct val="95907"/>
              </a:lnSpc>
              <a:spcBef>
                <a:spcPts val="1179"/>
              </a:spcBef>
              <a:spcAft>
                <a:spcPts val="0"/>
              </a:spcAft>
              <a:buNone/>
            </a:pPr>
            <a:r>
              <a:rPr lang="en">
                <a:solidFill>
                  <a:schemeClr val="dk2"/>
                </a:solidFill>
              </a:rPr>
              <a:t>if (client.connect("esp32", "test.Lab", "example",  "avrud0")) {  </a:t>
            </a:r>
            <a:endParaRPr>
              <a:solidFill>
                <a:schemeClr val="dk2"/>
              </a:solidFill>
            </a:endParaRPr>
          </a:p>
          <a:p>
            <a:pPr indent="0" lvl="0" marL="492691" rtl="0" algn="l">
              <a:spcBef>
                <a:spcPts val="31"/>
              </a:spcBef>
              <a:spcAft>
                <a:spcPts val="0"/>
              </a:spcAft>
              <a:buNone/>
            </a:pPr>
            <a:r>
              <a:rPr lang="en">
                <a:solidFill>
                  <a:schemeClr val="dk2"/>
                </a:solidFill>
              </a:rPr>
              <a:t> client.sendPresence();  </a:t>
            </a:r>
            <a:endParaRPr>
              <a:solidFill>
                <a:schemeClr val="dk2"/>
              </a:solidFill>
            </a:endParaRPr>
          </a:p>
          <a:p>
            <a:pPr indent="0" lvl="0" marL="492691" rtl="0" algn="l">
              <a:spcBef>
                <a:spcPts val="0"/>
              </a:spcBef>
              <a:spcAft>
                <a:spcPts val="0"/>
              </a:spcAft>
              <a:buNone/>
            </a:pPr>
            <a:r>
              <a:rPr lang="en">
                <a:solidFill>
                  <a:schemeClr val="dk2"/>
                </a:solidFill>
              </a:rPr>
              <a:t> }  </a:t>
            </a:r>
            <a:endParaRPr>
              <a:solidFill>
                <a:schemeClr val="dk2"/>
              </a:solidFill>
            </a:endParaRPr>
          </a:p>
          <a:p>
            <a:pPr indent="1010" lvl="0" marL="35238" marR="78779" rtl="0" algn="l">
              <a:lnSpc>
                <a:spcPct val="96407"/>
              </a:lnSpc>
              <a:spcBef>
                <a:spcPts val="1143"/>
              </a:spcBef>
              <a:spcAft>
                <a:spcPts val="0"/>
              </a:spcAft>
              <a:buNone/>
            </a:pPr>
            <a:r>
              <a:rPr lang="en">
                <a:solidFill>
                  <a:schemeClr val="dk2"/>
                </a:solidFill>
              </a:rPr>
              <a:t>      //where the ip and mac address are set and connection  parameters. </a:t>
            </a:r>
            <a:endParaRPr>
              <a:solidFill>
                <a:schemeClr val="dk2"/>
              </a:solidFill>
            </a:endParaRPr>
          </a:p>
          <a:p>
            <a:pPr indent="1010" lvl="0" marL="35238" marR="78779" rtl="0" algn="l">
              <a:lnSpc>
                <a:spcPct val="96407"/>
              </a:lnSpc>
              <a:spcBef>
                <a:spcPts val="1143"/>
              </a:spcBef>
              <a:spcAft>
                <a:spcPts val="0"/>
              </a:spcAft>
              <a:buNone/>
            </a:pPr>
            <a:r>
              <a:rPr b="1" lang="en">
                <a:solidFill>
                  <a:schemeClr val="dk2"/>
                </a:solidFill>
              </a:rPr>
              <a:t>To send the messages to XMPP server are used:  </a:t>
            </a:r>
            <a:endParaRPr b="1">
              <a:solidFill>
                <a:schemeClr val="dk2"/>
              </a:solidFill>
            </a:endParaRPr>
          </a:p>
          <a:p>
            <a:pPr indent="0" lvl="0" marL="35491" rtl="0" algn="l">
              <a:spcBef>
                <a:spcPts val="1167"/>
              </a:spcBef>
              <a:spcAft>
                <a:spcPts val="0"/>
              </a:spcAft>
              <a:buNone/>
            </a:pPr>
            <a:r>
              <a:rPr lang="en">
                <a:solidFill>
                  <a:schemeClr val="dk2"/>
                </a:solidFill>
              </a:rPr>
              <a:t> client.sendMessage("admin@ test.Lab ", "hello");</a:t>
            </a:r>
            <a:endParaRPr/>
          </a:p>
        </p:txBody>
      </p:sp>
      <p:sp>
        <p:nvSpPr>
          <p:cNvPr id="123" name="Google Shape;123;p24"/>
          <p:cNvSpPr txBox="1"/>
          <p:nvPr/>
        </p:nvSpPr>
        <p:spPr>
          <a:xfrm>
            <a:off x="530450" y="369425"/>
            <a:ext cx="8278800" cy="461700"/>
          </a:xfrm>
          <a:prstGeom prst="rect">
            <a:avLst/>
          </a:prstGeom>
          <a:noFill/>
          <a:ln>
            <a:noFill/>
          </a:ln>
        </p:spPr>
        <p:txBody>
          <a:bodyPr anchorCtr="0" anchor="t" bIns="91425" lIns="91425" spcFirstLastPara="1" rIns="91425" wrap="square" tIns="91425">
            <a:spAutoFit/>
          </a:bodyPr>
          <a:lstStyle/>
          <a:p>
            <a:pPr indent="0" lvl="0" marL="0" rtl="0" algn="l">
              <a:spcBef>
                <a:spcPts val="1545"/>
              </a:spcBef>
              <a:spcAft>
                <a:spcPts val="0"/>
              </a:spcAft>
              <a:buNone/>
            </a:pPr>
            <a:r>
              <a:rPr b="1" lang="en" sz="1800">
                <a:solidFill>
                  <a:schemeClr val="dk2"/>
                </a:solidFill>
              </a:rPr>
              <a:t>SOFTWARE REALIZATION OF EXPERIMENTAL STAGE :</a:t>
            </a:r>
            <a:endParaRPr b="1"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graphicFrame>
        <p:nvGraphicFramePr>
          <p:cNvPr id="128" name="Google Shape;128;p25"/>
          <p:cNvGraphicFramePr/>
          <p:nvPr/>
        </p:nvGraphicFramePr>
        <p:xfrm>
          <a:off x="284400" y="79775"/>
          <a:ext cx="3000000" cy="3000000"/>
        </p:xfrm>
        <a:graphic>
          <a:graphicData uri="http://schemas.openxmlformats.org/drawingml/2006/table">
            <a:tbl>
              <a:tblPr>
                <a:noFill/>
                <a:tableStyleId>{062B1FE8-43CF-47B7-8FF2-0FCDE447C84C}</a:tableStyleId>
              </a:tblPr>
              <a:tblGrid>
                <a:gridCol w="1629550"/>
                <a:gridCol w="3750050"/>
                <a:gridCol w="3419850"/>
              </a:tblGrid>
              <a:tr h="353425">
                <a:tc>
                  <a:txBody>
                    <a:bodyPr/>
                    <a:lstStyle/>
                    <a:p>
                      <a:pPr indent="0" lvl="0" marL="0" rtl="0" algn="just">
                        <a:lnSpc>
                          <a:spcPct val="115000"/>
                        </a:lnSpc>
                        <a:spcBef>
                          <a:spcPts val="0"/>
                        </a:spcBef>
                        <a:spcAft>
                          <a:spcPts val="0"/>
                        </a:spcAft>
                        <a:buNone/>
                      </a:pPr>
                      <a:r>
                        <a:rPr lang="en" sz="995"/>
                        <a:t>Protocol </a:t>
                      </a:r>
                      <a:endParaRPr sz="995"/>
                    </a:p>
                  </a:txBody>
                  <a:tcPr marT="63500" marB="63500" marR="63500" marL="63500"/>
                </a:tc>
                <a:tc>
                  <a:txBody>
                    <a:bodyPr/>
                    <a:lstStyle/>
                    <a:p>
                      <a:pPr indent="0" lvl="0" marL="0" rtl="0" algn="just">
                        <a:lnSpc>
                          <a:spcPct val="115000"/>
                        </a:lnSpc>
                        <a:spcBef>
                          <a:spcPts val="0"/>
                        </a:spcBef>
                        <a:spcAft>
                          <a:spcPts val="0"/>
                        </a:spcAft>
                        <a:buNone/>
                      </a:pPr>
                      <a:r>
                        <a:rPr lang="en" sz="995"/>
                        <a:t>Advantages </a:t>
                      </a:r>
                      <a:endParaRPr sz="995"/>
                    </a:p>
                  </a:txBody>
                  <a:tcPr marT="63500" marB="63500" marR="63500" marL="63500"/>
                </a:tc>
                <a:tc>
                  <a:txBody>
                    <a:bodyPr/>
                    <a:lstStyle/>
                    <a:p>
                      <a:pPr indent="0" lvl="0" marL="0" rtl="0" algn="just">
                        <a:lnSpc>
                          <a:spcPct val="115000"/>
                        </a:lnSpc>
                        <a:spcBef>
                          <a:spcPts val="0"/>
                        </a:spcBef>
                        <a:spcAft>
                          <a:spcPts val="0"/>
                        </a:spcAft>
                        <a:buNone/>
                      </a:pPr>
                      <a:r>
                        <a:rPr lang="en" sz="995"/>
                        <a:t>Disadvantages </a:t>
                      </a:r>
                      <a:endParaRPr sz="995"/>
                    </a:p>
                  </a:txBody>
                  <a:tcPr marT="63500" marB="63500" marR="63500" marL="63500"/>
                </a:tc>
              </a:tr>
              <a:tr h="1454900">
                <a:tc>
                  <a:txBody>
                    <a:bodyPr/>
                    <a:lstStyle/>
                    <a:p>
                      <a:pPr indent="0" lvl="0" marL="0" rtl="0" algn="just">
                        <a:lnSpc>
                          <a:spcPct val="115000"/>
                        </a:lnSpc>
                        <a:spcBef>
                          <a:spcPts val="0"/>
                        </a:spcBef>
                        <a:spcAft>
                          <a:spcPts val="0"/>
                        </a:spcAft>
                        <a:buNone/>
                      </a:pPr>
                      <a:r>
                        <a:rPr lang="en" sz="995"/>
                        <a:t>MQTT </a:t>
                      </a:r>
                      <a:endParaRPr sz="995"/>
                    </a:p>
                  </a:txBody>
                  <a:tcPr marT="63500" marB="63500" marR="63500" marL="63500"/>
                </a:tc>
                <a:tc>
                  <a:txBody>
                    <a:bodyPr/>
                    <a:lstStyle/>
                    <a:p>
                      <a:pPr indent="0" lvl="0" marL="0" marR="161767" rtl="0" algn="just">
                        <a:lnSpc>
                          <a:spcPct val="115000"/>
                        </a:lnSpc>
                        <a:spcBef>
                          <a:spcPts val="0"/>
                        </a:spcBef>
                        <a:spcAft>
                          <a:spcPts val="0"/>
                        </a:spcAft>
                        <a:buNone/>
                      </a:pPr>
                      <a:r>
                        <a:rPr lang="en" sz="995"/>
                        <a:t>-  </a:t>
                      </a:r>
                      <a:r>
                        <a:rPr lang="en" sz="995"/>
                        <a:t>Ideal for low energy  consumption.</a:t>
                      </a:r>
                      <a:endParaRPr sz="995"/>
                    </a:p>
                    <a:p>
                      <a:pPr indent="0" lvl="0" marL="0" marR="96194" rtl="0" algn="just">
                        <a:lnSpc>
                          <a:spcPct val="115000"/>
                        </a:lnSpc>
                        <a:spcBef>
                          <a:spcPts val="13"/>
                        </a:spcBef>
                        <a:spcAft>
                          <a:spcPts val="0"/>
                        </a:spcAft>
                        <a:buNone/>
                      </a:pPr>
                      <a:r>
                        <a:rPr lang="en" sz="995"/>
                        <a:t>-  Requires lightweight  resources to build an  applied stack.</a:t>
                      </a:r>
                      <a:endParaRPr sz="995"/>
                    </a:p>
                    <a:p>
                      <a:pPr indent="0" lvl="0" marL="0" marR="127191" rtl="0" algn="just">
                        <a:lnSpc>
                          <a:spcPct val="115000"/>
                        </a:lnSpc>
                        <a:spcBef>
                          <a:spcPts val="25"/>
                        </a:spcBef>
                        <a:spcAft>
                          <a:spcPts val="0"/>
                        </a:spcAft>
                        <a:buNone/>
                      </a:pPr>
                      <a:r>
                        <a:rPr lang="en" sz="995"/>
                        <a:t>- The message header can be as small as 2  bytes. This makes it very effective on connection width, as  ideal for limited networks.</a:t>
                      </a:r>
                      <a:endParaRPr sz="995"/>
                    </a:p>
                    <a:p>
                      <a:pPr indent="0" lvl="0" marL="0" marR="27905" rtl="0" algn="just">
                        <a:lnSpc>
                          <a:spcPct val="115000"/>
                        </a:lnSpc>
                        <a:spcBef>
                          <a:spcPts val="0"/>
                        </a:spcBef>
                        <a:spcAft>
                          <a:spcPts val="0"/>
                        </a:spcAft>
                        <a:buNone/>
                      </a:pPr>
                      <a:r>
                        <a:rPr lang="en" sz="995"/>
                        <a:t>- </a:t>
                      </a:r>
                      <a:r>
                        <a:rPr lang="en" sz="995"/>
                        <a:t>Supports all messages  on the network (publish / subscribe and request  / reply).</a:t>
                      </a:r>
                      <a:endParaRPr sz="995"/>
                    </a:p>
                  </a:txBody>
                  <a:tcPr marT="63500" marB="63500" marR="63500" marL="63500"/>
                </a:tc>
                <a:tc>
                  <a:txBody>
                    <a:bodyPr/>
                    <a:lstStyle/>
                    <a:p>
                      <a:pPr indent="0" lvl="0" marL="52417" rtl="0" algn="just">
                        <a:lnSpc>
                          <a:spcPct val="115000"/>
                        </a:lnSpc>
                        <a:spcBef>
                          <a:spcPts val="0"/>
                        </a:spcBef>
                        <a:spcAft>
                          <a:spcPts val="0"/>
                        </a:spcAft>
                        <a:buNone/>
                      </a:pPr>
                      <a:r>
                        <a:rPr lang="en" sz="995"/>
                        <a:t>- No queue of  messages is maintained, with only  the most recent messages stored in  the broker</a:t>
                      </a:r>
                      <a:endParaRPr sz="995"/>
                    </a:p>
                    <a:p>
                      <a:pPr indent="4424" lvl="0" marL="47993" marR="13689" rtl="0" algn="just">
                        <a:lnSpc>
                          <a:spcPct val="115000"/>
                        </a:lnSpc>
                        <a:spcBef>
                          <a:spcPts val="26"/>
                        </a:spcBef>
                        <a:spcAft>
                          <a:spcPts val="0"/>
                        </a:spcAft>
                        <a:buNone/>
                      </a:pPr>
                      <a:r>
                        <a:rPr lang="en" sz="995"/>
                        <a:t>- Header fields such  as TTL (Time to live)  sent to the user are  not supported</a:t>
                      </a:r>
                      <a:endParaRPr sz="995"/>
                    </a:p>
                    <a:p>
                      <a:pPr indent="5435" lvl="0" marL="46982" marR="14283" rtl="0" algn="just">
                        <a:lnSpc>
                          <a:spcPct val="115000"/>
                        </a:lnSpc>
                        <a:spcBef>
                          <a:spcPts val="29"/>
                        </a:spcBef>
                        <a:spcAft>
                          <a:spcPts val="0"/>
                        </a:spcAft>
                        <a:buNone/>
                      </a:pPr>
                      <a:r>
                        <a:rPr lang="en" sz="995"/>
                        <a:t>- There is no message  property section</a:t>
                      </a:r>
                      <a:endParaRPr sz="995"/>
                    </a:p>
                  </a:txBody>
                  <a:tcPr marT="63500" marB="63500" marR="63500" marL="63500"/>
                </a:tc>
              </a:tr>
              <a:tr h="850225">
                <a:tc>
                  <a:txBody>
                    <a:bodyPr/>
                    <a:lstStyle/>
                    <a:p>
                      <a:pPr indent="0" lvl="0" marL="0" rtl="0" algn="just">
                        <a:lnSpc>
                          <a:spcPct val="115000"/>
                        </a:lnSpc>
                        <a:spcBef>
                          <a:spcPts val="0"/>
                        </a:spcBef>
                        <a:spcAft>
                          <a:spcPts val="0"/>
                        </a:spcAft>
                        <a:buClr>
                          <a:schemeClr val="dk2"/>
                        </a:buClr>
                        <a:buSzPts val="1100"/>
                        <a:buFont typeface="Arial"/>
                        <a:buNone/>
                      </a:pPr>
                      <a:r>
                        <a:rPr lang="en" sz="995">
                          <a:solidFill>
                            <a:schemeClr val="dk2"/>
                          </a:solidFill>
                        </a:rPr>
                        <a:t>CoAP </a:t>
                      </a:r>
                      <a:endParaRPr sz="995">
                        <a:solidFill>
                          <a:schemeClr val="dk2"/>
                        </a:solidFill>
                      </a:endParaRPr>
                    </a:p>
                    <a:p>
                      <a:pPr indent="0" lvl="0" marL="0" rtl="0" algn="just">
                        <a:lnSpc>
                          <a:spcPct val="115000"/>
                        </a:lnSpc>
                        <a:spcBef>
                          <a:spcPts val="0"/>
                        </a:spcBef>
                        <a:spcAft>
                          <a:spcPts val="0"/>
                        </a:spcAft>
                        <a:buNone/>
                      </a:pPr>
                      <a:r>
                        <a:t/>
                      </a:r>
                      <a:endParaRPr sz="995"/>
                    </a:p>
                  </a:txBody>
                  <a:tcPr marT="63500" marB="63500" marR="63500" marL="63500"/>
                </a:tc>
                <a:tc>
                  <a:txBody>
                    <a:bodyPr/>
                    <a:lstStyle/>
                    <a:p>
                      <a:pPr indent="0" lvl="0" marL="53834" rtl="0" algn="just">
                        <a:lnSpc>
                          <a:spcPct val="115000"/>
                        </a:lnSpc>
                        <a:spcBef>
                          <a:spcPts val="0"/>
                        </a:spcBef>
                        <a:spcAft>
                          <a:spcPts val="0"/>
                        </a:spcAft>
                        <a:buClr>
                          <a:schemeClr val="dk2"/>
                        </a:buClr>
                        <a:buSzPts val="1100"/>
                        <a:buFont typeface="Arial"/>
                        <a:buNone/>
                      </a:pPr>
                      <a:r>
                        <a:rPr lang="en" sz="995">
                          <a:solidFill>
                            <a:schemeClr val="dk2"/>
                          </a:solidFill>
                        </a:rPr>
                        <a:t>- It has the same concept as the REST  model, but aside from  TCP  </a:t>
                      </a:r>
                      <a:endParaRPr sz="995">
                        <a:solidFill>
                          <a:schemeClr val="dk2"/>
                        </a:solidFill>
                      </a:endParaRPr>
                    </a:p>
                    <a:p>
                      <a:pPr indent="4171" lvl="0" marL="49764" marR="82788" rtl="0" algn="just">
                        <a:lnSpc>
                          <a:spcPct val="115000"/>
                        </a:lnSpc>
                        <a:spcBef>
                          <a:spcPts val="31"/>
                        </a:spcBef>
                        <a:spcAft>
                          <a:spcPts val="0"/>
                        </a:spcAft>
                        <a:buClr>
                          <a:schemeClr val="dk2"/>
                        </a:buClr>
                        <a:buSzPts val="1100"/>
                        <a:buFont typeface="Arial"/>
                        <a:buNone/>
                      </a:pPr>
                      <a:r>
                        <a:rPr lang="en" sz="995">
                          <a:solidFill>
                            <a:schemeClr val="dk2"/>
                          </a:solidFill>
                        </a:rPr>
                        <a:t>-Very fast device-to device communication  via UDP </a:t>
                      </a:r>
                      <a:endParaRPr sz="995">
                        <a:solidFill>
                          <a:schemeClr val="dk2"/>
                        </a:solidFill>
                      </a:endParaRPr>
                    </a:p>
                    <a:p>
                      <a:pPr indent="885" lvl="0" marL="51589" marR="161767" rtl="0" algn="just">
                        <a:lnSpc>
                          <a:spcPct val="115000"/>
                        </a:lnSpc>
                        <a:spcBef>
                          <a:spcPts val="0"/>
                        </a:spcBef>
                        <a:spcAft>
                          <a:spcPts val="0"/>
                        </a:spcAft>
                        <a:buNone/>
                      </a:pPr>
                      <a:r>
                        <a:t/>
                      </a:r>
                      <a:endParaRPr sz="995"/>
                    </a:p>
                  </a:txBody>
                  <a:tcPr marT="63500" marB="63500" marR="63500" marL="63500"/>
                </a:tc>
                <a:tc>
                  <a:txBody>
                    <a:bodyPr/>
                    <a:lstStyle/>
                    <a:p>
                      <a:pPr indent="5308" lvl="0" marL="47115" marR="15401" rtl="0" algn="just">
                        <a:lnSpc>
                          <a:spcPct val="115000"/>
                        </a:lnSpc>
                        <a:spcBef>
                          <a:spcPts val="0"/>
                        </a:spcBef>
                        <a:spcAft>
                          <a:spcPts val="0"/>
                        </a:spcAft>
                        <a:buClr>
                          <a:schemeClr val="dk2"/>
                        </a:buClr>
                        <a:buSzPts val="1100"/>
                        <a:buFont typeface="Arial"/>
                        <a:buNone/>
                      </a:pPr>
                      <a:r>
                        <a:rPr lang="en" sz="995">
                          <a:solidFill>
                            <a:schemeClr val="dk2"/>
                          </a:solidFill>
                        </a:rPr>
                        <a:t>-There are the same  weaknesses as REST,  but aside from the  quality of the service  level</a:t>
                      </a:r>
                      <a:endParaRPr sz="995">
                        <a:solidFill>
                          <a:schemeClr val="dk2"/>
                        </a:solidFill>
                      </a:endParaRPr>
                    </a:p>
                    <a:p>
                      <a:pPr indent="1390" lvl="0" marL="51033" marR="226108" rtl="0" algn="just">
                        <a:lnSpc>
                          <a:spcPct val="115000"/>
                        </a:lnSpc>
                        <a:spcBef>
                          <a:spcPts val="29"/>
                        </a:spcBef>
                        <a:spcAft>
                          <a:spcPts val="0"/>
                        </a:spcAft>
                        <a:buClr>
                          <a:schemeClr val="dk2"/>
                        </a:buClr>
                        <a:buSzPts val="1100"/>
                        <a:buFont typeface="Arial"/>
                        <a:buNone/>
                      </a:pPr>
                      <a:r>
                        <a:rPr lang="en" sz="995">
                          <a:solidFill>
                            <a:schemeClr val="dk2"/>
                          </a:solidFill>
                        </a:rPr>
                        <a:t>-Offers a variable  level of service </a:t>
                      </a:r>
                      <a:endParaRPr sz="995">
                        <a:solidFill>
                          <a:schemeClr val="dk2"/>
                        </a:solidFill>
                      </a:endParaRPr>
                    </a:p>
                    <a:p>
                      <a:pPr indent="0" lvl="0" marL="52424" rtl="0" algn="just">
                        <a:lnSpc>
                          <a:spcPct val="115000"/>
                        </a:lnSpc>
                        <a:spcBef>
                          <a:spcPts val="26"/>
                        </a:spcBef>
                        <a:spcAft>
                          <a:spcPts val="0"/>
                        </a:spcAft>
                        <a:buClr>
                          <a:schemeClr val="dk2"/>
                        </a:buClr>
                        <a:buSzPts val="1100"/>
                        <a:buFont typeface="Arial"/>
                        <a:buNone/>
                      </a:pPr>
                      <a:r>
                        <a:rPr lang="en" sz="995">
                          <a:solidFill>
                            <a:schemeClr val="dk2"/>
                          </a:solidFill>
                        </a:rPr>
                        <a:t>- Supports only message model </a:t>
                      </a:r>
                      <a:endParaRPr sz="995">
                        <a:solidFill>
                          <a:schemeClr val="dk2"/>
                        </a:solidFill>
                      </a:endParaRPr>
                    </a:p>
                    <a:p>
                      <a:pPr indent="0" lvl="0" marL="52417" rtl="0" algn="just">
                        <a:lnSpc>
                          <a:spcPct val="115000"/>
                        </a:lnSpc>
                        <a:spcBef>
                          <a:spcPts val="0"/>
                        </a:spcBef>
                        <a:spcAft>
                          <a:spcPts val="0"/>
                        </a:spcAft>
                        <a:buNone/>
                      </a:pPr>
                      <a:r>
                        <a:t/>
                      </a:r>
                      <a:endParaRPr sz="995"/>
                    </a:p>
                  </a:txBody>
                  <a:tcPr marT="63500" marB="63500" marR="63500" marL="63500"/>
                </a:tc>
              </a:tr>
              <a:tr h="583375">
                <a:tc>
                  <a:txBody>
                    <a:bodyPr/>
                    <a:lstStyle/>
                    <a:p>
                      <a:pPr indent="0" lvl="0" marL="0" rtl="0" algn="just">
                        <a:lnSpc>
                          <a:spcPct val="115000"/>
                        </a:lnSpc>
                        <a:spcBef>
                          <a:spcPts val="0"/>
                        </a:spcBef>
                        <a:spcAft>
                          <a:spcPts val="0"/>
                        </a:spcAft>
                        <a:buClr>
                          <a:schemeClr val="dk2"/>
                        </a:buClr>
                        <a:buSzPts val="1100"/>
                        <a:buFont typeface="Arial"/>
                        <a:buNone/>
                      </a:pPr>
                      <a:r>
                        <a:rPr lang="en" sz="995">
                          <a:solidFill>
                            <a:schemeClr val="dk2"/>
                          </a:solidFill>
                        </a:rPr>
                        <a:t>XMPP </a:t>
                      </a:r>
                      <a:endParaRPr sz="995">
                        <a:solidFill>
                          <a:schemeClr val="dk2"/>
                        </a:solidFill>
                      </a:endParaRPr>
                    </a:p>
                    <a:p>
                      <a:pPr indent="0" lvl="0" marL="0" rtl="0" algn="just">
                        <a:lnSpc>
                          <a:spcPct val="115000"/>
                        </a:lnSpc>
                        <a:spcBef>
                          <a:spcPts val="0"/>
                        </a:spcBef>
                        <a:spcAft>
                          <a:spcPts val="0"/>
                        </a:spcAft>
                        <a:buNone/>
                      </a:pPr>
                      <a:r>
                        <a:t/>
                      </a:r>
                      <a:endParaRPr sz="995"/>
                    </a:p>
                  </a:txBody>
                  <a:tcPr marT="63500" marB="63500" marR="63500" marL="63500"/>
                </a:tc>
                <a:tc>
                  <a:txBody>
                    <a:bodyPr/>
                    <a:lstStyle/>
                    <a:p>
                      <a:pPr indent="0" lvl="0" marL="48472" marR="273323" rtl="0" algn="just">
                        <a:lnSpc>
                          <a:spcPct val="115000"/>
                        </a:lnSpc>
                        <a:spcBef>
                          <a:spcPts val="0"/>
                        </a:spcBef>
                        <a:spcAft>
                          <a:spcPts val="0"/>
                        </a:spcAft>
                        <a:buClr>
                          <a:schemeClr val="dk2"/>
                        </a:buClr>
                        <a:buSzPts val="1100"/>
                        <a:buFont typeface="Arial"/>
                        <a:buNone/>
                      </a:pPr>
                      <a:r>
                        <a:rPr lang="en" sz="995">
                          <a:solidFill>
                            <a:schemeClr val="dk2"/>
                          </a:solidFill>
                        </a:rPr>
                        <a:t> -Uses XML text format  as native type  </a:t>
                      </a:r>
                      <a:endParaRPr sz="995">
                        <a:solidFill>
                          <a:schemeClr val="dk2"/>
                        </a:solidFill>
                      </a:endParaRPr>
                    </a:p>
                    <a:p>
                      <a:pPr indent="5435" lvl="0" marL="48472" marR="74928" rtl="0" algn="just">
                        <a:lnSpc>
                          <a:spcPct val="115000"/>
                        </a:lnSpc>
                        <a:spcBef>
                          <a:spcPts val="26"/>
                        </a:spcBef>
                        <a:spcAft>
                          <a:spcPts val="0"/>
                        </a:spcAft>
                        <a:buClr>
                          <a:schemeClr val="dk2"/>
                        </a:buClr>
                        <a:buSzPts val="1100"/>
                        <a:buFont typeface="Arial"/>
                        <a:buNone/>
                      </a:pPr>
                      <a:r>
                        <a:rPr lang="en" sz="995">
                          <a:solidFill>
                            <a:schemeClr val="dk2"/>
                          </a:solidFill>
                        </a:rPr>
                        <a:t>-Performs person-to person communication uses TCP </a:t>
                      </a:r>
                      <a:endParaRPr sz="995">
                        <a:solidFill>
                          <a:schemeClr val="dk2"/>
                        </a:solidFill>
                      </a:endParaRPr>
                    </a:p>
                    <a:p>
                      <a:pPr indent="0" lvl="0" marL="53834" rtl="0" algn="just">
                        <a:lnSpc>
                          <a:spcPct val="115000"/>
                        </a:lnSpc>
                        <a:spcBef>
                          <a:spcPts val="0"/>
                        </a:spcBef>
                        <a:spcAft>
                          <a:spcPts val="0"/>
                        </a:spcAft>
                        <a:buNone/>
                      </a:pPr>
                      <a:r>
                        <a:t/>
                      </a:r>
                      <a:endParaRPr sz="995"/>
                    </a:p>
                  </a:txBody>
                  <a:tcPr marT="63500" marB="63500" marR="63500" marL="63500"/>
                </a:tc>
                <a:tc>
                  <a:txBody>
                    <a:bodyPr/>
                    <a:lstStyle/>
                    <a:p>
                      <a:pPr indent="0" lvl="0" marL="52396" rtl="0" algn="just">
                        <a:lnSpc>
                          <a:spcPct val="115000"/>
                        </a:lnSpc>
                        <a:spcBef>
                          <a:spcPts val="0"/>
                        </a:spcBef>
                        <a:spcAft>
                          <a:spcPts val="0"/>
                        </a:spcAft>
                        <a:buClr>
                          <a:schemeClr val="dk2"/>
                        </a:buClr>
                        <a:buSzPts val="1100"/>
                        <a:buFont typeface="Arial"/>
                        <a:buNone/>
                      </a:pPr>
                      <a:r>
                        <a:rPr lang="en" sz="995">
                          <a:solidFill>
                            <a:schemeClr val="dk2"/>
                          </a:solidFill>
                        </a:rPr>
                        <a:t>-No significant  disadvantages </a:t>
                      </a:r>
                      <a:endParaRPr sz="995">
                        <a:solidFill>
                          <a:schemeClr val="dk2"/>
                        </a:solidFill>
                      </a:endParaRPr>
                    </a:p>
                    <a:p>
                      <a:pPr indent="5308" lvl="0" marL="47115" marR="15401" rtl="0" algn="just">
                        <a:lnSpc>
                          <a:spcPct val="115000"/>
                        </a:lnSpc>
                        <a:spcBef>
                          <a:spcPts val="0"/>
                        </a:spcBef>
                        <a:spcAft>
                          <a:spcPts val="0"/>
                        </a:spcAft>
                        <a:buNone/>
                      </a:pPr>
                      <a:r>
                        <a:t/>
                      </a:r>
                      <a:endParaRPr sz="995"/>
                    </a:p>
                  </a:txBody>
                  <a:tcPr marT="63500" marB="63500" marR="63500" marL="63500"/>
                </a:tc>
              </a:tr>
              <a:tr h="879400">
                <a:tc>
                  <a:txBody>
                    <a:bodyPr/>
                    <a:lstStyle/>
                    <a:p>
                      <a:pPr indent="0" lvl="0" marL="0" rtl="0" algn="just">
                        <a:lnSpc>
                          <a:spcPct val="115000"/>
                        </a:lnSpc>
                        <a:spcBef>
                          <a:spcPts val="0"/>
                        </a:spcBef>
                        <a:spcAft>
                          <a:spcPts val="0"/>
                        </a:spcAft>
                        <a:buClr>
                          <a:schemeClr val="dk2"/>
                        </a:buClr>
                        <a:buSzPts val="1100"/>
                        <a:buFont typeface="Arial"/>
                        <a:buNone/>
                      </a:pPr>
                      <a:r>
                        <a:rPr lang="en" sz="995">
                          <a:solidFill>
                            <a:schemeClr val="dk2"/>
                          </a:solidFill>
                        </a:rPr>
                        <a:t>HTTP </a:t>
                      </a:r>
                      <a:endParaRPr sz="995">
                        <a:solidFill>
                          <a:schemeClr val="dk2"/>
                        </a:solidFill>
                      </a:endParaRPr>
                    </a:p>
                  </a:txBody>
                  <a:tcPr marT="63500" marB="63500" marR="63500" marL="63500"/>
                </a:tc>
                <a:tc>
                  <a:txBody>
                    <a:bodyPr/>
                    <a:lstStyle/>
                    <a:p>
                      <a:pPr indent="0" lvl="0" marL="53820" rtl="0" algn="just">
                        <a:lnSpc>
                          <a:spcPct val="115000"/>
                        </a:lnSpc>
                        <a:spcBef>
                          <a:spcPts val="0"/>
                        </a:spcBef>
                        <a:spcAft>
                          <a:spcPts val="0"/>
                        </a:spcAft>
                        <a:buClr>
                          <a:schemeClr val="dk2"/>
                        </a:buClr>
                        <a:buSzPts val="1100"/>
                        <a:buFont typeface="Arial"/>
                        <a:buNone/>
                      </a:pPr>
                      <a:r>
                        <a:rPr lang="en" sz="995">
                          <a:solidFill>
                            <a:schemeClr val="dk2"/>
                          </a:solidFill>
                        </a:rPr>
                        <a:t>-Does not require a client library to be supported by the IoT  device  </a:t>
                      </a:r>
                      <a:endParaRPr sz="995">
                        <a:solidFill>
                          <a:schemeClr val="dk2"/>
                        </a:solidFill>
                      </a:endParaRPr>
                    </a:p>
                    <a:p>
                      <a:pPr indent="1516" lvl="0" marL="52454" marR="60985" rtl="0" algn="just">
                        <a:lnSpc>
                          <a:spcPct val="115000"/>
                        </a:lnSpc>
                        <a:spcBef>
                          <a:spcPts val="14"/>
                        </a:spcBef>
                        <a:spcAft>
                          <a:spcPts val="0"/>
                        </a:spcAft>
                        <a:buClr>
                          <a:schemeClr val="dk2"/>
                        </a:buClr>
                        <a:buSzPts val="1100"/>
                        <a:buFont typeface="Arial"/>
                        <a:buNone/>
                      </a:pPr>
                      <a:r>
                        <a:rPr lang="en" sz="995">
                          <a:solidFill>
                            <a:schemeClr val="dk2"/>
                          </a:solidFill>
                        </a:rPr>
                        <a:t>-Simplifies architecture  if data loss allowed  -provides ' lowest  </a:t>
                      </a:r>
                      <a:endParaRPr sz="995">
                        <a:solidFill>
                          <a:schemeClr val="dk2"/>
                        </a:solidFill>
                      </a:endParaRPr>
                    </a:p>
                    <a:p>
                      <a:pPr indent="2148" lvl="0" marL="50896" marR="63098" rtl="0" algn="just">
                        <a:lnSpc>
                          <a:spcPct val="115000"/>
                        </a:lnSpc>
                        <a:spcBef>
                          <a:spcPts val="25"/>
                        </a:spcBef>
                        <a:spcAft>
                          <a:spcPts val="0"/>
                        </a:spcAft>
                        <a:buClr>
                          <a:schemeClr val="dk2"/>
                        </a:buClr>
                        <a:buSzPts val="1100"/>
                        <a:buFont typeface="Arial"/>
                        <a:buNone/>
                      </a:pPr>
                      <a:r>
                        <a:rPr lang="en" sz="995">
                          <a:solidFill>
                            <a:schemeClr val="dk2"/>
                          </a:solidFill>
                        </a:rPr>
                        <a:t>common denominator 'connectivity after most  devices use GET or  POST </a:t>
                      </a:r>
                      <a:endParaRPr sz="995">
                        <a:solidFill>
                          <a:schemeClr val="dk2"/>
                        </a:solidFill>
                      </a:endParaRPr>
                    </a:p>
                    <a:p>
                      <a:pPr indent="4715" lvl="0" marL="48472" marR="273323" rtl="0" algn="just">
                        <a:lnSpc>
                          <a:spcPct val="115000"/>
                        </a:lnSpc>
                        <a:spcBef>
                          <a:spcPts val="0"/>
                        </a:spcBef>
                        <a:spcAft>
                          <a:spcPts val="0"/>
                        </a:spcAft>
                        <a:buNone/>
                      </a:pPr>
                      <a:r>
                        <a:t/>
                      </a:r>
                      <a:endParaRPr sz="995"/>
                    </a:p>
                  </a:txBody>
                  <a:tcPr marT="63500" marB="63500" marR="63500" marL="63500"/>
                </a:tc>
                <a:tc>
                  <a:txBody>
                    <a:bodyPr/>
                    <a:lstStyle/>
                    <a:p>
                      <a:pPr indent="4424" lvl="0" marL="47994" marR="176889" rtl="0" algn="just">
                        <a:lnSpc>
                          <a:spcPct val="115000"/>
                        </a:lnSpc>
                        <a:spcBef>
                          <a:spcPts val="0"/>
                        </a:spcBef>
                        <a:spcAft>
                          <a:spcPts val="0"/>
                        </a:spcAft>
                        <a:buClr>
                          <a:schemeClr val="dk2"/>
                        </a:buClr>
                        <a:buSzPts val="1100"/>
                        <a:buFont typeface="Arial"/>
                        <a:buNone/>
                      </a:pPr>
                      <a:r>
                        <a:rPr lang="en" sz="995">
                          <a:solidFill>
                            <a:schemeClr val="dk2"/>
                          </a:solidFill>
                        </a:rPr>
                        <a:t>-Header fields are  relatively long  </a:t>
                      </a:r>
                      <a:endParaRPr sz="995">
                        <a:solidFill>
                          <a:schemeClr val="dk2"/>
                        </a:solidFill>
                      </a:endParaRPr>
                    </a:p>
                    <a:p>
                      <a:pPr indent="4424" lvl="0" marL="47994" marR="49109" rtl="0" algn="just">
                        <a:lnSpc>
                          <a:spcPct val="115000"/>
                        </a:lnSpc>
                        <a:spcBef>
                          <a:spcPts val="26"/>
                        </a:spcBef>
                        <a:spcAft>
                          <a:spcPts val="0"/>
                        </a:spcAft>
                        <a:buNone/>
                      </a:pPr>
                      <a:r>
                        <a:rPr lang="en" sz="995">
                          <a:solidFill>
                            <a:schemeClr val="dk2"/>
                          </a:solidFill>
                        </a:rPr>
                        <a:t>-No support for the  quality of service  </a:t>
                      </a:r>
                      <a:endParaRPr sz="995">
                        <a:solidFill>
                          <a:schemeClr val="dk2"/>
                        </a:solidFill>
                      </a:endParaRPr>
                    </a:p>
                    <a:p>
                      <a:pPr indent="4424" lvl="0" marL="47994" marR="49109" rtl="0" algn="just">
                        <a:lnSpc>
                          <a:spcPct val="115000"/>
                        </a:lnSpc>
                        <a:spcBef>
                          <a:spcPts val="26"/>
                        </a:spcBef>
                        <a:spcAft>
                          <a:spcPts val="0"/>
                        </a:spcAft>
                        <a:buClr>
                          <a:schemeClr val="dk2"/>
                        </a:buClr>
                        <a:buSzPts val="1100"/>
                        <a:buFont typeface="Arial"/>
                        <a:buNone/>
                      </a:pPr>
                      <a:r>
                        <a:rPr lang="en" sz="995">
                          <a:solidFill>
                            <a:schemeClr val="dk2"/>
                          </a:solidFill>
                        </a:rPr>
                        <a:t>-The application must  handle all reliability </a:t>
                      </a:r>
                      <a:endParaRPr sz="995">
                        <a:solidFill>
                          <a:schemeClr val="dk2"/>
                        </a:solidFill>
                      </a:endParaRPr>
                    </a:p>
                    <a:p>
                      <a:pPr indent="0" lvl="0" marL="52396" rtl="0" algn="just">
                        <a:lnSpc>
                          <a:spcPct val="115000"/>
                        </a:lnSpc>
                        <a:spcBef>
                          <a:spcPts val="0"/>
                        </a:spcBef>
                        <a:spcAft>
                          <a:spcPts val="0"/>
                        </a:spcAft>
                        <a:buNone/>
                      </a:pPr>
                      <a:r>
                        <a:t/>
                      </a:r>
                      <a:endParaRPr sz="995">
                        <a:solidFill>
                          <a:schemeClr val="dk2"/>
                        </a:solidFill>
                      </a:endParaRPr>
                    </a:p>
                  </a:txBody>
                  <a:tcPr marT="63500" marB="63500" marR="63500" marL="6350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graphicFrame>
        <p:nvGraphicFramePr>
          <p:cNvPr id="133" name="Google Shape;133;p26"/>
          <p:cNvGraphicFramePr/>
          <p:nvPr/>
        </p:nvGraphicFramePr>
        <p:xfrm>
          <a:off x="865400" y="308013"/>
          <a:ext cx="3000000" cy="3000000"/>
        </p:xfrm>
        <a:graphic>
          <a:graphicData uri="http://schemas.openxmlformats.org/drawingml/2006/table">
            <a:tbl>
              <a:tblPr>
                <a:noFill/>
                <a:tableStyleId>{062B1FE8-43CF-47B7-8FF2-0FCDE447C84C}</a:tableStyleId>
              </a:tblPr>
              <a:tblGrid>
                <a:gridCol w="1148200"/>
                <a:gridCol w="1222400"/>
                <a:gridCol w="1426125"/>
                <a:gridCol w="887275"/>
                <a:gridCol w="946350"/>
                <a:gridCol w="915500"/>
                <a:gridCol w="915500"/>
              </a:tblGrid>
              <a:tr h="904650">
                <a:tc>
                  <a:txBody>
                    <a:bodyPr/>
                    <a:lstStyle/>
                    <a:p>
                      <a:pPr indent="0" lvl="0" marL="0" rtl="0" algn="ctr">
                        <a:spcBef>
                          <a:spcPts val="0"/>
                        </a:spcBef>
                        <a:spcAft>
                          <a:spcPts val="0"/>
                        </a:spcAft>
                        <a:buNone/>
                      </a:pPr>
                      <a:r>
                        <a:rPr lang="en" sz="1195"/>
                        <a:t>Protocol </a:t>
                      </a:r>
                      <a:endParaRPr sz="1195"/>
                    </a:p>
                  </a:txBody>
                  <a:tcPr marT="63500" marB="63500" marR="63500" marL="63500"/>
                </a:tc>
                <a:tc>
                  <a:txBody>
                    <a:bodyPr/>
                    <a:lstStyle/>
                    <a:p>
                      <a:pPr indent="0" lvl="0" marL="100920" marR="61093" rtl="0" algn="ctr">
                        <a:lnSpc>
                          <a:spcPct val="96407"/>
                        </a:lnSpc>
                        <a:spcBef>
                          <a:spcPts val="0"/>
                        </a:spcBef>
                        <a:spcAft>
                          <a:spcPts val="0"/>
                        </a:spcAft>
                        <a:buNone/>
                      </a:pPr>
                      <a:r>
                        <a:rPr lang="en" sz="1195"/>
                        <a:t>Messages  type </a:t>
                      </a:r>
                      <a:endParaRPr sz="1195"/>
                    </a:p>
                  </a:txBody>
                  <a:tcPr marT="63500" marB="63500" marR="63500" marL="63500"/>
                </a:tc>
                <a:tc>
                  <a:txBody>
                    <a:bodyPr/>
                    <a:lstStyle/>
                    <a:p>
                      <a:pPr indent="0" lvl="0" marL="100603" marR="59978" rtl="0" algn="ctr">
                        <a:lnSpc>
                          <a:spcPct val="96407"/>
                        </a:lnSpc>
                        <a:spcBef>
                          <a:spcPts val="0"/>
                        </a:spcBef>
                        <a:spcAft>
                          <a:spcPts val="0"/>
                        </a:spcAft>
                        <a:buNone/>
                      </a:pPr>
                      <a:r>
                        <a:rPr lang="en" sz="1195"/>
                        <a:t>Constrained  network  </a:t>
                      </a:r>
                      <a:endParaRPr sz="1195"/>
                    </a:p>
                    <a:p>
                      <a:pPr indent="0" lvl="0" marL="0" rtl="0" algn="ctr">
                        <a:spcBef>
                          <a:spcPts val="14"/>
                        </a:spcBef>
                        <a:spcAft>
                          <a:spcPts val="0"/>
                        </a:spcAft>
                        <a:buNone/>
                      </a:pPr>
                      <a:r>
                        <a:rPr lang="en" sz="1195"/>
                        <a:t>GPRS, 2G,  </a:t>
                      </a:r>
                      <a:endParaRPr sz="1195"/>
                    </a:p>
                    <a:p>
                      <a:pPr indent="0" lvl="0" marL="0" rtl="0" algn="ctr">
                        <a:spcBef>
                          <a:spcPts val="0"/>
                        </a:spcBef>
                        <a:spcAft>
                          <a:spcPts val="0"/>
                        </a:spcAft>
                        <a:buNone/>
                      </a:pPr>
                      <a:r>
                        <a:rPr lang="en" sz="1195"/>
                        <a:t>3G </a:t>
                      </a:r>
                      <a:endParaRPr sz="1195"/>
                    </a:p>
                  </a:txBody>
                  <a:tcPr marT="63500" marB="63500" marR="63500" marL="63500"/>
                </a:tc>
                <a:tc>
                  <a:txBody>
                    <a:bodyPr/>
                    <a:lstStyle/>
                    <a:p>
                      <a:pPr indent="0" lvl="0" marL="0" rtl="0" algn="ctr">
                        <a:spcBef>
                          <a:spcPts val="0"/>
                        </a:spcBef>
                        <a:spcAft>
                          <a:spcPts val="0"/>
                        </a:spcAft>
                        <a:buNone/>
                      </a:pPr>
                      <a:r>
                        <a:rPr lang="en" sz="1195"/>
                        <a:t>Low  </a:t>
                      </a:r>
                      <a:endParaRPr sz="1195"/>
                    </a:p>
                    <a:p>
                      <a:pPr indent="0" lvl="0" marL="0" rtl="0" algn="ctr">
                        <a:spcBef>
                          <a:spcPts val="0"/>
                        </a:spcBef>
                        <a:spcAft>
                          <a:spcPts val="0"/>
                        </a:spcAft>
                        <a:buNone/>
                      </a:pPr>
                      <a:r>
                        <a:rPr lang="en" sz="1195"/>
                        <a:t>Power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Architecture</a:t>
                      </a:r>
                      <a:endParaRPr sz="1195"/>
                    </a:p>
                  </a:txBody>
                  <a:tcPr marT="63500" marB="63500" marR="63500" marL="63500"/>
                </a:tc>
                <a:tc>
                  <a:txBody>
                    <a:bodyPr/>
                    <a:lstStyle/>
                    <a:p>
                      <a:pPr indent="0" lvl="0" marL="0" rtl="0" algn="ctr">
                        <a:spcBef>
                          <a:spcPts val="0"/>
                        </a:spcBef>
                        <a:spcAft>
                          <a:spcPts val="0"/>
                        </a:spcAft>
                        <a:buNone/>
                      </a:pPr>
                      <a:r>
                        <a:rPr lang="en" sz="1195"/>
                        <a:t>Security</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Transport </a:t>
                      </a:r>
                      <a:endParaRPr sz="1195">
                        <a:solidFill>
                          <a:schemeClr val="dk2"/>
                        </a:solidFill>
                      </a:endParaRPr>
                    </a:p>
                    <a:p>
                      <a:pPr indent="0" lvl="0" marL="0" rtl="0" algn="ctr">
                        <a:spcBef>
                          <a:spcPts val="0"/>
                        </a:spcBef>
                        <a:spcAft>
                          <a:spcPts val="0"/>
                        </a:spcAft>
                        <a:buNone/>
                      </a:pPr>
                      <a:r>
                        <a:t/>
                      </a:r>
                      <a:endParaRPr sz="1195"/>
                    </a:p>
                  </a:txBody>
                  <a:tcPr marT="63500" marB="63500" marR="63500" marL="63500"/>
                </a:tc>
              </a:tr>
              <a:tr h="712225">
                <a:tc>
                  <a:txBody>
                    <a:bodyPr/>
                    <a:lstStyle/>
                    <a:p>
                      <a:pPr indent="0" lvl="0" marL="0" rtl="0" algn="ctr">
                        <a:spcBef>
                          <a:spcPts val="0"/>
                        </a:spcBef>
                        <a:spcAft>
                          <a:spcPts val="0"/>
                        </a:spcAft>
                        <a:buNone/>
                      </a:pPr>
                      <a:r>
                        <a:rPr lang="en" sz="1195"/>
                        <a:t>MQTT </a:t>
                      </a:r>
                      <a:endParaRPr sz="1195"/>
                    </a:p>
                  </a:txBody>
                  <a:tcPr marT="63500" marB="63500" marR="63500" marL="63500"/>
                </a:tc>
                <a:tc>
                  <a:txBody>
                    <a:bodyPr/>
                    <a:lstStyle/>
                    <a:p>
                      <a:pPr indent="0" lvl="0" marL="82688" marR="37028" rtl="0" algn="ctr">
                        <a:lnSpc>
                          <a:spcPct val="96407"/>
                        </a:lnSpc>
                        <a:spcBef>
                          <a:spcPts val="0"/>
                        </a:spcBef>
                        <a:spcAft>
                          <a:spcPts val="0"/>
                        </a:spcAft>
                        <a:buNone/>
                      </a:pPr>
                      <a:r>
                        <a:rPr lang="en" sz="1195"/>
                        <a:t>Publisher/  Subscriber </a:t>
                      </a:r>
                      <a:endParaRPr sz="1195"/>
                    </a:p>
                  </a:txBody>
                  <a:tcPr marT="63500" marB="63500" marR="63500" marL="63500"/>
                </a:tc>
                <a:tc>
                  <a:txBody>
                    <a:bodyPr/>
                    <a:lstStyle/>
                    <a:p>
                      <a:pPr indent="0" lvl="0" marL="0" rtl="0" algn="ctr">
                        <a:spcBef>
                          <a:spcPts val="0"/>
                        </a:spcBef>
                        <a:spcAft>
                          <a:spcPts val="0"/>
                        </a:spcAft>
                        <a:buNone/>
                      </a:pPr>
                      <a:r>
                        <a:rPr lang="en" sz="1195"/>
                        <a:t>Excellent </a:t>
                      </a:r>
                      <a:endParaRPr sz="1195"/>
                    </a:p>
                  </a:txBody>
                  <a:tcPr marT="63500" marB="63500" marR="63500" marL="63500"/>
                </a:tc>
                <a:tc>
                  <a:txBody>
                    <a:bodyPr/>
                    <a:lstStyle/>
                    <a:p>
                      <a:pPr indent="0" lvl="0" marL="0" rtl="0" algn="ctr">
                        <a:spcBef>
                          <a:spcPts val="0"/>
                        </a:spcBef>
                        <a:spcAft>
                          <a:spcPts val="0"/>
                        </a:spcAft>
                        <a:buNone/>
                      </a:pPr>
                      <a:r>
                        <a:rPr lang="en" sz="1195"/>
                        <a:t>Good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Tree </a:t>
                      </a:r>
                      <a:endParaRPr sz="1195">
                        <a:solidFill>
                          <a:schemeClr val="dk2"/>
                        </a:solidFill>
                      </a:endParaRPr>
                    </a:p>
                    <a:p>
                      <a:pPr indent="0" lvl="0" marL="51341" marR="47001" rtl="0" algn="ctr">
                        <a:lnSpc>
                          <a:spcPct val="96407"/>
                        </a:lnSpc>
                        <a:spcBef>
                          <a:spcPts val="0"/>
                        </a:spcBef>
                        <a:spcAft>
                          <a:spcPts val="0"/>
                        </a:spcAft>
                        <a:buNone/>
                      </a:pPr>
                      <a:r>
                        <a:t/>
                      </a:r>
                      <a:endParaRPr sz="1195"/>
                    </a:p>
                  </a:txBody>
                  <a:tcPr marT="63500" marB="63500" marR="63500" marL="63500"/>
                </a:tc>
                <a:tc>
                  <a:txBody>
                    <a:bodyPr/>
                    <a:lstStyle/>
                    <a:p>
                      <a:pPr indent="0" lvl="0" marL="51341" marR="47001" rtl="0" algn="ctr">
                        <a:lnSpc>
                          <a:spcPct val="96407"/>
                        </a:lnSpc>
                        <a:spcBef>
                          <a:spcPts val="0"/>
                        </a:spcBef>
                        <a:spcAft>
                          <a:spcPts val="0"/>
                        </a:spcAft>
                        <a:buNone/>
                      </a:pPr>
                      <a:r>
                        <a:rPr lang="en" sz="1195"/>
                        <a:t>medium may use SSL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TCP / IP</a:t>
                      </a:r>
                      <a:endParaRPr sz="1195">
                        <a:solidFill>
                          <a:schemeClr val="dk2"/>
                        </a:solidFill>
                      </a:endParaRPr>
                    </a:p>
                    <a:p>
                      <a:pPr indent="0" lvl="0" marL="51341" marR="47001" rtl="0" algn="ctr">
                        <a:lnSpc>
                          <a:spcPct val="96407"/>
                        </a:lnSpc>
                        <a:spcBef>
                          <a:spcPts val="0"/>
                        </a:spcBef>
                        <a:spcAft>
                          <a:spcPts val="0"/>
                        </a:spcAft>
                        <a:buNone/>
                      </a:pPr>
                      <a:r>
                        <a:t/>
                      </a:r>
                      <a:endParaRPr sz="1195"/>
                    </a:p>
                  </a:txBody>
                  <a:tcPr marT="63500" marB="63500" marR="63500" marL="63500"/>
                </a:tc>
              </a:tr>
              <a:tr h="712225">
                <a:tc>
                  <a:txBody>
                    <a:bodyPr/>
                    <a:lstStyle/>
                    <a:p>
                      <a:pPr indent="0" lvl="0" marL="0" rtl="0" algn="ctr">
                        <a:spcBef>
                          <a:spcPts val="0"/>
                        </a:spcBef>
                        <a:spcAft>
                          <a:spcPts val="0"/>
                        </a:spcAft>
                        <a:buNone/>
                      </a:pPr>
                      <a:r>
                        <a:rPr lang="en" sz="1195"/>
                        <a:t>CoAP </a:t>
                      </a:r>
                      <a:endParaRPr sz="1195"/>
                    </a:p>
                  </a:txBody>
                  <a:tcPr marT="63500" marB="63500" marR="63500" marL="63500"/>
                </a:tc>
                <a:tc>
                  <a:txBody>
                    <a:bodyPr/>
                    <a:lstStyle/>
                    <a:p>
                      <a:pPr indent="0" lvl="0" marL="55368" marR="52856" rtl="0" algn="ctr">
                        <a:lnSpc>
                          <a:spcPct val="96407"/>
                        </a:lnSpc>
                        <a:spcBef>
                          <a:spcPts val="0"/>
                        </a:spcBef>
                        <a:spcAft>
                          <a:spcPts val="0"/>
                        </a:spcAft>
                        <a:buNone/>
                      </a:pPr>
                      <a:r>
                        <a:rPr lang="en" sz="1195"/>
                        <a:t>Request/</a:t>
                      </a:r>
                      <a:endParaRPr sz="1195"/>
                    </a:p>
                    <a:p>
                      <a:pPr indent="0" lvl="0" marL="55368" marR="52856" rtl="0" algn="ctr">
                        <a:lnSpc>
                          <a:spcPct val="96407"/>
                        </a:lnSpc>
                        <a:spcBef>
                          <a:spcPts val="0"/>
                        </a:spcBef>
                        <a:spcAft>
                          <a:spcPts val="0"/>
                        </a:spcAft>
                        <a:buNone/>
                      </a:pPr>
                      <a:r>
                        <a:rPr lang="en" sz="1195"/>
                        <a:t>Response</a:t>
                      </a:r>
                      <a:r>
                        <a:rPr lang="en" sz="1195"/>
                        <a:t> </a:t>
                      </a:r>
                      <a:endParaRPr sz="1195"/>
                    </a:p>
                  </a:txBody>
                  <a:tcPr marT="63500" marB="63500" marR="63500" marL="63500"/>
                </a:tc>
                <a:tc>
                  <a:txBody>
                    <a:bodyPr/>
                    <a:lstStyle/>
                    <a:p>
                      <a:pPr indent="0" lvl="0" marL="0" rtl="0" algn="ctr">
                        <a:spcBef>
                          <a:spcPts val="0"/>
                        </a:spcBef>
                        <a:spcAft>
                          <a:spcPts val="0"/>
                        </a:spcAft>
                        <a:buNone/>
                      </a:pPr>
                      <a:r>
                        <a:rPr lang="en" sz="1195"/>
                        <a:t>Excellent </a:t>
                      </a:r>
                      <a:endParaRPr sz="1195"/>
                    </a:p>
                  </a:txBody>
                  <a:tcPr marT="63500" marB="63500" marR="63500" marL="63500"/>
                </a:tc>
                <a:tc>
                  <a:txBody>
                    <a:bodyPr/>
                    <a:lstStyle/>
                    <a:p>
                      <a:pPr indent="0" lvl="0" marL="0" rtl="0" algn="ctr">
                        <a:spcBef>
                          <a:spcPts val="0"/>
                        </a:spcBef>
                        <a:spcAft>
                          <a:spcPts val="0"/>
                        </a:spcAft>
                        <a:buNone/>
                      </a:pPr>
                      <a:r>
                        <a:rPr lang="en" sz="1195"/>
                        <a:t>Excellent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Tree </a:t>
                      </a:r>
                      <a:endParaRPr sz="1195">
                        <a:solidFill>
                          <a:schemeClr val="dk2"/>
                        </a:solidFill>
                      </a:endParaRPr>
                    </a:p>
                    <a:p>
                      <a:pPr indent="0" lvl="0" marL="52844" marR="47053" rtl="0" algn="ctr">
                        <a:lnSpc>
                          <a:spcPct val="96407"/>
                        </a:lnSpc>
                        <a:spcBef>
                          <a:spcPts val="0"/>
                        </a:spcBef>
                        <a:spcAft>
                          <a:spcPts val="0"/>
                        </a:spcAft>
                        <a:buNone/>
                      </a:pPr>
                      <a:r>
                        <a:t/>
                      </a:r>
                      <a:endParaRPr sz="1195"/>
                    </a:p>
                  </a:txBody>
                  <a:tcPr marT="63500" marB="63500" marR="63500" marL="63500"/>
                </a:tc>
                <a:tc>
                  <a:txBody>
                    <a:bodyPr/>
                    <a:lstStyle/>
                    <a:p>
                      <a:pPr indent="0" lvl="0" marL="52844" marR="47053" rtl="0" algn="ctr">
                        <a:lnSpc>
                          <a:spcPct val="96407"/>
                        </a:lnSpc>
                        <a:spcBef>
                          <a:spcPts val="0"/>
                        </a:spcBef>
                        <a:spcAft>
                          <a:spcPts val="0"/>
                        </a:spcAft>
                        <a:buNone/>
                      </a:pPr>
                      <a:r>
                        <a:rPr lang="en" sz="1195"/>
                        <a:t>medium DTLS </a:t>
                      </a:r>
                      <a:endParaRPr sz="1195"/>
                    </a:p>
                  </a:txBody>
                  <a:tcPr marT="63500" marB="63500" marR="63500" marL="63500"/>
                </a:tc>
                <a:tc>
                  <a:txBody>
                    <a:bodyPr/>
                    <a:lstStyle/>
                    <a:p>
                      <a:pPr indent="0" lvl="0" marL="0" rtl="0" algn="ctr">
                        <a:spcBef>
                          <a:spcPts val="0"/>
                        </a:spcBef>
                        <a:spcAft>
                          <a:spcPts val="0"/>
                        </a:spcAft>
                        <a:buNone/>
                      </a:pPr>
                      <a:r>
                        <a:rPr lang="en" sz="1195">
                          <a:solidFill>
                            <a:schemeClr val="dk2"/>
                          </a:solidFill>
                        </a:rPr>
                        <a:t>UDP / IP </a:t>
                      </a:r>
                      <a:endParaRPr sz="1195">
                        <a:solidFill>
                          <a:schemeClr val="dk2"/>
                        </a:solidFill>
                      </a:endParaRPr>
                    </a:p>
                    <a:p>
                      <a:pPr indent="0" lvl="0" marL="0" rtl="0" algn="ctr">
                        <a:spcBef>
                          <a:spcPts val="0"/>
                        </a:spcBef>
                        <a:spcAft>
                          <a:spcPts val="0"/>
                        </a:spcAft>
                        <a:buClr>
                          <a:schemeClr val="dk2"/>
                        </a:buClr>
                        <a:buSzPts val="1100"/>
                        <a:buFont typeface="Arial"/>
                        <a:buNone/>
                      </a:pPr>
                      <a:r>
                        <a:t/>
                      </a:r>
                      <a:endParaRPr sz="1195">
                        <a:solidFill>
                          <a:schemeClr val="dk2"/>
                        </a:solidFill>
                      </a:endParaRPr>
                    </a:p>
                    <a:p>
                      <a:pPr indent="0" lvl="0" marL="52844" marR="47053" rtl="0" algn="ctr">
                        <a:lnSpc>
                          <a:spcPct val="96407"/>
                        </a:lnSpc>
                        <a:spcBef>
                          <a:spcPts val="0"/>
                        </a:spcBef>
                        <a:spcAft>
                          <a:spcPts val="0"/>
                        </a:spcAft>
                        <a:buNone/>
                      </a:pPr>
                      <a:r>
                        <a:t/>
                      </a:r>
                      <a:endParaRPr sz="1195"/>
                    </a:p>
                  </a:txBody>
                  <a:tcPr marT="63500" marB="63500" marR="63500" marL="63500"/>
                </a:tc>
              </a:tr>
              <a:tr h="712225">
                <a:tc>
                  <a:txBody>
                    <a:bodyPr/>
                    <a:lstStyle/>
                    <a:p>
                      <a:pPr indent="0" lvl="0" marL="0" rtl="0" algn="ctr">
                        <a:spcBef>
                          <a:spcPts val="0"/>
                        </a:spcBef>
                        <a:spcAft>
                          <a:spcPts val="0"/>
                        </a:spcAft>
                        <a:buNone/>
                      </a:pPr>
                      <a:r>
                        <a:rPr lang="en" sz="1195"/>
                        <a:t>XMPP </a:t>
                      </a:r>
                      <a:endParaRPr sz="1195"/>
                    </a:p>
                  </a:txBody>
                  <a:tcPr marT="63500" marB="63500" marR="63500" marL="63500"/>
                </a:tc>
                <a:tc>
                  <a:txBody>
                    <a:bodyPr/>
                    <a:lstStyle/>
                    <a:p>
                      <a:pPr indent="0" lvl="0" marL="82596" marR="37118" rtl="0" algn="ctr">
                        <a:lnSpc>
                          <a:spcPct val="96407"/>
                        </a:lnSpc>
                        <a:spcBef>
                          <a:spcPts val="0"/>
                        </a:spcBef>
                        <a:spcAft>
                          <a:spcPts val="0"/>
                        </a:spcAft>
                        <a:buNone/>
                      </a:pPr>
                      <a:r>
                        <a:rPr lang="en" sz="1195"/>
                        <a:t>Publisher/  Subscriber </a:t>
                      </a:r>
                      <a:endParaRPr sz="1195"/>
                    </a:p>
                  </a:txBody>
                  <a:tcPr marT="63500" marB="63500" marR="63500" marL="63500"/>
                </a:tc>
                <a:tc>
                  <a:txBody>
                    <a:bodyPr/>
                    <a:lstStyle/>
                    <a:p>
                      <a:pPr indent="0" lvl="0" marL="0" rtl="0" algn="ctr">
                        <a:spcBef>
                          <a:spcPts val="0"/>
                        </a:spcBef>
                        <a:spcAft>
                          <a:spcPts val="0"/>
                        </a:spcAft>
                        <a:buNone/>
                      </a:pPr>
                      <a:r>
                        <a:rPr lang="en" sz="1195"/>
                        <a:t>Excellent </a:t>
                      </a:r>
                      <a:endParaRPr sz="1195"/>
                    </a:p>
                  </a:txBody>
                  <a:tcPr marT="63500" marB="63500" marR="63500" marL="63500"/>
                </a:tc>
                <a:tc>
                  <a:txBody>
                    <a:bodyPr/>
                    <a:lstStyle/>
                    <a:p>
                      <a:pPr indent="0" lvl="0" marL="0" rtl="0" algn="ctr">
                        <a:spcBef>
                          <a:spcPts val="0"/>
                        </a:spcBef>
                        <a:spcAft>
                          <a:spcPts val="0"/>
                        </a:spcAft>
                        <a:buNone/>
                      </a:pPr>
                      <a:r>
                        <a:rPr lang="en" sz="1195"/>
                        <a:t>Poor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Client Server </a:t>
                      </a:r>
                      <a:endParaRPr sz="1195">
                        <a:solidFill>
                          <a:schemeClr val="dk2"/>
                        </a:solidFill>
                      </a:endParaRPr>
                    </a:p>
                    <a:p>
                      <a:pPr indent="0" lvl="0" marL="0" rtl="0" algn="ctr">
                        <a:spcBef>
                          <a:spcPts val="0"/>
                        </a:spcBef>
                        <a:spcAft>
                          <a:spcPts val="0"/>
                        </a:spcAft>
                        <a:buNone/>
                      </a:pPr>
                      <a:r>
                        <a:t/>
                      </a:r>
                      <a:endParaRPr sz="1195"/>
                    </a:p>
                  </a:txBody>
                  <a:tcPr marT="63500" marB="63500" marR="63500" marL="63500"/>
                </a:tc>
                <a:tc>
                  <a:txBody>
                    <a:bodyPr/>
                    <a:lstStyle/>
                    <a:p>
                      <a:pPr indent="0" lvl="0" marL="0" rtl="0" algn="ctr">
                        <a:spcBef>
                          <a:spcPts val="0"/>
                        </a:spcBef>
                        <a:spcAft>
                          <a:spcPts val="0"/>
                        </a:spcAft>
                        <a:buNone/>
                      </a:pPr>
                      <a:r>
                        <a:rPr lang="en" sz="1195"/>
                        <a:t>High  </a:t>
                      </a:r>
                      <a:endParaRPr sz="1195"/>
                    </a:p>
                    <a:p>
                      <a:pPr indent="0" lvl="0" marL="0" rtl="0" algn="ctr">
                        <a:spcBef>
                          <a:spcPts val="0"/>
                        </a:spcBef>
                        <a:spcAft>
                          <a:spcPts val="0"/>
                        </a:spcAft>
                        <a:buNone/>
                      </a:pPr>
                      <a:r>
                        <a:rPr lang="en" sz="1195"/>
                        <a:t>TLS/  </a:t>
                      </a:r>
                      <a:endParaRPr sz="1195"/>
                    </a:p>
                    <a:p>
                      <a:pPr indent="0" lvl="0" marL="0" rtl="0" algn="ctr">
                        <a:spcBef>
                          <a:spcPts val="0"/>
                        </a:spcBef>
                        <a:spcAft>
                          <a:spcPts val="0"/>
                        </a:spcAft>
                        <a:buNone/>
                      </a:pPr>
                      <a:r>
                        <a:rPr lang="en" sz="1195"/>
                        <a:t>SSL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TCP / IP</a:t>
                      </a:r>
                      <a:endParaRPr sz="1195">
                        <a:solidFill>
                          <a:schemeClr val="dk2"/>
                        </a:solidFill>
                      </a:endParaRPr>
                    </a:p>
                    <a:p>
                      <a:pPr indent="0" lvl="0" marL="0" rtl="0" algn="ctr">
                        <a:spcBef>
                          <a:spcPts val="0"/>
                        </a:spcBef>
                        <a:spcAft>
                          <a:spcPts val="0"/>
                        </a:spcAft>
                        <a:buNone/>
                      </a:pPr>
                      <a:r>
                        <a:t/>
                      </a:r>
                      <a:endParaRPr sz="1195"/>
                    </a:p>
                  </a:txBody>
                  <a:tcPr marT="63500" marB="63500" marR="63500" marL="63500"/>
                </a:tc>
              </a:tr>
              <a:tr h="712225">
                <a:tc>
                  <a:txBody>
                    <a:bodyPr/>
                    <a:lstStyle/>
                    <a:p>
                      <a:pPr indent="0" lvl="0" marL="0" rtl="0" algn="ctr">
                        <a:spcBef>
                          <a:spcPts val="0"/>
                        </a:spcBef>
                        <a:spcAft>
                          <a:spcPts val="0"/>
                        </a:spcAft>
                        <a:buNone/>
                      </a:pPr>
                      <a:r>
                        <a:rPr lang="en" sz="1195"/>
                        <a:t>HTTP </a:t>
                      </a:r>
                      <a:endParaRPr sz="1195"/>
                    </a:p>
                  </a:txBody>
                  <a:tcPr marT="63500" marB="63500" marR="63500" marL="63500"/>
                </a:tc>
                <a:tc>
                  <a:txBody>
                    <a:bodyPr/>
                    <a:lstStyle/>
                    <a:p>
                      <a:pPr indent="0" lvl="0" marL="55468" marR="52755" rtl="0" algn="ctr">
                        <a:lnSpc>
                          <a:spcPct val="96407"/>
                        </a:lnSpc>
                        <a:spcBef>
                          <a:spcPts val="0"/>
                        </a:spcBef>
                        <a:spcAft>
                          <a:spcPts val="0"/>
                        </a:spcAft>
                        <a:buNone/>
                      </a:pPr>
                      <a:r>
                        <a:rPr lang="en" sz="1195"/>
                        <a:t>Request/</a:t>
                      </a:r>
                      <a:endParaRPr sz="1195"/>
                    </a:p>
                    <a:p>
                      <a:pPr indent="0" lvl="0" marL="55468" marR="52755" rtl="0" algn="ctr">
                        <a:lnSpc>
                          <a:spcPct val="96407"/>
                        </a:lnSpc>
                        <a:spcBef>
                          <a:spcPts val="0"/>
                        </a:spcBef>
                        <a:spcAft>
                          <a:spcPts val="0"/>
                        </a:spcAft>
                        <a:buNone/>
                      </a:pPr>
                      <a:r>
                        <a:rPr lang="en" sz="1195"/>
                        <a:t>Response</a:t>
                      </a:r>
                      <a:r>
                        <a:rPr lang="en" sz="1195"/>
                        <a:t> </a:t>
                      </a:r>
                      <a:endParaRPr sz="1195"/>
                    </a:p>
                  </a:txBody>
                  <a:tcPr marT="63500" marB="63500" marR="63500" marL="63500"/>
                </a:tc>
                <a:tc>
                  <a:txBody>
                    <a:bodyPr/>
                    <a:lstStyle/>
                    <a:p>
                      <a:pPr indent="0" lvl="0" marL="0" rtl="0" algn="ctr">
                        <a:spcBef>
                          <a:spcPts val="0"/>
                        </a:spcBef>
                        <a:spcAft>
                          <a:spcPts val="0"/>
                        </a:spcAft>
                        <a:buNone/>
                      </a:pPr>
                      <a:r>
                        <a:rPr lang="en" sz="1195"/>
                        <a:t>Excellent </a:t>
                      </a:r>
                      <a:endParaRPr sz="1195"/>
                    </a:p>
                  </a:txBody>
                  <a:tcPr marT="63500" marB="63500" marR="63500" marL="63500"/>
                </a:tc>
                <a:tc>
                  <a:txBody>
                    <a:bodyPr/>
                    <a:lstStyle/>
                    <a:p>
                      <a:pPr indent="0" lvl="0" marL="0" rtl="0" algn="ctr">
                        <a:spcBef>
                          <a:spcPts val="0"/>
                        </a:spcBef>
                        <a:spcAft>
                          <a:spcPts val="0"/>
                        </a:spcAft>
                        <a:buNone/>
                      </a:pPr>
                      <a:r>
                        <a:rPr lang="en" sz="1195"/>
                        <a:t>Poor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Client Server </a:t>
                      </a:r>
                      <a:endParaRPr sz="1195">
                        <a:solidFill>
                          <a:schemeClr val="dk2"/>
                        </a:solidFill>
                      </a:endParaRPr>
                    </a:p>
                    <a:p>
                      <a:pPr indent="0" lvl="0" marL="0" rtl="0" algn="ctr">
                        <a:spcBef>
                          <a:spcPts val="0"/>
                        </a:spcBef>
                        <a:spcAft>
                          <a:spcPts val="0"/>
                        </a:spcAft>
                        <a:buNone/>
                      </a:pPr>
                      <a:r>
                        <a:t/>
                      </a:r>
                      <a:endParaRPr sz="1195"/>
                    </a:p>
                  </a:txBody>
                  <a:tcPr marT="63500" marB="63500" marR="63500" marL="63500"/>
                </a:tc>
                <a:tc>
                  <a:txBody>
                    <a:bodyPr/>
                    <a:lstStyle/>
                    <a:p>
                      <a:pPr indent="0" lvl="0" marL="0" rtl="0" algn="ctr">
                        <a:spcBef>
                          <a:spcPts val="0"/>
                        </a:spcBef>
                        <a:spcAft>
                          <a:spcPts val="0"/>
                        </a:spcAft>
                        <a:buNone/>
                      </a:pPr>
                      <a:r>
                        <a:rPr lang="en" sz="1195"/>
                        <a:t>Low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TCP / IP</a:t>
                      </a:r>
                      <a:endParaRPr sz="1195">
                        <a:solidFill>
                          <a:schemeClr val="dk2"/>
                        </a:solidFill>
                      </a:endParaRPr>
                    </a:p>
                    <a:p>
                      <a:pPr indent="0" lvl="0" marL="0" rtl="0" algn="ctr">
                        <a:spcBef>
                          <a:spcPts val="0"/>
                        </a:spcBef>
                        <a:spcAft>
                          <a:spcPts val="0"/>
                        </a:spcAft>
                        <a:buNone/>
                      </a:pPr>
                      <a:r>
                        <a:t/>
                      </a:r>
                      <a:endParaRPr sz="1195"/>
                    </a:p>
                  </a:txBody>
                  <a:tcPr marT="63500" marB="63500" marR="63500" marL="63500"/>
                </a:tc>
              </a:tr>
              <a:tr h="712225">
                <a:tc>
                  <a:txBody>
                    <a:bodyPr/>
                    <a:lstStyle/>
                    <a:p>
                      <a:pPr indent="0" lvl="0" marL="0" rtl="0" algn="ctr">
                        <a:spcBef>
                          <a:spcPts val="0"/>
                        </a:spcBef>
                        <a:spcAft>
                          <a:spcPts val="0"/>
                        </a:spcAft>
                        <a:buNone/>
                      </a:pPr>
                      <a:r>
                        <a:rPr lang="en" sz="1195"/>
                        <a:t>HTTPS </a:t>
                      </a:r>
                      <a:endParaRPr sz="1195"/>
                    </a:p>
                  </a:txBody>
                  <a:tcPr marT="63500" marB="63500" marR="63500" marL="63500"/>
                </a:tc>
                <a:tc>
                  <a:txBody>
                    <a:bodyPr/>
                    <a:lstStyle/>
                    <a:p>
                      <a:pPr indent="0" lvl="0" marL="55281" marR="52664" rtl="0" algn="ctr">
                        <a:lnSpc>
                          <a:spcPct val="96407"/>
                        </a:lnSpc>
                        <a:spcBef>
                          <a:spcPts val="0"/>
                        </a:spcBef>
                        <a:spcAft>
                          <a:spcPts val="0"/>
                        </a:spcAft>
                        <a:buNone/>
                      </a:pPr>
                      <a:r>
                        <a:rPr lang="en" sz="1195"/>
                        <a:t>Request/</a:t>
                      </a:r>
                      <a:endParaRPr sz="1195"/>
                    </a:p>
                    <a:p>
                      <a:pPr indent="0" lvl="0" marL="55281" marR="52664" rtl="0" algn="ctr">
                        <a:lnSpc>
                          <a:spcPct val="96407"/>
                        </a:lnSpc>
                        <a:spcBef>
                          <a:spcPts val="0"/>
                        </a:spcBef>
                        <a:spcAft>
                          <a:spcPts val="0"/>
                        </a:spcAft>
                        <a:buNone/>
                      </a:pPr>
                      <a:r>
                        <a:rPr lang="en" sz="1195"/>
                        <a:t>Response</a:t>
                      </a:r>
                      <a:r>
                        <a:rPr lang="en" sz="1195"/>
                        <a:t> </a:t>
                      </a:r>
                      <a:endParaRPr sz="1195"/>
                    </a:p>
                  </a:txBody>
                  <a:tcPr marT="63500" marB="63500" marR="63500" marL="63500"/>
                </a:tc>
                <a:tc>
                  <a:txBody>
                    <a:bodyPr/>
                    <a:lstStyle/>
                    <a:p>
                      <a:pPr indent="0" lvl="0" marL="0" rtl="0" algn="ctr">
                        <a:spcBef>
                          <a:spcPts val="0"/>
                        </a:spcBef>
                        <a:spcAft>
                          <a:spcPts val="0"/>
                        </a:spcAft>
                        <a:buNone/>
                      </a:pPr>
                      <a:r>
                        <a:rPr lang="en" sz="1195"/>
                        <a:t>Excellent </a:t>
                      </a:r>
                      <a:endParaRPr sz="1195"/>
                    </a:p>
                  </a:txBody>
                  <a:tcPr marT="63500" marB="63500" marR="63500" marL="63500"/>
                </a:tc>
                <a:tc>
                  <a:txBody>
                    <a:bodyPr/>
                    <a:lstStyle/>
                    <a:p>
                      <a:pPr indent="0" lvl="0" marL="0" rtl="0" algn="ctr">
                        <a:spcBef>
                          <a:spcPts val="0"/>
                        </a:spcBef>
                        <a:spcAft>
                          <a:spcPts val="0"/>
                        </a:spcAft>
                        <a:buNone/>
                      </a:pPr>
                      <a:r>
                        <a:rPr lang="en" sz="1195"/>
                        <a:t>Poor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Client Server </a:t>
                      </a:r>
                      <a:endParaRPr sz="1195">
                        <a:solidFill>
                          <a:schemeClr val="dk2"/>
                        </a:solidFill>
                      </a:endParaRPr>
                    </a:p>
                    <a:p>
                      <a:pPr indent="0" lvl="0" marL="0" rtl="0" algn="ctr">
                        <a:spcBef>
                          <a:spcPts val="0"/>
                        </a:spcBef>
                        <a:spcAft>
                          <a:spcPts val="0"/>
                        </a:spcAft>
                        <a:buNone/>
                      </a:pPr>
                      <a:r>
                        <a:t/>
                      </a:r>
                      <a:endParaRPr sz="1195"/>
                    </a:p>
                  </a:txBody>
                  <a:tcPr marT="63500" marB="63500" marR="63500" marL="63500"/>
                </a:tc>
                <a:tc>
                  <a:txBody>
                    <a:bodyPr/>
                    <a:lstStyle/>
                    <a:p>
                      <a:pPr indent="0" lvl="0" marL="0" rtl="0" algn="ctr">
                        <a:spcBef>
                          <a:spcPts val="0"/>
                        </a:spcBef>
                        <a:spcAft>
                          <a:spcPts val="0"/>
                        </a:spcAft>
                        <a:buNone/>
                      </a:pPr>
                      <a:r>
                        <a:rPr lang="en" sz="1195"/>
                        <a:t>High  </a:t>
                      </a:r>
                      <a:endParaRPr sz="1195"/>
                    </a:p>
                    <a:p>
                      <a:pPr indent="0" lvl="0" marL="0" rtl="0" algn="ctr">
                        <a:spcBef>
                          <a:spcPts val="0"/>
                        </a:spcBef>
                        <a:spcAft>
                          <a:spcPts val="0"/>
                        </a:spcAft>
                        <a:buNone/>
                      </a:pPr>
                      <a:r>
                        <a:rPr lang="en" sz="1195"/>
                        <a:t>TLS/  </a:t>
                      </a:r>
                      <a:endParaRPr sz="1195"/>
                    </a:p>
                    <a:p>
                      <a:pPr indent="0" lvl="0" marL="0" rtl="0" algn="ctr">
                        <a:spcBef>
                          <a:spcPts val="0"/>
                        </a:spcBef>
                        <a:spcAft>
                          <a:spcPts val="0"/>
                        </a:spcAft>
                        <a:buNone/>
                      </a:pPr>
                      <a:r>
                        <a:rPr lang="en" sz="1195"/>
                        <a:t>SSL </a:t>
                      </a:r>
                      <a:endParaRPr sz="1195"/>
                    </a:p>
                  </a:txBody>
                  <a:tcPr marT="63500" marB="63500" marR="63500" marL="63500"/>
                </a:tc>
                <a:tc>
                  <a:txBody>
                    <a:bodyPr/>
                    <a:lstStyle/>
                    <a:p>
                      <a:pPr indent="0" lvl="0" marL="0" rtl="0" algn="ctr">
                        <a:spcBef>
                          <a:spcPts val="0"/>
                        </a:spcBef>
                        <a:spcAft>
                          <a:spcPts val="0"/>
                        </a:spcAft>
                        <a:buClr>
                          <a:schemeClr val="dk2"/>
                        </a:buClr>
                        <a:buSzPts val="1100"/>
                        <a:buFont typeface="Arial"/>
                        <a:buNone/>
                      </a:pPr>
                      <a:r>
                        <a:rPr lang="en" sz="1195">
                          <a:solidFill>
                            <a:schemeClr val="dk2"/>
                          </a:solidFill>
                        </a:rPr>
                        <a:t>TCP / IP</a:t>
                      </a:r>
                      <a:endParaRPr sz="1195">
                        <a:solidFill>
                          <a:schemeClr val="dk2"/>
                        </a:solidFill>
                      </a:endParaRPr>
                    </a:p>
                    <a:p>
                      <a:pPr indent="0" lvl="0" marL="0" rtl="0" algn="ctr">
                        <a:spcBef>
                          <a:spcPts val="0"/>
                        </a:spcBef>
                        <a:spcAft>
                          <a:spcPts val="0"/>
                        </a:spcAft>
                        <a:buNone/>
                      </a:pPr>
                      <a:r>
                        <a:t/>
                      </a:r>
                      <a:endParaRPr sz="1195"/>
                    </a:p>
                  </a:txBody>
                  <a:tcPr marT="63500" marB="63500" marR="63500" marL="63500"/>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