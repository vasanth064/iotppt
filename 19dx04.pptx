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18"/>
  </p:notesMasterIdLst>
  <p:sldIdLst>
    <p:sldId id="256" r:id="rId2"/>
    <p:sldId id="295" r:id="rId3"/>
    <p:sldId id="296" r:id="rId4"/>
    <p:sldId id="297" r:id="rId5"/>
    <p:sldId id="298" r:id="rId6"/>
    <p:sldId id="299" r:id="rId7"/>
    <p:sldId id="300" r:id="rId8"/>
    <p:sldId id="301" r:id="rId9"/>
    <p:sldId id="302" r:id="rId10"/>
    <p:sldId id="303" r:id="rId11"/>
    <p:sldId id="304" r:id="rId12"/>
    <p:sldId id="305" r:id="rId13"/>
    <p:sldId id="306" r:id="rId14"/>
    <p:sldId id="308" r:id="rId15"/>
    <p:sldId id="309" r:id="rId16"/>
    <p:sldId id="310" r:id="rId17"/>
  </p:sldIdLst>
  <p:sldSz cx="9144000" cy="5143500" type="screen16x9"/>
  <p:notesSz cx="6858000" cy="9144000"/>
  <p:embeddedFontLst>
    <p:embeddedFont>
      <p:font typeface="Agency FB" panose="020B0503020202020204" pitchFamily="34" charset="0"/>
      <p:regular r:id="rId19"/>
      <p:bold r:id="rId20"/>
    </p:embeddedFont>
    <p:embeddedFont>
      <p:font typeface="Lato" panose="020B0604020202020204" charset="0"/>
      <p:regular r:id="rId21"/>
      <p:bold r:id="rId22"/>
      <p:italic r:id="rId23"/>
      <p:boldItalic r:id="rId24"/>
    </p:embeddedFont>
    <p:embeddedFont>
      <p:font typeface="Raleway"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10"/>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0"/>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0"/>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0"/>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0"/>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color background">
  <p:cSld name="BLANK_1">
    <p:bg>
      <p:bgPr>
        <a:solidFill>
          <a:schemeClr val="accent1"/>
        </a:solidFill>
        <a:effectLst/>
      </p:bgPr>
    </p:bg>
    <p:spTree>
      <p:nvGrpSpPr>
        <p:cNvPr id="1" name="Shape 78"/>
        <p:cNvGrpSpPr/>
        <p:nvPr/>
      </p:nvGrpSpPr>
      <p:grpSpPr>
        <a:xfrm>
          <a:off x="0" y="0"/>
          <a:ext cx="0" cy="0"/>
          <a:chOff x="0" y="0"/>
          <a:chExt cx="0" cy="0"/>
        </a:xfrm>
      </p:grpSpPr>
      <p:sp>
        <p:nvSpPr>
          <p:cNvPr id="79" name="Google Shape;79;p11"/>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a:off x="0" y="5066325"/>
            <a:ext cx="893700" cy="77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a:off x="893710" y="5066325"/>
            <a:ext cx="64626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lvl="0" algn="r">
              <a:buNone/>
              <a:defRPr sz="1300">
                <a:solidFill>
                  <a:schemeClr val="accent6"/>
                </a:solidFill>
                <a:latin typeface="Lato"/>
                <a:ea typeface="Lato"/>
                <a:cs typeface="Lato"/>
                <a:sym typeface="Lato"/>
              </a:defRPr>
            </a:lvl1pPr>
            <a:lvl2pPr lvl="1" algn="r">
              <a:buNone/>
              <a:defRPr sz="1300">
                <a:solidFill>
                  <a:schemeClr val="accent6"/>
                </a:solidFill>
                <a:latin typeface="Lato"/>
                <a:ea typeface="Lato"/>
                <a:cs typeface="Lato"/>
                <a:sym typeface="Lato"/>
              </a:defRPr>
            </a:lvl2pPr>
            <a:lvl3pPr lvl="2" algn="r">
              <a:buNone/>
              <a:defRPr sz="1300">
                <a:solidFill>
                  <a:schemeClr val="accent6"/>
                </a:solidFill>
                <a:latin typeface="Lato"/>
                <a:ea typeface="Lato"/>
                <a:cs typeface="Lato"/>
                <a:sym typeface="Lato"/>
              </a:defRPr>
            </a:lvl3pPr>
            <a:lvl4pPr lvl="3" algn="r">
              <a:buNone/>
              <a:defRPr sz="1300">
                <a:solidFill>
                  <a:schemeClr val="accent6"/>
                </a:solidFill>
                <a:latin typeface="Lato"/>
                <a:ea typeface="Lato"/>
                <a:cs typeface="Lato"/>
                <a:sym typeface="Lato"/>
              </a:defRPr>
            </a:lvl4pPr>
            <a:lvl5pPr lvl="4" algn="r">
              <a:buNone/>
              <a:defRPr sz="1300">
                <a:solidFill>
                  <a:schemeClr val="accent6"/>
                </a:solidFill>
                <a:latin typeface="Lato"/>
                <a:ea typeface="Lato"/>
                <a:cs typeface="Lato"/>
                <a:sym typeface="Lato"/>
              </a:defRPr>
            </a:lvl5pPr>
            <a:lvl6pPr lvl="5" algn="r">
              <a:buNone/>
              <a:defRPr sz="1300">
                <a:solidFill>
                  <a:schemeClr val="accent6"/>
                </a:solidFill>
                <a:latin typeface="Lato"/>
                <a:ea typeface="Lato"/>
                <a:cs typeface="Lato"/>
                <a:sym typeface="Lato"/>
              </a:defRPr>
            </a:lvl6pPr>
            <a:lvl7pPr lvl="6" algn="r">
              <a:buNone/>
              <a:defRPr sz="1300">
                <a:solidFill>
                  <a:schemeClr val="accent6"/>
                </a:solidFill>
                <a:latin typeface="Lato"/>
                <a:ea typeface="Lato"/>
                <a:cs typeface="Lato"/>
                <a:sym typeface="Lato"/>
              </a:defRPr>
            </a:lvl7pPr>
            <a:lvl8pPr lvl="7" algn="r">
              <a:buNone/>
              <a:defRPr sz="1300">
                <a:solidFill>
                  <a:schemeClr val="accent6"/>
                </a:solidFill>
                <a:latin typeface="Lato"/>
                <a:ea typeface="Lato"/>
                <a:cs typeface="Lato"/>
                <a:sym typeface="Lato"/>
              </a:defRPr>
            </a:lvl8pPr>
            <a:lvl9pPr lvl="8" algn="r">
              <a:buNone/>
              <a:defRPr sz="1300">
                <a:solidFill>
                  <a:schemeClr val="accent6"/>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6" r:id="rId2"/>
    <p:sldLayoutId id="2147483657"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587828" y="932222"/>
            <a:ext cx="7239217" cy="96189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500" b="1" dirty="0"/>
              <a:t>COMPARATIVE STUDY OF COAP AND MQTT COMMUNICATION PROTOCOL</a:t>
            </a:r>
            <a:endParaRPr sz="2500" b="1" dirty="0"/>
          </a:p>
        </p:txBody>
      </p:sp>
      <p:sp>
        <p:nvSpPr>
          <p:cNvPr id="2" name="TextBox 1">
            <a:extLst>
              <a:ext uri="{FF2B5EF4-FFF2-40B4-BE49-F238E27FC236}">
                <a16:creationId xmlns:a16="http://schemas.microsoft.com/office/drawing/2014/main" id="{39C2D9BF-EB01-F1B2-DEFB-1FA6E1634F41}"/>
              </a:ext>
            </a:extLst>
          </p:cNvPr>
          <p:cNvSpPr txBox="1"/>
          <p:nvPr/>
        </p:nvSpPr>
        <p:spPr>
          <a:xfrm>
            <a:off x="587828" y="3249386"/>
            <a:ext cx="6955972" cy="1292662"/>
          </a:xfrm>
          <a:prstGeom prst="rect">
            <a:avLst/>
          </a:prstGeom>
          <a:noFill/>
        </p:spPr>
        <p:txBody>
          <a:bodyPr wrap="square" rtlCol="0">
            <a:spAutoFit/>
          </a:bodyPr>
          <a:lstStyle/>
          <a:p>
            <a:r>
              <a:rPr lang="en-US" sz="1600" dirty="0">
                <a:solidFill>
                  <a:schemeClr val="bg2">
                    <a:lumMod val="75000"/>
                  </a:schemeClr>
                </a:solidFill>
              </a:rPr>
              <a:t>NAME: R.BHAVANA</a:t>
            </a:r>
          </a:p>
          <a:p>
            <a:r>
              <a:rPr lang="en-US" sz="1600" dirty="0">
                <a:solidFill>
                  <a:schemeClr val="bg2">
                    <a:lumMod val="75000"/>
                  </a:schemeClr>
                </a:solidFill>
              </a:rPr>
              <a:t>ROLLNO: 19DX04</a:t>
            </a:r>
          </a:p>
          <a:p>
            <a:r>
              <a:rPr lang="en-US" sz="1600" dirty="0">
                <a:solidFill>
                  <a:schemeClr val="bg2">
                    <a:lumMod val="75000"/>
                  </a:schemeClr>
                </a:solidFill>
              </a:rPr>
              <a:t>COURSE CODE: Z18602</a:t>
            </a:r>
          </a:p>
          <a:p>
            <a:r>
              <a:rPr lang="en-US" sz="1600" dirty="0">
                <a:solidFill>
                  <a:schemeClr val="bg2">
                    <a:lumMod val="75000"/>
                  </a:schemeClr>
                </a:solidFill>
              </a:rPr>
              <a:t>COURSE NAME: BUILDING INTERNET OF THINGS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AF90A4-D40B-A01C-F04D-B182246B92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3" name="TextBox 2">
            <a:extLst>
              <a:ext uri="{FF2B5EF4-FFF2-40B4-BE49-F238E27FC236}">
                <a16:creationId xmlns:a16="http://schemas.microsoft.com/office/drawing/2014/main" id="{C63DD58A-2644-FD85-0630-CC236FDA530C}"/>
              </a:ext>
            </a:extLst>
          </p:cNvPr>
          <p:cNvSpPr txBox="1"/>
          <p:nvPr/>
        </p:nvSpPr>
        <p:spPr>
          <a:xfrm>
            <a:off x="490030" y="785811"/>
            <a:ext cx="2507456" cy="400110"/>
          </a:xfrm>
          <a:prstGeom prst="rect">
            <a:avLst/>
          </a:prstGeom>
          <a:noFill/>
        </p:spPr>
        <p:txBody>
          <a:bodyPr wrap="square" rtlCol="0">
            <a:spAutoFit/>
          </a:bodyPr>
          <a:lstStyle/>
          <a:p>
            <a:r>
              <a:rPr lang="en-US" sz="2000" b="1" dirty="0">
                <a:solidFill>
                  <a:schemeClr val="accent1">
                    <a:lumMod val="75000"/>
                  </a:schemeClr>
                </a:solidFill>
              </a:rPr>
              <a:t>INTRODUCTION</a:t>
            </a:r>
          </a:p>
        </p:txBody>
      </p:sp>
      <p:sp>
        <p:nvSpPr>
          <p:cNvPr id="5" name="TextBox 4">
            <a:extLst>
              <a:ext uri="{FF2B5EF4-FFF2-40B4-BE49-F238E27FC236}">
                <a16:creationId xmlns:a16="http://schemas.microsoft.com/office/drawing/2014/main" id="{72485A35-C4FD-1447-7A3D-8F3381FA58AE}"/>
              </a:ext>
            </a:extLst>
          </p:cNvPr>
          <p:cNvSpPr txBox="1"/>
          <p:nvPr/>
        </p:nvSpPr>
        <p:spPr>
          <a:xfrm>
            <a:off x="490030" y="1620381"/>
            <a:ext cx="8432513" cy="2031325"/>
          </a:xfrm>
          <a:prstGeom prst="rect">
            <a:avLst/>
          </a:prstGeom>
          <a:noFill/>
        </p:spPr>
        <p:txBody>
          <a:bodyPr wrap="square" rtlCol="0">
            <a:spAutoFit/>
          </a:bodyPr>
          <a:lstStyle/>
          <a:p>
            <a:pPr algn="just"/>
            <a:r>
              <a:rPr lang="en-US" sz="1600" dirty="0"/>
              <a:t>IoT represented a new dimension to the world of information and communication.</a:t>
            </a:r>
          </a:p>
          <a:p>
            <a:pPr algn="just"/>
            <a:endParaRPr lang="en-US" sz="1600" dirty="0"/>
          </a:p>
          <a:p>
            <a:pPr algn="just"/>
            <a:r>
              <a:rPr lang="en-US" sz="1600" dirty="0"/>
              <a:t>This research will be study of two- communication stack protocol MQTT and COAP and their critical impact on IOT solutions over network and devices. </a:t>
            </a:r>
          </a:p>
          <a:p>
            <a:pPr algn="just"/>
            <a:r>
              <a:rPr lang="en-US" sz="1600" dirty="0"/>
              <a:t>For that in this research, two main concepts are going to be clarified and highlighted: </a:t>
            </a:r>
          </a:p>
          <a:p>
            <a:pPr marL="285750" indent="-285750" algn="just">
              <a:buFont typeface="Wingdings" panose="05000000000000000000" pitchFamily="2" charset="2"/>
              <a:buChar char="Ø"/>
            </a:pPr>
            <a:r>
              <a:rPr lang="en-US" sz="1600" dirty="0"/>
              <a:t>IOT Devices limited capabilities </a:t>
            </a:r>
          </a:p>
          <a:p>
            <a:pPr marL="285750" indent="-285750" algn="just">
              <a:buFont typeface="Wingdings" panose="05000000000000000000" pitchFamily="2" charset="2"/>
              <a:buChar char="Ø"/>
            </a:pPr>
            <a:r>
              <a:rPr lang="en-US" sz="1600" dirty="0"/>
              <a:t>The impact of communication protocol into an IoT eco system. </a:t>
            </a:r>
          </a:p>
          <a:p>
            <a:endParaRPr lang="en-US" dirty="0"/>
          </a:p>
        </p:txBody>
      </p:sp>
    </p:spTree>
    <p:extLst>
      <p:ext uri="{BB962C8B-B14F-4D97-AF65-F5344CB8AC3E}">
        <p14:creationId xmlns:p14="http://schemas.microsoft.com/office/powerpoint/2010/main" val="4239875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88551C-7BBE-3E1C-21C5-40CA6EB32D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4" name="TextBox 3">
            <a:extLst>
              <a:ext uri="{FF2B5EF4-FFF2-40B4-BE49-F238E27FC236}">
                <a16:creationId xmlns:a16="http://schemas.microsoft.com/office/drawing/2014/main" id="{A565BF68-2AE8-1686-49CB-96E3A3954457}"/>
              </a:ext>
            </a:extLst>
          </p:cNvPr>
          <p:cNvSpPr txBox="1"/>
          <p:nvPr/>
        </p:nvSpPr>
        <p:spPr>
          <a:xfrm>
            <a:off x="358620" y="1752440"/>
            <a:ext cx="8396305" cy="1815882"/>
          </a:xfrm>
          <a:prstGeom prst="rect">
            <a:avLst/>
          </a:prstGeom>
          <a:noFill/>
        </p:spPr>
        <p:txBody>
          <a:bodyPr wrap="square" rtlCol="0">
            <a:spAutoFit/>
          </a:bodyPr>
          <a:lstStyle/>
          <a:p>
            <a:pPr marL="285750" indent="-285750" algn="just">
              <a:buFont typeface="Wingdings" panose="05000000000000000000" pitchFamily="2" charset="2"/>
              <a:buChar char="§"/>
            </a:pPr>
            <a:r>
              <a:rPr lang="en-US" sz="1600" dirty="0"/>
              <a:t>The latest innovations show that cloud is the best solution for IOT eco systems. It provides reliable solutions for fast data response, data heterogeneity and latency issues.</a:t>
            </a:r>
          </a:p>
          <a:p>
            <a:pPr marL="285750" indent="-285750" algn="just">
              <a:buFont typeface="Wingdings" panose="05000000000000000000" pitchFamily="2" charset="2"/>
              <a:buChar char="§"/>
            </a:pPr>
            <a:r>
              <a:rPr lang="en-US" sz="1600" dirty="0"/>
              <a:t>Many studies reinforced that communication is a main factor that determines the efficiency of IoT eco systems. </a:t>
            </a:r>
          </a:p>
          <a:p>
            <a:pPr marL="285750" indent="-285750" algn="just">
              <a:buFont typeface="Wingdings" panose="05000000000000000000" pitchFamily="2" charset="2"/>
              <a:buChar char="§"/>
            </a:pPr>
            <a:r>
              <a:rPr lang="en-US" sz="1600" dirty="0"/>
              <a:t>This is because it has an essential role in controlling messages send / receive : packets size , bandwidth usage, delivery latency and power consumption</a:t>
            </a:r>
            <a:r>
              <a:rPr lang="en-US" dirty="0"/>
              <a:t>. </a:t>
            </a:r>
          </a:p>
        </p:txBody>
      </p:sp>
      <p:sp>
        <p:nvSpPr>
          <p:cNvPr id="6" name="TextBox 5">
            <a:extLst>
              <a:ext uri="{FF2B5EF4-FFF2-40B4-BE49-F238E27FC236}">
                <a16:creationId xmlns:a16="http://schemas.microsoft.com/office/drawing/2014/main" id="{8D3B71EE-5341-EE85-6A60-1B90C34131D4}"/>
              </a:ext>
            </a:extLst>
          </p:cNvPr>
          <p:cNvSpPr txBox="1"/>
          <p:nvPr/>
        </p:nvSpPr>
        <p:spPr>
          <a:xfrm>
            <a:off x="358620" y="850938"/>
            <a:ext cx="6165055" cy="400110"/>
          </a:xfrm>
          <a:prstGeom prst="rect">
            <a:avLst/>
          </a:prstGeom>
          <a:noFill/>
        </p:spPr>
        <p:txBody>
          <a:bodyPr wrap="square" rtlCol="0">
            <a:spAutoFit/>
          </a:bodyPr>
          <a:lstStyle/>
          <a:p>
            <a:r>
              <a:rPr lang="en-US" sz="2000" b="1" dirty="0">
                <a:solidFill>
                  <a:schemeClr val="accent1">
                    <a:lumMod val="75000"/>
                  </a:schemeClr>
                </a:solidFill>
              </a:rPr>
              <a:t>IOT COMMUNICATION PROTOCOL</a:t>
            </a:r>
          </a:p>
        </p:txBody>
      </p:sp>
    </p:spTree>
    <p:extLst>
      <p:ext uri="{BB962C8B-B14F-4D97-AF65-F5344CB8AC3E}">
        <p14:creationId xmlns:p14="http://schemas.microsoft.com/office/powerpoint/2010/main" val="1394529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B46A34-F82A-F0B2-E575-E0CDE334FD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3" name="TextBox 2">
            <a:extLst>
              <a:ext uri="{FF2B5EF4-FFF2-40B4-BE49-F238E27FC236}">
                <a16:creationId xmlns:a16="http://schemas.microsoft.com/office/drawing/2014/main" id="{96046268-9A1A-FE09-3C89-D26F6FD50B90}"/>
              </a:ext>
            </a:extLst>
          </p:cNvPr>
          <p:cNvSpPr txBox="1"/>
          <p:nvPr/>
        </p:nvSpPr>
        <p:spPr>
          <a:xfrm>
            <a:off x="429258" y="1569273"/>
            <a:ext cx="8285484" cy="2308324"/>
          </a:xfrm>
          <a:prstGeom prst="rect">
            <a:avLst/>
          </a:prstGeom>
          <a:noFill/>
        </p:spPr>
        <p:txBody>
          <a:bodyPr wrap="square" rtlCol="0">
            <a:spAutoFit/>
          </a:bodyPr>
          <a:lstStyle/>
          <a:p>
            <a:pPr algn="just"/>
            <a:r>
              <a:rPr lang="en-US" sz="1600" dirty="0"/>
              <a:t>As IOT eco system and technologies are growing, researchers are constantly attempting to find better practices, improve technical specifications and designs for more productive and more efficient systems.</a:t>
            </a:r>
          </a:p>
          <a:p>
            <a:pPr algn="just"/>
            <a:endParaRPr lang="en-US" sz="1600" dirty="0"/>
          </a:p>
          <a:p>
            <a:pPr algn="just"/>
            <a:r>
              <a:rPr lang="en-US" sz="1600" dirty="0"/>
              <a:t>Layers:</a:t>
            </a:r>
          </a:p>
          <a:p>
            <a:pPr marL="285750" indent="-285750" algn="just">
              <a:buFont typeface="Wingdings" panose="05000000000000000000" pitchFamily="2" charset="2"/>
              <a:buChar char="§"/>
            </a:pPr>
            <a:r>
              <a:rPr lang="en-US" sz="1600" dirty="0"/>
              <a:t>Network layer</a:t>
            </a:r>
          </a:p>
          <a:p>
            <a:pPr marL="285750" indent="-285750" algn="just">
              <a:buFont typeface="Wingdings" panose="05000000000000000000" pitchFamily="2" charset="2"/>
              <a:buChar char="§"/>
            </a:pPr>
            <a:r>
              <a:rPr lang="en-US" sz="1600" dirty="0"/>
              <a:t>Internet layer</a:t>
            </a:r>
          </a:p>
          <a:p>
            <a:pPr marL="285750" indent="-285750" algn="just">
              <a:buFont typeface="Wingdings" panose="05000000000000000000" pitchFamily="2" charset="2"/>
              <a:buChar char="§"/>
            </a:pPr>
            <a:r>
              <a:rPr lang="en-US" sz="1600" dirty="0"/>
              <a:t>Transport layer</a:t>
            </a:r>
          </a:p>
          <a:p>
            <a:pPr marL="285750" indent="-285750" algn="just">
              <a:buFont typeface="Wingdings" panose="05000000000000000000" pitchFamily="2" charset="2"/>
              <a:buChar char="§"/>
            </a:pPr>
            <a:r>
              <a:rPr lang="en-US" sz="1600" dirty="0"/>
              <a:t>Application layer</a:t>
            </a:r>
          </a:p>
        </p:txBody>
      </p:sp>
      <p:sp>
        <p:nvSpPr>
          <p:cNvPr id="5" name="TextBox 4">
            <a:extLst>
              <a:ext uri="{FF2B5EF4-FFF2-40B4-BE49-F238E27FC236}">
                <a16:creationId xmlns:a16="http://schemas.microsoft.com/office/drawing/2014/main" id="{1116CE5E-956C-2CFD-3234-7D29AE9980A2}"/>
              </a:ext>
            </a:extLst>
          </p:cNvPr>
          <p:cNvSpPr txBox="1"/>
          <p:nvPr/>
        </p:nvSpPr>
        <p:spPr>
          <a:xfrm>
            <a:off x="372108" y="865793"/>
            <a:ext cx="3617594" cy="400110"/>
          </a:xfrm>
          <a:prstGeom prst="rect">
            <a:avLst/>
          </a:prstGeom>
          <a:noFill/>
        </p:spPr>
        <p:txBody>
          <a:bodyPr wrap="square" rtlCol="0">
            <a:spAutoFit/>
          </a:bodyPr>
          <a:lstStyle/>
          <a:p>
            <a:r>
              <a:rPr lang="en-US" sz="2000" b="1" dirty="0">
                <a:solidFill>
                  <a:schemeClr val="accent1">
                    <a:lumMod val="75000"/>
                  </a:schemeClr>
                </a:solidFill>
              </a:rPr>
              <a:t>IOT PROTOCOL STACK</a:t>
            </a:r>
          </a:p>
        </p:txBody>
      </p:sp>
    </p:spTree>
    <p:extLst>
      <p:ext uri="{BB962C8B-B14F-4D97-AF65-F5344CB8AC3E}">
        <p14:creationId xmlns:p14="http://schemas.microsoft.com/office/powerpoint/2010/main" val="713527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D125DD-7858-2231-E22C-832CB2261C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4" name="TextBox 3">
            <a:extLst>
              <a:ext uri="{FF2B5EF4-FFF2-40B4-BE49-F238E27FC236}">
                <a16:creationId xmlns:a16="http://schemas.microsoft.com/office/drawing/2014/main" id="{D8C1D006-25ED-5272-F256-59AB65E47DC2}"/>
              </a:ext>
            </a:extLst>
          </p:cNvPr>
          <p:cNvSpPr txBox="1"/>
          <p:nvPr/>
        </p:nvSpPr>
        <p:spPr>
          <a:xfrm>
            <a:off x="1642730" y="1871332"/>
            <a:ext cx="5858540" cy="1015663"/>
          </a:xfrm>
          <a:prstGeom prst="rect">
            <a:avLst/>
          </a:prstGeom>
          <a:noFill/>
        </p:spPr>
        <p:txBody>
          <a:bodyPr wrap="square" rtlCol="0">
            <a:spAutoFit/>
          </a:bodyPr>
          <a:lstStyle/>
          <a:p>
            <a:r>
              <a:rPr lang="en-US" sz="6000" b="1" dirty="0">
                <a:solidFill>
                  <a:schemeClr val="bg1"/>
                </a:solidFill>
              </a:rPr>
              <a:t>MQTT &amp; COAP</a:t>
            </a:r>
          </a:p>
        </p:txBody>
      </p:sp>
    </p:spTree>
    <p:extLst>
      <p:ext uri="{BB962C8B-B14F-4D97-AF65-F5344CB8AC3E}">
        <p14:creationId xmlns:p14="http://schemas.microsoft.com/office/powerpoint/2010/main" val="4042304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247208-60ED-C79A-C837-BF70DC58ED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4" name="TextBox 3">
            <a:extLst>
              <a:ext uri="{FF2B5EF4-FFF2-40B4-BE49-F238E27FC236}">
                <a16:creationId xmlns:a16="http://schemas.microsoft.com/office/drawing/2014/main" id="{821F50E0-4B58-4A94-BE74-A6524CE4DE66}"/>
              </a:ext>
            </a:extLst>
          </p:cNvPr>
          <p:cNvSpPr txBox="1"/>
          <p:nvPr/>
        </p:nvSpPr>
        <p:spPr>
          <a:xfrm>
            <a:off x="356189" y="510363"/>
            <a:ext cx="7719237" cy="400110"/>
          </a:xfrm>
          <a:prstGeom prst="rect">
            <a:avLst/>
          </a:prstGeom>
          <a:noFill/>
        </p:spPr>
        <p:txBody>
          <a:bodyPr wrap="square" rtlCol="0">
            <a:spAutoFit/>
          </a:bodyPr>
          <a:lstStyle/>
          <a:p>
            <a:r>
              <a:rPr lang="en-US" sz="2000" b="1" dirty="0">
                <a:solidFill>
                  <a:schemeClr val="bg2">
                    <a:lumMod val="75000"/>
                  </a:schemeClr>
                </a:solidFill>
              </a:rPr>
              <a:t>MESSAGE QUEUE TELEMENTRY TRANSPORT(MQTT)</a:t>
            </a:r>
          </a:p>
        </p:txBody>
      </p:sp>
      <p:sp>
        <p:nvSpPr>
          <p:cNvPr id="5" name="TextBox 4">
            <a:extLst>
              <a:ext uri="{FF2B5EF4-FFF2-40B4-BE49-F238E27FC236}">
                <a16:creationId xmlns:a16="http://schemas.microsoft.com/office/drawing/2014/main" id="{385910A7-114E-C827-6575-1E49B27A7111}"/>
              </a:ext>
            </a:extLst>
          </p:cNvPr>
          <p:cNvSpPr txBox="1"/>
          <p:nvPr/>
        </p:nvSpPr>
        <p:spPr>
          <a:xfrm>
            <a:off x="356189" y="1350334"/>
            <a:ext cx="8431621" cy="3231654"/>
          </a:xfrm>
          <a:prstGeom prst="rect">
            <a:avLst/>
          </a:prstGeom>
          <a:noFill/>
        </p:spPr>
        <p:txBody>
          <a:bodyPr wrap="square" rtlCol="0">
            <a:spAutoFit/>
          </a:bodyPr>
          <a:lstStyle/>
          <a:p>
            <a:pPr marL="285750" indent="-285750" algn="just">
              <a:buFont typeface="Wingdings" panose="05000000000000000000" pitchFamily="2" charset="2"/>
              <a:buChar char="Ø"/>
            </a:pPr>
            <a:r>
              <a:rPr lang="en-US" sz="1600" dirty="0"/>
              <a:t>Message Queue Telemetry Transport (MQTT) protocol is an application layer protocol.</a:t>
            </a:r>
          </a:p>
          <a:p>
            <a:pPr marL="285750" indent="-285750" algn="just">
              <a:buFont typeface="Wingdings" panose="05000000000000000000" pitchFamily="2" charset="2"/>
              <a:buChar char="Ø"/>
            </a:pPr>
            <a:r>
              <a:rPr lang="en-US" sz="1600" dirty="0"/>
              <a:t>MQTT is designed for lightweight messaging communication and telemetry information especially for limited resources devices. </a:t>
            </a:r>
          </a:p>
          <a:p>
            <a:pPr marL="285750" indent="-285750" algn="just">
              <a:buFont typeface="Wingdings" panose="05000000000000000000" pitchFamily="2" charset="2"/>
              <a:buChar char="Ø"/>
            </a:pPr>
            <a:r>
              <a:rPr lang="en-US" sz="1600" dirty="0"/>
              <a:t>This architecture is based on publish-subscribe concept. </a:t>
            </a:r>
          </a:p>
          <a:p>
            <a:pPr marL="285750" indent="-285750" algn="just">
              <a:buFont typeface="Wingdings" panose="05000000000000000000" pitchFamily="2" charset="2"/>
              <a:buChar char="Ø"/>
            </a:pPr>
            <a:r>
              <a:rPr lang="en-US" sz="1600" dirty="0"/>
              <a:t>Brokers insure delivery of message or make use of buffer and re push them in case of broken connection. </a:t>
            </a:r>
          </a:p>
          <a:p>
            <a:pPr marL="285750" indent="-285750" algn="just">
              <a:buFont typeface="Wingdings" panose="05000000000000000000" pitchFamily="2" charset="2"/>
              <a:buChar char="Ø"/>
            </a:pPr>
            <a:r>
              <a:rPr lang="en-US" sz="1600" dirty="0"/>
              <a:t>MQTT provide three options to achieve a message in Quality of Services (QoS)</a:t>
            </a:r>
          </a:p>
          <a:p>
            <a:pPr algn="just"/>
            <a:endParaRPr lang="en-US" sz="1600" dirty="0"/>
          </a:p>
          <a:p>
            <a:pPr algn="just"/>
            <a:r>
              <a:rPr lang="en-US" sz="1600" dirty="0"/>
              <a:t>Level 1: At most once</a:t>
            </a:r>
          </a:p>
          <a:p>
            <a:pPr algn="just"/>
            <a:r>
              <a:rPr lang="en-US" sz="1600" dirty="0"/>
              <a:t>Level 2: At least one message </a:t>
            </a:r>
          </a:p>
          <a:p>
            <a:pPr algn="just"/>
            <a:r>
              <a:rPr lang="en-US" sz="1600" dirty="0"/>
              <a:t>Level 3: Exactly once </a:t>
            </a:r>
          </a:p>
          <a:p>
            <a:pPr algn="just"/>
            <a:endParaRPr lang="en-US" dirty="0"/>
          </a:p>
          <a:p>
            <a:endParaRPr lang="en-US" dirty="0"/>
          </a:p>
        </p:txBody>
      </p:sp>
    </p:spTree>
    <p:extLst>
      <p:ext uri="{BB962C8B-B14F-4D97-AF65-F5344CB8AC3E}">
        <p14:creationId xmlns:p14="http://schemas.microsoft.com/office/powerpoint/2010/main" val="2513956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B8CE26-5253-E242-8448-4B9495509E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3" name="TextBox 2">
            <a:extLst>
              <a:ext uri="{FF2B5EF4-FFF2-40B4-BE49-F238E27FC236}">
                <a16:creationId xmlns:a16="http://schemas.microsoft.com/office/drawing/2014/main" id="{F9A2E24E-0264-AA2E-22C4-AB2EDA30EADE}"/>
              </a:ext>
            </a:extLst>
          </p:cNvPr>
          <p:cNvSpPr txBox="1"/>
          <p:nvPr/>
        </p:nvSpPr>
        <p:spPr>
          <a:xfrm>
            <a:off x="393405" y="476947"/>
            <a:ext cx="6883243" cy="400110"/>
          </a:xfrm>
          <a:prstGeom prst="rect">
            <a:avLst/>
          </a:prstGeom>
          <a:noFill/>
        </p:spPr>
        <p:txBody>
          <a:bodyPr wrap="square" rtlCol="0">
            <a:spAutoFit/>
          </a:bodyPr>
          <a:lstStyle/>
          <a:p>
            <a:r>
              <a:rPr lang="en-US" sz="2000" b="1" dirty="0">
                <a:solidFill>
                  <a:schemeClr val="bg2">
                    <a:lumMod val="75000"/>
                  </a:schemeClr>
                </a:solidFill>
              </a:rPr>
              <a:t>CONSTRAINED APPLICATION PROTOCOL</a:t>
            </a:r>
          </a:p>
        </p:txBody>
      </p:sp>
      <p:sp>
        <p:nvSpPr>
          <p:cNvPr id="4" name="TextBox 3">
            <a:extLst>
              <a:ext uri="{FF2B5EF4-FFF2-40B4-BE49-F238E27FC236}">
                <a16:creationId xmlns:a16="http://schemas.microsoft.com/office/drawing/2014/main" id="{D5FBEA71-6058-166D-3F35-1BC89B59B0DC}"/>
              </a:ext>
            </a:extLst>
          </p:cNvPr>
          <p:cNvSpPr txBox="1"/>
          <p:nvPr/>
        </p:nvSpPr>
        <p:spPr>
          <a:xfrm>
            <a:off x="344747" y="1327915"/>
            <a:ext cx="8454506" cy="3016210"/>
          </a:xfrm>
          <a:prstGeom prst="rect">
            <a:avLst/>
          </a:prstGeom>
          <a:noFill/>
        </p:spPr>
        <p:txBody>
          <a:bodyPr wrap="square" rtlCol="0">
            <a:spAutoFit/>
          </a:bodyPr>
          <a:lstStyle/>
          <a:p>
            <a:pPr marL="285750" indent="-285750" algn="just">
              <a:buFont typeface="Wingdings" panose="05000000000000000000" pitchFamily="2" charset="2"/>
              <a:buChar char="Ø"/>
            </a:pPr>
            <a:r>
              <a:rPr lang="en-US" sz="1600" dirty="0"/>
              <a:t>Constrained Application Protocol (CoAP), CoAP is de signed to enable simple, constrained devices to join the IoT even through constrained networks with low bandwidth and low availability.</a:t>
            </a:r>
          </a:p>
          <a:p>
            <a:pPr marL="285750" indent="-285750" algn="just">
              <a:buFont typeface="Wingdings" panose="05000000000000000000" pitchFamily="2" charset="2"/>
              <a:buChar char="Ø"/>
            </a:pPr>
            <a:r>
              <a:rPr lang="en-US" sz="1600" dirty="0"/>
              <a:t>The protocol is generally used for machine to-machine (M2M) communication.</a:t>
            </a:r>
          </a:p>
          <a:p>
            <a:pPr marL="285750" indent="-285750" algn="just">
              <a:buFont typeface="Wingdings" panose="05000000000000000000" pitchFamily="2" charset="2"/>
              <a:buChar char="Ø"/>
            </a:pPr>
            <a:r>
              <a:rPr lang="en-US" sz="1600" dirty="0"/>
              <a:t>COAP can achieve delivery while other TCP based protocols fail to complete handshake</a:t>
            </a:r>
          </a:p>
          <a:p>
            <a:pPr marL="285750" indent="-285750" algn="just">
              <a:buFont typeface="Wingdings" panose="05000000000000000000" pitchFamily="2" charset="2"/>
              <a:buChar char="Ø"/>
            </a:pPr>
            <a:r>
              <a:rPr lang="en-US" sz="1600" dirty="0"/>
              <a:t>COAP ensures message delivery following these 4 message types: </a:t>
            </a:r>
          </a:p>
          <a:p>
            <a:pPr algn="just"/>
            <a:endParaRPr lang="en-US" sz="1600" dirty="0"/>
          </a:p>
          <a:p>
            <a:pPr marL="342900" indent="-342900" algn="just">
              <a:buFont typeface="+mj-lt"/>
              <a:buAutoNum type="arabicPeriod"/>
            </a:pPr>
            <a:r>
              <a:rPr lang="en-US" sz="1600" dirty="0"/>
              <a:t>Confirmable</a:t>
            </a:r>
          </a:p>
          <a:p>
            <a:pPr marL="342900" indent="-342900" algn="just">
              <a:buFont typeface="+mj-lt"/>
              <a:buAutoNum type="arabicPeriod"/>
            </a:pPr>
            <a:r>
              <a:rPr lang="en-US" sz="1600" dirty="0"/>
              <a:t>Non-Confirmable</a:t>
            </a:r>
          </a:p>
          <a:p>
            <a:pPr marL="342900" indent="-342900" algn="just">
              <a:buFont typeface="+mj-lt"/>
              <a:buAutoNum type="arabicPeriod"/>
            </a:pPr>
            <a:r>
              <a:rPr lang="en-US" sz="1600" dirty="0"/>
              <a:t>Acknowledgment</a:t>
            </a:r>
          </a:p>
          <a:p>
            <a:pPr marL="342900" indent="-342900" algn="just">
              <a:buFont typeface="+mj-lt"/>
              <a:buAutoNum type="arabicPeriod"/>
            </a:pPr>
            <a:r>
              <a:rPr lang="en-US" sz="1600" dirty="0"/>
              <a:t>Reset</a:t>
            </a:r>
            <a:endParaRPr lang="en-US" dirty="0"/>
          </a:p>
          <a:p>
            <a:endParaRPr lang="en-US" dirty="0"/>
          </a:p>
        </p:txBody>
      </p:sp>
    </p:spTree>
    <p:extLst>
      <p:ext uri="{BB962C8B-B14F-4D97-AF65-F5344CB8AC3E}">
        <p14:creationId xmlns:p14="http://schemas.microsoft.com/office/powerpoint/2010/main" val="3271190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F9F7CA-FD4C-F733-C5A4-EFD001BCD6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3" name="TextBox 2">
            <a:extLst>
              <a:ext uri="{FF2B5EF4-FFF2-40B4-BE49-F238E27FC236}">
                <a16:creationId xmlns:a16="http://schemas.microsoft.com/office/drawing/2014/main" id="{358415FB-A886-A119-50A8-BBABD09919AE}"/>
              </a:ext>
            </a:extLst>
          </p:cNvPr>
          <p:cNvSpPr txBox="1"/>
          <p:nvPr/>
        </p:nvSpPr>
        <p:spPr>
          <a:xfrm>
            <a:off x="696685" y="1052173"/>
            <a:ext cx="7663543" cy="400110"/>
          </a:xfrm>
          <a:prstGeom prst="rect">
            <a:avLst/>
          </a:prstGeom>
          <a:noFill/>
        </p:spPr>
        <p:txBody>
          <a:bodyPr wrap="square" rtlCol="0">
            <a:spAutoFit/>
          </a:bodyPr>
          <a:lstStyle/>
          <a:p>
            <a:r>
              <a:rPr lang="en-US" sz="2000" b="1" dirty="0">
                <a:solidFill>
                  <a:schemeClr val="bg2">
                    <a:lumMod val="75000"/>
                  </a:schemeClr>
                </a:solidFill>
              </a:rPr>
              <a:t>METHODOLOGY  IMPLEMENTATION</a:t>
            </a:r>
          </a:p>
        </p:txBody>
      </p:sp>
      <p:sp>
        <p:nvSpPr>
          <p:cNvPr id="4" name="TextBox 3">
            <a:extLst>
              <a:ext uri="{FF2B5EF4-FFF2-40B4-BE49-F238E27FC236}">
                <a16:creationId xmlns:a16="http://schemas.microsoft.com/office/drawing/2014/main" id="{A8F3FD8F-FB42-BC17-E263-73F9D1A61B9A}"/>
              </a:ext>
            </a:extLst>
          </p:cNvPr>
          <p:cNvSpPr txBox="1"/>
          <p:nvPr/>
        </p:nvSpPr>
        <p:spPr>
          <a:xfrm>
            <a:off x="696685" y="2050256"/>
            <a:ext cx="8447315" cy="1323439"/>
          </a:xfrm>
          <a:prstGeom prst="rect">
            <a:avLst/>
          </a:prstGeom>
          <a:noFill/>
        </p:spPr>
        <p:txBody>
          <a:bodyPr wrap="square" rtlCol="0">
            <a:spAutoFit/>
          </a:bodyPr>
          <a:lstStyle/>
          <a:p>
            <a:pPr algn="just"/>
            <a:r>
              <a:rPr lang="en-US" sz="1600" dirty="0"/>
              <a:t>The study process is divided into three main parts:</a:t>
            </a:r>
          </a:p>
          <a:p>
            <a:pPr algn="just"/>
            <a:r>
              <a:rPr lang="en-US" sz="1600" dirty="0"/>
              <a:t> </a:t>
            </a:r>
          </a:p>
          <a:p>
            <a:pPr marL="285750" indent="-285750" algn="just">
              <a:buFont typeface="Wingdings" panose="05000000000000000000" pitchFamily="2" charset="2"/>
              <a:buChar char="Ø"/>
            </a:pPr>
            <a:r>
              <a:rPr lang="en-US" sz="1600" dirty="0"/>
              <a:t>Selection of client application framework to be tested. </a:t>
            </a:r>
          </a:p>
          <a:p>
            <a:pPr marL="285750" indent="-285750" algn="just">
              <a:buFont typeface="Wingdings" panose="05000000000000000000" pitchFamily="2" charset="2"/>
              <a:buChar char="Ø"/>
            </a:pPr>
            <a:r>
              <a:rPr lang="en-US" sz="1600" dirty="0"/>
              <a:t>Results retrieval, reading and conclusion. </a:t>
            </a:r>
          </a:p>
          <a:p>
            <a:pPr marL="285750" indent="-285750" algn="just">
              <a:buFont typeface="Wingdings" panose="05000000000000000000" pitchFamily="2" charset="2"/>
              <a:buChar char="Ø"/>
            </a:pPr>
            <a:r>
              <a:rPr lang="en-US" sz="1600" dirty="0"/>
              <a:t>Concluding better communication protocol.</a:t>
            </a:r>
          </a:p>
        </p:txBody>
      </p:sp>
    </p:spTree>
    <p:extLst>
      <p:ext uri="{BB962C8B-B14F-4D97-AF65-F5344CB8AC3E}">
        <p14:creationId xmlns:p14="http://schemas.microsoft.com/office/powerpoint/2010/main" val="1116508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0C1CAC-7250-A85C-8306-515CF875E6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3" name="TextBox 2">
            <a:extLst>
              <a:ext uri="{FF2B5EF4-FFF2-40B4-BE49-F238E27FC236}">
                <a16:creationId xmlns:a16="http://schemas.microsoft.com/office/drawing/2014/main" id="{472B2ABC-AB29-32A4-2F7D-7ECB5579F4EA}"/>
              </a:ext>
            </a:extLst>
          </p:cNvPr>
          <p:cNvSpPr txBox="1"/>
          <p:nvPr/>
        </p:nvSpPr>
        <p:spPr>
          <a:xfrm>
            <a:off x="468085" y="609599"/>
            <a:ext cx="7336971" cy="400110"/>
          </a:xfrm>
          <a:prstGeom prst="rect">
            <a:avLst/>
          </a:prstGeom>
          <a:noFill/>
        </p:spPr>
        <p:txBody>
          <a:bodyPr wrap="square" rtlCol="0">
            <a:spAutoFit/>
          </a:bodyPr>
          <a:lstStyle/>
          <a:p>
            <a:r>
              <a:rPr lang="en-US" sz="2000" b="1" dirty="0">
                <a:solidFill>
                  <a:schemeClr val="bg2">
                    <a:lumMod val="75000"/>
                  </a:schemeClr>
                </a:solidFill>
              </a:rPr>
              <a:t>IMPLEMENTATION</a:t>
            </a:r>
          </a:p>
        </p:txBody>
      </p:sp>
      <p:sp>
        <p:nvSpPr>
          <p:cNvPr id="4" name="TextBox 3">
            <a:extLst>
              <a:ext uri="{FF2B5EF4-FFF2-40B4-BE49-F238E27FC236}">
                <a16:creationId xmlns:a16="http://schemas.microsoft.com/office/drawing/2014/main" id="{C9054657-8CE4-A7F0-2E8E-F9EBD0368ED3}"/>
              </a:ext>
            </a:extLst>
          </p:cNvPr>
          <p:cNvSpPr txBox="1"/>
          <p:nvPr/>
        </p:nvSpPr>
        <p:spPr>
          <a:xfrm>
            <a:off x="468085" y="1240692"/>
            <a:ext cx="8131629" cy="2800767"/>
          </a:xfrm>
          <a:prstGeom prst="rect">
            <a:avLst/>
          </a:prstGeom>
          <a:noFill/>
        </p:spPr>
        <p:txBody>
          <a:bodyPr wrap="square" rtlCol="0">
            <a:spAutoFit/>
          </a:bodyPr>
          <a:lstStyle/>
          <a:p>
            <a:pPr marL="285750" indent="-285750" algn="just">
              <a:buFont typeface="Wingdings" panose="05000000000000000000" pitchFamily="2" charset="2"/>
              <a:buChar char="Ø"/>
            </a:pPr>
            <a:r>
              <a:rPr lang="en-US" sz="1600" dirty="0"/>
              <a:t>The first one will be for implementing and testing the MQTT communication protocol-based app, and the second for the COAP communication based.</a:t>
            </a:r>
          </a:p>
          <a:p>
            <a:pPr algn="just"/>
            <a:endParaRPr lang="en-US" sz="1600" dirty="0"/>
          </a:p>
          <a:p>
            <a:pPr marL="285750" indent="-285750" algn="just">
              <a:buFont typeface="Wingdings" panose="05000000000000000000" pitchFamily="2" charset="2"/>
              <a:buChar char="Ø"/>
            </a:pPr>
            <a:r>
              <a:rPr lang="en-GB" sz="1600" dirty="0"/>
              <a:t>U</a:t>
            </a:r>
            <a:r>
              <a:rPr lang="en-US" sz="1600" dirty="0"/>
              <a:t>sing four android smart phone devices throughout our implementation</a:t>
            </a:r>
            <a:endParaRPr lang="en-GB" sz="1600" dirty="0"/>
          </a:p>
          <a:p>
            <a:pPr marL="285750" indent="-285750" algn="just">
              <a:buFont typeface="Wingdings" panose="05000000000000000000" pitchFamily="2" charset="2"/>
              <a:buChar char="Ø"/>
            </a:pPr>
            <a:endParaRPr lang="en-GB" sz="1600" dirty="0"/>
          </a:p>
          <a:p>
            <a:pPr marL="285750" indent="-285750" algn="just">
              <a:buFont typeface="Wingdings" panose="05000000000000000000" pitchFamily="2" charset="2"/>
              <a:buChar char="Ø"/>
            </a:pPr>
            <a:r>
              <a:rPr lang="en-GB" sz="1600" dirty="0"/>
              <a:t>It is </a:t>
            </a:r>
            <a:r>
              <a:rPr lang="en-US" sz="1600" dirty="0"/>
              <a:t>divided into 3 version of MQTT based application for measuring the real impact of Quality of service (QOS0, QOS1, and QOS2) impact over network, where COAP doesn’t support these options.</a:t>
            </a:r>
          </a:p>
          <a:p>
            <a:pPr algn="just"/>
            <a:endParaRPr lang="en-US" sz="1600" dirty="0"/>
          </a:p>
          <a:p>
            <a:pPr marL="285750" indent="-285750" algn="just">
              <a:buFont typeface="Wingdings" panose="05000000000000000000" pitchFamily="2" charset="2"/>
              <a:buChar char="Ø"/>
            </a:pPr>
            <a:r>
              <a:rPr lang="en-US" sz="1600" dirty="0"/>
              <a:t>Measurement was done mainly based on message delivery latency and network bandwidth usage </a:t>
            </a:r>
          </a:p>
        </p:txBody>
      </p:sp>
    </p:spTree>
    <p:extLst>
      <p:ext uri="{BB962C8B-B14F-4D97-AF65-F5344CB8AC3E}">
        <p14:creationId xmlns:p14="http://schemas.microsoft.com/office/powerpoint/2010/main" val="994304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ADE4B4-DC53-DFDD-5B4C-50D6B4976F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3" name="TextBox 2">
            <a:extLst>
              <a:ext uri="{FF2B5EF4-FFF2-40B4-BE49-F238E27FC236}">
                <a16:creationId xmlns:a16="http://schemas.microsoft.com/office/drawing/2014/main" id="{0165ADA1-E26E-1A15-5589-C2EDA9FD98BD}"/>
              </a:ext>
            </a:extLst>
          </p:cNvPr>
          <p:cNvSpPr txBox="1"/>
          <p:nvPr/>
        </p:nvSpPr>
        <p:spPr>
          <a:xfrm>
            <a:off x="449809" y="563110"/>
            <a:ext cx="6520216" cy="400110"/>
          </a:xfrm>
          <a:prstGeom prst="rect">
            <a:avLst/>
          </a:prstGeom>
          <a:noFill/>
        </p:spPr>
        <p:txBody>
          <a:bodyPr wrap="square" rtlCol="0">
            <a:spAutoFit/>
          </a:bodyPr>
          <a:lstStyle/>
          <a:p>
            <a:r>
              <a:rPr lang="en-US" sz="2000" b="1" dirty="0">
                <a:solidFill>
                  <a:schemeClr val="bg2">
                    <a:lumMod val="75000"/>
                  </a:schemeClr>
                </a:solidFill>
              </a:rPr>
              <a:t>MQTT CLIENT</a:t>
            </a:r>
          </a:p>
        </p:txBody>
      </p:sp>
      <p:sp>
        <p:nvSpPr>
          <p:cNvPr id="4" name="TextBox 3">
            <a:extLst>
              <a:ext uri="{FF2B5EF4-FFF2-40B4-BE49-F238E27FC236}">
                <a16:creationId xmlns:a16="http://schemas.microsoft.com/office/drawing/2014/main" id="{42CE44D0-FCBE-6CD2-3171-8B19514231CE}"/>
              </a:ext>
            </a:extLst>
          </p:cNvPr>
          <p:cNvSpPr txBox="1"/>
          <p:nvPr/>
        </p:nvSpPr>
        <p:spPr>
          <a:xfrm>
            <a:off x="449809" y="1332527"/>
            <a:ext cx="8525077" cy="2308324"/>
          </a:xfrm>
          <a:prstGeom prst="rect">
            <a:avLst/>
          </a:prstGeom>
          <a:noFill/>
        </p:spPr>
        <p:txBody>
          <a:bodyPr wrap="square" rtlCol="0">
            <a:spAutoFit/>
          </a:bodyPr>
          <a:lstStyle/>
          <a:p>
            <a:pPr algn="just"/>
            <a:r>
              <a:rPr lang="en-US" sz="1600" dirty="0"/>
              <a:t>This implementation was done using MQTT QOS0 lowest level of quality of service. The broker/client will deliver the message once with no confirmation. The devices were sub scripted to a topic called MQTTQOS0 and stayed listening for messages on this topic. </a:t>
            </a:r>
          </a:p>
          <a:p>
            <a:pPr algn="just"/>
            <a:endParaRPr lang="en-US" sz="1600" dirty="0"/>
          </a:p>
          <a:p>
            <a:pPr algn="just"/>
            <a:r>
              <a:rPr lang="en-US" sz="1600" dirty="0"/>
              <a:t>First quality of service has been changed to level 1 where the broker/client will deliver the message at least once, with confirmation required.</a:t>
            </a:r>
          </a:p>
          <a:p>
            <a:pPr algn="just"/>
            <a:endParaRPr lang="en-US" sz="1600" dirty="0"/>
          </a:p>
          <a:p>
            <a:pPr algn="just"/>
            <a:r>
              <a:rPr lang="en-US" sz="1600" dirty="0"/>
              <a:t>And then the final implementation was based on quality of service 2 where the broker/client will deliver the message exactly once by using a four-step handshake.</a:t>
            </a:r>
          </a:p>
        </p:txBody>
      </p:sp>
    </p:spTree>
    <p:extLst>
      <p:ext uri="{BB962C8B-B14F-4D97-AF65-F5344CB8AC3E}">
        <p14:creationId xmlns:p14="http://schemas.microsoft.com/office/powerpoint/2010/main" val="272556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6C394C-22F8-4689-0B65-472ED42235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3" name="TextBox 2">
            <a:extLst>
              <a:ext uri="{FF2B5EF4-FFF2-40B4-BE49-F238E27FC236}">
                <a16:creationId xmlns:a16="http://schemas.microsoft.com/office/drawing/2014/main" id="{AB0C17AF-AA0F-21CD-9DED-7EAC467DA032}"/>
              </a:ext>
            </a:extLst>
          </p:cNvPr>
          <p:cNvSpPr txBox="1"/>
          <p:nvPr/>
        </p:nvSpPr>
        <p:spPr>
          <a:xfrm>
            <a:off x="520995" y="715870"/>
            <a:ext cx="2349795" cy="400110"/>
          </a:xfrm>
          <a:prstGeom prst="rect">
            <a:avLst/>
          </a:prstGeom>
          <a:noFill/>
        </p:spPr>
        <p:txBody>
          <a:bodyPr wrap="square" rtlCol="0">
            <a:spAutoFit/>
          </a:bodyPr>
          <a:lstStyle/>
          <a:p>
            <a:r>
              <a:rPr lang="en-US" sz="2000" b="1" dirty="0">
                <a:solidFill>
                  <a:schemeClr val="accent1">
                    <a:lumMod val="75000"/>
                  </a:schemeClr>
                </a:solidFill>
              </a:rPr>
              <a:t>COAP CLIENT</a:t>
            </a:r>
          </a:p>
        </p:txBody>
      </p:sp>
      <p:sp>
        <p:nvSpPr>
          <p:cNvPr id="5" name="TextBox 4">
            <a:extLst>
              <a:ext uri="{FF2B5EF4-FFF2-40B4-BE49-F238E27FC236}">
                <a16:creationId xmlns:a16="http://schemas.microsoft.com/office/drawing/2014/main" id="{D4B8D27B-65BB-7BA6-C3D0-4AE4B764008B}"/>
              </a:ext>
            </a:extLst>
          </p:cNvPr>
          <p:cNvSpPr txBox="1"/>
          <p:nvPr/>
        </p:nvSpPr>
        <p:spPr>
          <a:xfrm>
            <a:off x="520995" y="1414130"/>
            <a:ext cx="8298711" cy="1815882"/>
          </a:xfrm>
          <a:prstGeom prst="rect">
            <a:avLst/>
          </a:prstGeom>
          <a:noFill/>
        </p:spPr>
        <p:txBody>
          <a:bodyPr wrap="square" rtlCol="0">
            <a:spAutoFit/>
          </a:bodyPr>
          <a:lstStyle/>
          <a:p>
            <a:pPr algn="just"/>
            <a:r>
              <a:rPr lang="en-US" sz="1600" dirty="0"/>
              <a:t>This implementation is single, since COAP does not support quality of service options.</a:t>
            </a:r>
          </a:p>
          <a:p>
            <a:pPr algn="just"/>
            <a:endParaRPr lang="en-US" sz="1600" dirty="0"/>
          </a:p>
          <a:p>
            <a:pPr algn="just"/>
            <a:r>
              <a:rPr lang="en-US" sz="1600" dirty="0"/>
              <a:t>The latency here represents the time taken for message to be sent and answer is received.</a:t>
            </a:r>
          </a:p>
          <a:p>
            <a:pPr algn="just"/>
            <a:endParaRPr lang="en-US" sz="1600" dirty="0"/>
          </a:p>
          <a:p>
            <a:pPr algn="just"/>
            <a:r>
              <a:rPr lang="en-US" sz="1600" dirty="0"/>
              <a:t>Two client applications wear developed using Android Studio/Java Development Language</a:t>
            </a:r>
          </a:p>
        </p:txBody>
      </p:sp>
    </p:spTree>
    <p:extLst>
      <p:ext uri="{BB962C8B-B14F-4D97-AF65-F5344CB8AC3E}">
        <p14:creationId xmlns:p14="http://schemas.microsoft.com/office/powerpoint/2010/main" val="4239676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87D54E-5982-4278-E2A1-CA5CFDF8FA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3" name="TextBox 2">
            <a:extLst>
              <a:ext uri="{FF2B5EF4-FFF2-40B4-BE49-F238E27FC236}">
                <a16:creationId xmlns:a16="http://schemas.microsoft.com/office/drawing/2014/main" id="{33E048B1-646F-93AD-F717-FAFDCCD57F20}"/>
              </a:ext>
            </a:extLst>
          </p:cNvPr>
          <p:cNvSpPr txBox="1"/>
          <p:nvPr/>
        </p:nvSpPr>
        <p:spPr>
          <a:xfrm>
            <a:off x="457202" y="1658679"/>
            <a:ext cx="8484780" cy="1384995"/>
          </a:xfrm>
          <a:prstGeom prst="rect">
            <a:avLst/>
          </a:prstGeom>
          <a:noFill/>
        </p:spPr>
        <p:txBody>
          <a:bodyPr wrap="square" rtlCol="0">
            <a:spAutoFit/>
          </a:bodyPr>
          <a:lstStyle/>
          <a:p>
            <a:pPr algn="just"/>
            <a:r>
              <a:rPr lang="en-US" dirty="0"/>
              <a:t>This part will mention the retrieved data result from the app using the android profile tool, android debug sessions and wire shark.</a:t>
            </a:r>
          </a:p>
          <a:p>
            <a:pPr algn="just"/>
            <a:endParaRPr lang="en-US" dirty="0"/>
          </a:p>
          <a:p>
            <a:pPr marL="285750" indent="-285750" algn="just">
              <a:buFont typeface="Wingdings" panose="05000000000000000000" pitchFamily="2" charset="2"/>
              <a:buChar char="Ø"/>
            </a:pPr>
            <a:r>
              <a:rPr lang="en-US" dirty="0"/>
              <a:t>In the first Experiment, MQTT with different quality of service results have been measured. </a:t>
            </a:r>
          </a:p>
          <a:p>
            <a:pPr marL="285750" indent="-285750" algn="just">
              <a:buFont typeface="Wingdings" panose="05000000000000000000" pitchFamily="2" charset="2"/>
              <a:buChar char="Ø"/>
            </a:pPr>
            <a:r>
              <a:rPr lang="en-US" dirty="0"/>
              <a:t>In the second experiment, An average of all MQTT QOS results measured in the first one is compared to COAP results</a:t>
            </a:r>
          </a:p>
        </p:txBody>
      </p:sp>
      <p:sp>
        <p:nvSpPr>
          <p:cNvPr id="4" name="TextBox 3">
            <a:extLst>
              <a:ext uri="{FF2B5EF4-FFF2-40B4-BE49-F238E27FC236}">
                <a16:creationId xmlns:a16="http://schemas.microsoft.com/office/drawing/2014/main" id="{9B33E0B6-3927-4C95-1482-EE38CF4AB2EE}"/>
              </a:ext>
            </a:extLst>
          </p:cNvPr>
          <p:cNvSpPr txBox="1"/>
          <p:nvPr/>
        </p:nvSpPr>
        <p:spPr>
          <a:xfrm>
            <a:off x="457202" y="797441"/>
            <a:ext cx="3523355" cy="400110"/>
          </a:xfrm>
          <a:prstGeom prst="rect">
            <a:avLst/>
          </a:prstGeom>
          <a:noFill/>
        </p:spPr>
        <p:txBody>
          <a:bodyPr wrap="square" rtlCol="0">
            <a:spAutoFit/>
          </a:bodyPr>
          <a:lstStyle/>
          <a:p>
            <a:r>
              <a:rPr lang="en-US" sz="2000" b="1" dirty="0">
                <a:solidFill>
                  <a:schemeClr val="accent1">
                    <a:lumMod val="75000"/>
                  </a:schemeClr>
                </a:solidFill>
              </a:rPr>
              <a:t>RESULT</a:t>
            </a:r>
          </a:p>
        </p:txBody>
      </p:sp>
    </p:spTree>
    <p:extLst>
      <p:ext uri="{BB962C8B-B14F-4D97-AF65-F5344CB8AC3E}">
        <p14:creationId xmlns:p14="http://schemas.microsoft.com/office/powerpoint/2010/main" val="32440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DFA7D6-7CE4-9ECD-0E85-9C8FFA18B0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3" name="TextBox 2">
            <a:extLst>
              <a:ext uri="{FF2B5EF4-FFF2-40B4-BE49-F238E27FC236}">
                <a16:creationId xmlns:a16="http://schemas.microsoft.com/office/drawing/2014/main" id="{461CE4A7-85C7-1DBD-A68B-73FA21DF0C49}"/>
              </a:ext>
            </a:extLst>
          </p:cNvPr>
          <p:cNvSpPr txBox="1"/>
          <p:nvPr/>
        </p:nvSpPr>
        <p:spPr>
          <a:xfrm>
            <a:off x="467833" y="618350"/>
            <a:ext cx="6585531" cy="400110"/>
          </a:xfrm>
          <a:prstGeom prst="rect">
            <a:avLst/>
          </a:prstGeom>
          <a:noFill/>
        </p:spPr>
        <p:txBody>
          <a:bodyPr wrap="square" rtlCol="0">
            <a:spAutoFit/>
          </a:bodyPr>
          <a:lstStyle/>
          <a:p>
            <a:r>
              <a:rPr lang="en-US" sz="2000" b="1" dirty="0">
                <a:solidFill>
                  <a:schemeClr val="accent1">
                    <a:lumMod val="75000"/>
                  </a:schemeClr>
                </a:solidFill>
              </a:rPr>
              <a:t>ANALYSIS</a:t>
            </a:r>
          </a:p>
        </p:txBody>
      </p:sp>
      <p:sp>
        <p:nvSpPr>
          <p:cNvPr id="4" name="TextBox 3">
            <a:extLst>
              <a:ext uri="{FF2B5EF4-FFF2-40B4-BE49-F238E27FC236}">
                <a16:creationId xmlns:a16="http://schemas.microsoft.com/office/drawing/2014/main" id="{2D69B420-3EC4-F3EB-0D56-92BFFD64DF35}"/>
              </a:ext>
            </a:extLst>
          </p:cNvPr>
          <p:cNvSpPr txBox="1"/>
          <p:nvPr/>
        </p:nvSpPr>
        <p:spPr>
          <a:xfrm>
            <a:off x="467833" y="1296718"/>
            <a:ext cx="8133907" cy="2308324"/>
          </a:xfrm>
          <a:prstGeom prst="rect">
            <a:avLst/>
          </a:prstGeom>
          <a:noFill/>
        </p:spPr>
        <p:txBody>
          <a:bodyPr wrap="square" rtlCol="0">
            <a:spAutoFit/>
          </a:bodyPr>
          <a:lstStyle/>
          <a:p>
            <a:pPr algn="just"/>
            <a:r>
              <a:rPr lang="en-US" sz="1600" dirty="0"/>
              <a:t>The average latency value of the three previously compared MQTT quality of service models show more stability compared COAP’s latency. However, on the other side Latency records for the CoAP protocol shows lower rates than the one for MQTT.</a:t>
            </a:r>
          </a:p>
          <a:p>
            <a:pPr algn="just"/>
            <a:endParaRPr lang="en-US" sz="1600" dirty="0"/>
          </a:p>
          <a:p>
            <a:pPr algn="just"/>
            <a:r>
              <a:rPr lang="en-US" sz="1600" dirty="0"/>
              <a:t>when comparing results related to MQTT and COAP communication protocol we can clearly conclude that MQTT has larger bandwidth network usage</a:t>
            </a:r>
          </a:p>
          <a:p>
            <a:pPr algn="just"/>
            <a:endParaRPr lang="en-US" sz="1600" dirty="0"/>
          </a:p>
          <a:p>
            <a:pPr algn="just"/>
            <a:r>
              <a:rPr lang="en-US" sz="1600" dirty="0"/>
              <a:t>The communication protocol kept increasing network bandwidth usage while increasing message size into a proportional manner. </a:t>
            </a:r>
          </a:p>
        </p:txBody>
      </p:sp>
    </p:spTree>
    <p:extLst>
      <p:ext uri="{BB962C8B-B14F-4D97-AF65-F5344CB8AC3E}">
        <p14:creationId xmlns:p14="http://schemas.microsoft.com/office/powerpoint/2010/main" val="584781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B6C0D2-F8F2-6916-B570-9D7337A497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3" name="Picture 2">
            <a:extLst>
              <a:ext uri="{FF2B5EF4-FFF2-40B4-BE49-F238E27FC236}">
                <a16:creationId xmlns:a16="http://schemas.microsoft.com/office/drawing/2014/main" id="{5745D640-BD5B-FE31-8BD6-71B43D381C0A}"/>
              </a:ext>
            </a:extLst>
          </p:cNvPr>
          <p:cNvPicPr>
            <a:picLocks noChangeAspect="1"/>
          </p:cNvPicPr>
          <p:nvPr/>
        </p:nvPicPr>
        <p:blipFill>
          <a:blip r:embed="rId2"/>
          <a:stretch>
            <a:fillRect/>
          </a:stretch>
        </p:blipFill>
        <p:spPr>
          <a:xfrm>
            <a:off x="2429539" y="274867"/>
            <a:ext cx="4284920" cy="2082570"/>
          </a:xfrm>
          <a:prstGeom prst="rect">
            <a:avLst/>
          </a:prstGeom>
        </p:spPr>
      </p:pic>
      <p:pic>
        <p:nvPicPr>
          <p:cNvPr id="4" name="Picture 3">
            <a:extLst>
              <a:ext uri="{FF2B5EF4-FFF2-40B4-BE49-F238E27FC236}">
                <a16:creationId xmlns:a16="http://schemas.microsoft.com/office/drawing/2014/main" id="{47799B3A-7F3E-05F6-383A-5A686A517DE6}"/>
              </a:ext>
            </a:extLst>
          </p:cNvPr>
          <p:cNvPicPr>
            <a:picLocks noChangeAspect="1"/>
          </p:cNvPicPr>
          <p:nvPr/>
        </p:nvPicPr>
        <p:blipFill>
          <a:blip r:embed="rId3"/>
          <a:stretch>
            <a:fillRect/>
          </a:stretch>
        </p:blipFill>
        <p:spPr>
          <a:xfrm>
            <a:off x="2429539" y="2786063"/>
            <a:ext cx="4284920" cy="2074763"/>
          </a:xfrm>
          <a:prstGeom prst="rect">
            <a:avLst/>
          </a:prstGeom>
        </p:spPr>
      </p:pic>
    </p:spTree>
    <p:extLst>
      <p:ext uri="{BB962C8B-B14F-4D97-AF65-F5344CB8AC3E}">
        <p14:creationId xmlns:p14="http://schemas.microsoft.com/office/powerpoint/2010/main" val="1181584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9B5455-9EEB-4227-EBC2-555EDADD41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4" name="TextBox 3">
            <a:extLst>
              <a:ext uri="{FF2B5EF4-FFF2-40B4-BE49-F238E27FC236}">
                <a16:creationId xmlns:a16="http://schemas.microsoft.com/office/drawing/2014/main" id="{47F1BAF3-3C0A-24BA-2ED5-009502A394B6}"/>
              </a:ext>
            </a:extLst>
          </p:cNvPr>
          <p:cNvSpPr txBox="1"/>
          <p:nvPr/>
        </p:nvSpPr>
        <p:spPr>
          <a:xfrm>
            <a:off x="554057" y="1034681"/>
            <a:ext cx="2235994" cy="400110"/>
          </a:xfrm>
          <a:prstGeom prst="rect">
            <a:avLst/>
          </a:prstGeom>
          <a:noFill/>
        </p:spPr>
        <p:txBody>
          <a:bodyPr wrap="square" rtlCol="0">
            <a:spAutoFit/>
          </a:bodyPr>
          <a:lstStyle/>
          <a:p>
            <a:r>
              <a:rPr lang="en-US" sz="2000" b="1" dirty="0">
                <a:solidFill>
                  <a:schemeClr val="accent1">
                    <a:lumMod val="75000"/>
                  </a:schemeClr>
                </a:solidFill>
              </a:rPr>
              <a:t>CONCLUSION</a:t>
            </a:r>
          </a:p>
        </p:txBody>
      </p:sp>
      <p:sp>
        <p:nvSpPr>
          <p:cNvPr id="6" name="TextBox 5">
            <a:extLst>
              <a:ext uri="{FF2B5EF4-FFF2-40B4-BE49-F238E27FC236}">
                <a16:creationId xmlns:a16="http://schemas.microsoft.com/office/drawing/2014/main" id="{CC3D0B5C-B874-E5F4-3789-7D934FE2C427}"/>
              </a:ext>
            </a:extLst>
          </p:cNvPr>
          <p:cNvSpPr txBox="1"/>
          <p:nvPr/>
        </p:nvSpPr>
        <p:spPr>
          <a:xfrm>
            <a:off x="554057" y="1910030"/>
            <a:ext cx="8035886" cy="1323439"/>
          </a:xfrm>
          <a:prstGeom prst="rect">
            <a:avLst/>
          </a:prstGeom>
          <a:noFill/>
        </p:spPr>
        <p:txBody>
          <a:bodyPr wrap="square" rtlCol="0">
            <a:spAutoFit/>
          </a:bodyPr>
          <a:lstStyle/>
          <a:p>
            <a:pPr algn="just"/>
            <a:r>
              <a:rPr lang="en-US" sz="1600" dirty="0"/>
              <a:t>COAP has recorded a lower latency according the acknowledgment process, since it is based to a similar Restful mechanism. </a:t>
            </a:r>
          </a:p>
          <a:p>
            <a:pPr algn="just"/>
            <a:endParaRPr lang="en-US" sz="1600" dirty="0"/>
          </a:p>
          <a:p>
            <a:pPr algn="just"/>
            <a:r>
              <a:rPr lang="en-US" sz="1600" dirty="0"/>
              <a:t>Also, considering the bandwidth MQTT was higher it can be related to the message header needed for assuring quality of service mechanism.</a:t>
            </a:r>
          </a:p>
        </p:txBody>
      </p:sp>
    </p:spTree>
    <p:extLst>
      <p:ext uri="{BB962C8B-B14F-4D97-AF65-F5344CB8AC3E}">
        <p14:creationId xmlns:p14="http://schemas.microsoft.com/office/powerpoint/2010/main" val="4248838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D0AD76-9F36-D80C-F770-E838EB713F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3" name="TextBox 2">
            <a:extLst>
              <a:ext uri="{FF2B5EF4-FFF2-40B4-BE49-F238E27FC236}">
                <a16:creationId xmlns:a16="http://schemas.microsoft.com/office/drawing/2014/main" id="{E7BFE911-8DDD-8DA9-9B7C-52935F82EA3F}"/>
              </a:ext>
            </a:extLst>
          </p:cNvPr>
          <p:cNvSpPr txBox="1"/>
          <p:nvPr/>
        </p:nvSpPr>
        <p:spPr>
          <a:xfrm>
            <a:off x="3439632" y="1998581"/>
            <a:ext cx="2264735" cy="784830"/>
          </a:xfrm>
          <a:prstGeom prst="rect">
            <a:avLst/>
          </a:prstGeom>
          <a:noFill/>
        </p:spPr>
        <p:txBody>
          <a:bodyPr wrap="square" rtlCol="0">
            <a:spAutoFit/>
          </a:bodyPr>
          <a:lstStyle/>
          <a:p>
            <a:r>
              <a:rPr lang="en-US" sz="4500" dirty="0">
                <a:solidFill>
                  <a:schemeClr val="bg1"/>
                </a:solidFill>
                <a:latin typeface="Agency FB" panose="020B0503020202020204" pitchFamily="34" charset="0"/>
              </a:rPr>
              <a:t>THANK YOU</a:t>
            </a:r>
          </a:p>
        </p:txBody>
      </p:sp>
    </p:spTree>
    <p:extLst>
      <p:ext uri="{BB962C8B-B14F-4D97-AF65-F5344CB8AC3E}">
        <p14:creationId xmlns:p14="http://schemas.microsoft.com/office/powerpoint/2010/main" val="383697909"/>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872</Words>
  <Application>Microsoft Office PowerPoint</Application>
  <PresentationFormat>On-screen Show (16:9)</PresentationFormat>
  <Paragraphs>102</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Agency FB</vt:lpstr>
      <vt:lpstr>Raleway</vt:lpstr>
      <vt:lpstr>Wingdings</vt:lpstr>
      <vt:lpstr>Lato</vt:lpstr>
      <vt:lpstr>Antonio template</vt:lpstr>
      <vt:lpstr>COMPARATIVE STUDY OF COAP AND MQTT COMMUNICATION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bhavana</dc:creator>
  <cp:lastModifiedBy>Akash manoharan</cp:lastModifiedBy>
  <cp:revision>6</cp:revision>
  <dcterms:modified xsi:type="dcterms:W3CDTF">2022-05-18T06:55:44Z</dcterms:modified>
</cp:coreProperties>
</file>