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</p:sldIdLst>
  <p:sldSz cx="18288000" cy="10287000"/>
  <p:notesSz cx="6858000" cy="9144000"/>
  <p:embeddedFontLst>
    <p:embeddedFont>
      <p:font typeface="Glacial Indifference" charset="1" panose="00000000000000000000"/>
      <p:regular r:id="rId6"/>
    </p:embeddedFont>
    <p:embeddedFont>
      <p:font typeface="Glacial Indifference Bold" charset="1" panose="00000800000000000000"/>
      <p:regular r:id="rId7"/>
    </p:embeddedFont>
    <p:embeddedFont>
      <p:font typeface="Glacial Indifference Italics" charset="1" panose="00000000000000000000"/>
      <p:regular r:id="rId8"/>
    </p:embeddedFont>
    <p:embeddedFont>
      <p:font typeface="Glacial Indifference Bold Italics" charset="1" panose="00000800000000000000"/>
      <p:regular r:id="rId9"/>
    </p:embeddedFont>
    <p:embeddedFont>
      <p:font typeface="Arimo" charset="1" panose="020B0604020202020204"/>
      <p:regular r:id="rId10"/>
    </p:embeddedFont>
    <p:embeddedFont>
      <p:font typeface="Arimo Bold" charset="1" panose="020B0704020202020204"/>
      <p:regular r:id="rId11"/>
    </p:embeddedFont>
    <p:embeddedFont>
      <p:font typeface="Arimo Italics" charset="1" panose="020B0604020202090204"/>
      <p:regular r:id="rId12"/>
    </p:embeddedFont>
    <p:embeddedFont>
      <p:font typeface="Arimo Bold Italics" charset="1" panose="020B0704020202090204"/>
      <p:regular r:id="rId13"/>
    </p:embeddedFont>
    <p:embeddedFont>
      <p:font typeface="League Spartan" charset="1" panose="00000800000000000000"/>
      <p:regular r:id="rId14"/>
    </p:embeddedFont>
    <p:embeddedFont>
      <p:font typeface="Open Sans" charset="1" panose="020B0606030504020204"/>
      <p:regular r:id="rId15"/>
    </p:embeddedFont>
    <p:embeddedFont>
      <p:font typeface="Open Sans Bold" charset="1" panose="020B0806030504020204"/>
      <p:regular r:id="rId16"/>
    </p:embeddedFont>
    <p:embeddedFont>
      <p:font typeface="Open Sans Italics" charset="1" panose="020B0606030504020204"/>
      <p:regular r:id="rId17"/>
    </p:embeddedFont>
    <p:embeddedFont>
      <p:font typeface="Open Sans Bold Italics" charset="1" panose="020B08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slides/slide1.xml" Type="http://schemas.openxmlformats.org/officeDocument/2006/relationships/slide"/><Relationship Id="rId2" Target="presProps.xml" Type="http://schemas.openxmlformats.org/officeDocument/2006/relationships/presProps"/><Relationship Id="rId20" Target="slides/slide2.xml" Type="http://schemas.openxmlformats.org/officeDocument/2006/relationships/slide"/><Relationship Id="rId21" Target="slides/slide3.xml" Type="http://schemas.openxmlformats.org/officeDocument/2006/relationships/slide"/><Relationship Id="rId22" Target="slides/slide4.xml" Type="http://schemas.openxmlformats.org/officeDocument/2006/relationships/slide"/><Relationship Id="rId23" Target="slides/slide5.xml" Type="http://schemas.openxmlformats.org/officeDocument/2006/relationships/slide"/><Relationship Id="rId24" Target="slides/slide6.xml" Type="http://schemas.openxmlformats.org/officeDocument/2006/relationships/slide"/><Relationship Id="rId25" Target="slides/slide7.xml" Type="http://schemas.openxmlformats.org/officeDocument/2006/relationships/slide"/><Relationship Id="rId26" Target="slides/slide8.xml" Type="http://schemas.openxmlformats.org/officeDocument/2006/relationships/slide"/><Relationship Id="rId27" Target="slides/slide9.xml" Type="http://schemas.openxmlformats.org/officeDocument/2006/relationships/slide"/><Relationship Id="rId28" Target="slides/slide10.xml" Type="http://schemas.openxmlformats.org/officeDocument/2006/relationships/slide"/><Relationship Id="rId29" Target="slides/slide11.xml" Type="http://schemas.openxmlformats.org/officeDocument/2006/relationships/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slides/slide13.xml" Type="http://schemas.openxmlformats.org/officeDocument/2006/relationships/slide"/><Relationship Id="rId32" Target="slides/slide14.xml" Type="http://schemas.openxmlformats.org/officeDocument/2006/relationships/slide"/><Relationship Id="rId33" Target="slides/slide15.xml" Type="http://schemas.openxmlformats.org/officeDocument/2006/relationships/slide"/><Relationship Id="rId34" Target="slides/slide16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98146" y="2981314"/>
            <a:ext cx="13891707" cy="2314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50"/>
              </a:lnSpc>
            </a:pPr>
            <a:r>
              <a:rPr lang="en-US" sz="7500">
                <a:solidFill>
                  <a:srgbClr val="000000"/>
                </a:solidFill>
                <a:latin typeface="League Spartan"/>
              </a:rPr>
              <a:t>Inter-Integrated Circuit (I2C)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704852" y="7776845"/>
            <a:ext cx="3554448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lacial Indifference Bold"/>
              </a:rPr>
              <a:t>Presented by:</a:t>
            </a:r>
          </a:p>
          <a:p>
            <a:pPr algn="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lacial Indifference"/>
              </a:rPr>
              <a:t>Saran B</a:t>
            </a:r>
          </a:p>
          <a:p>
            <a:pPr algn="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lacial Indifference"/>
              </a:rPr>
              <a:t>19DX23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5492" y="5767070"/>
            <a:ext cx="7039183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Glacial Indifference Bold"/>
              </a:rPr>
              <a:t>Course Name:</a:t>
            </a:r>
            <a:r>
              <a:rPr lang="en-US" sz="2999">
                <a:solidFill>
                  <a:srgbClr val="000000"/>
                </a:solidFill>
                <a:latin typeface="Glacial Indifference"/>
              </a:rPr>
              <a:t> Building Internet of Things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Arimo Bold"/>
              </a:rPr>
              <a:t>Course Code:</a:t>
            </a:r>
            <a:r>
              <a:rPr lang="en-US" sz="2999">
                <a:solidFill>
                  <a:srgbClr val="000000"/>
                </a:solidFill>
                <a:latin typeface="Arimo"/>
              </a:rPr>
              <a:t> Z18602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187766" y="2295795"/>
            <a:ext cx="391246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lacial Indifference"/>
              </a:rPr>
              <a:t>Assignment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9100"/>
            <a:ext cx="1408488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Open Sans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01557" y="2059158"/>
            <a:ext cx="14089277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 Bold"/>
              </a:rPr>
              <a:t>I2C(Inter-Integrated Circuit) is a</a:t>
            </a:r>
          </a:p>
          <a:p>
            <a:pPr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Open Sans Bold"/>
              </a:rPr>
              <a:t>          - Synchronous</a:t>
            </a:r>
          </a:p>
          <a:p>
            <a:pPr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Open Sans Bold"/>
              </a:rPr>
              <a:t>          - </a:t>
            </a:r>
            <a:r>
              <a:rPr lang="en-US" sz="2999">
                <a:solidFill>
                  <a:srgbClr val="000000"/>
                </a:solidFill>
                <a:latin typeface="Open Sans Bold"/>
              </a:rPr>
              <a:t>multi-master</a:t>
            </a:r>
          </a:p>
          <a:p>
            <a:pPr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Open Sans Bold"/>
              </a:rPr>
              <a:t>          - </a:t>
            </a:r>
            <a:r>
              <a:rPr lang="en-US" sz="2999">
                <a:solidFill>
                  <a:srgbClr val="000000"/>
                </a:solidFill>
                <a:latin typeface="Open Sans Bold"/>
              </a:rPr>
              <a:t>multi-slave</a:t>
            </a: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Open Sans Bold"/>
              </a:rPr>
              <a:t>          - </a:t>
            </a:r>
            <a:r>
              <a:rPr lang="en-US" sz="2999">
                <a:solidFill>
                  <a:srgbClr val="000000"/>
                </a:solidFill>
                <a:latin typeface="Open Sans Bold"/>
              </a:rPr>
              <a:t>single-ended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01557" y="5067300"/>
            <a:ext cx="14089277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 Bold"/>
              </a:rPr>
              <a:t>It is used for attaching lower speed peripheral ICs to processors and microcontrollers in short distance, intra-board communication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01557" y="6284698"/>
            <a:ext cx="14089277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 Bold"/>
              </a:rPr>
              <a:t>I2C uses only two bidirectional open-drain lines, Serial Data Line(SDA) and Serial Clock Line(SCL), pulled up with resistors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01557" y="7555595"/>
            <a:ext cx="1408927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Open Sans Bold"/>
              </a:rPr>
              <a:t>Typical voltages used are under +5V or 3.3V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185741" y="2661458"/>
            <a:ext cx="13916518" cy="556660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1028700"/>
            <a:ext cx="1408488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000000"/>
                </a:solidFill>
                <a:latin typeface="Open Sans Bold"/>
              </a:rPr>
              <a:t>Design of I2C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1853929"/>
            <a:ext cx="11688829" cy="6579141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959214" y="4380170"/>
            <a:ext cx="7548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 Bold"/>
              </a:rPr>
              <a:t>SDA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62131" y="5393781"/>
            <a:ext cx="66794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 Bold"/>
              </a:rPr>
              <a:t>SCL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91759" y="3400173"/>
            <a:ext cx="6496241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 Bold"/>
              </a:rPr>
              <a:t>128 devices with 7-bit addressing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 Bold"/>
              </a:rPr>
              <a:t>1024 devices with 10-bit addressing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0062"/>
            <a:ext cx="1408488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Open Sans Bold"/>
              </a:rPr>
              <a:t>I2C BUS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08294"/>
            <a:ext cx="16815336" cy="700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63238" indent="-331619" lvl="1">
              <a:lnSpc>
                <a:spcPts val="4607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Open Sans"/>
              </a:rPr>
              <a:t>The device that initiates the transaction on the I2C bus is termed the master. The master normally controls the clock signal.</a:t>
            </a:r>
          </a:p>
          <a:p>
            <a:pPr marL="663238" indent="-331619" lvl="1">
              <a:lnSpc>
                <a:spcPts val="4607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Arimo"/>
              </a:rPr>
              <a:t>A device being addressed by the master is called the slave.</a:t>
            </a:r>
          </a:p>
          <a:p>
            <a:pPr marL="663238" indent="-331619" lvl="1">
              <a:lnSpc>
                <a:spcPts val="4607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Arimo"/>
              </a:rPr>
              <a:t>There needs to be at least one master( a microcontroller or a DSP) on the bus, but there can be more than one master. All the masters on a bus have equal priority.</a:t>
            </a:r>
          </a:p>
          <a:p>
            <a:pPr marL="663238" indent="-331619" lvl="1">
              <a:lnSpc>
                <a:spcPts val="4607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Open Sans"/>
              </a:rPr>
              <a:t>Every device on the I2C bus has a unique 7 bit (or 10 bit) I2C address.</a:t>
            </a:r>
          </a:p>
          <a:p>
            <a:pPr marL="663238" indent="-331619" lvl="1">
              <a:lnSpc>
                <a:spcPts val="4607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Open Sans"/>
              </a:rPr>
              <a:t>Typically the 4 most significant bits are fixed and assigned to specific categories of devices. Ex: 1010 is assigned to serial EEPROM.</a:t>
            </a:r>
          </a:p>
          <a:p>
            <a:pPr marL="663238" indent="-331619" lvl="1">
              <a:lnSpc>
                <a:spcPts val="4607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Open Sans"/>
              </a:rPr>
              <a:t>The lower 3 bits are programmable allowing 8 devices of one kind to be present on a single I2C bus.</a:t>
            </a:r>
          </a:p>
          <a:p>
            <a:pPr>
              <a:lnSpc>
                <a:spcPts val="4607"/>
              </a:lnSpc>
            </a:pPr>
          </a:p>
          <a:p>
            <a:pPr algn="l" marL="0" indent="0" lvl="0">
              <a:lnSpc>
                <a:spcPts val="460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51810" y="5048250"/>
            <a:ext cx="16366014" cy="3795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28007" indent="-364003" lvl="1">
              <a:lnSpc>
                <a:spcPts val="5057"/>
              </a:lnSpc>
              <a:buFont typeface="Arial"/>
              <a:buChar char="•"/>
            </a:pPr>
            <a:r>
              <a:rPr lang="en-US" sz="3371">
                <a:solidFill>
                  <a:srgbClr val="000000"/>
                </a:solidFill>
                <a:latin typeface="Open Sans"/>
              </a:rPr>
              <a:t> Data is transferred in sequences of 8 bits.</a:t>
            </a:r>
          </a:p>
          <a:p>
            <a:pPr marL="728007" indent="-364003" lvl="1">
              <a:lnSpc>
                <a:spcPts val="5057"/>
              </a:lnSpc>
              <a:buFont typeface="Arial"/>
              <a:buChar char="•"/>
            </a:pPr>
            <a:r>
              <a:rPr lang="en-US" sz="3371">
                <a:solidFill>
                  <a:srgbClr val="000000"/>
                </a:solidFill>
                <a:latin typeface="Arimo"/>
              </a:rPr>
              <a:t>Bits are placed on SDA line with MSB first. </a:t>
            </a:r>
          </a:p>
          <a:p>
            <a:pPr marL="728007" indent="-364003" lvl="1">
              <a:lnSpc>
                <a:spcPts val="5057"/>
              </a:lnSpc>
              <a:buFont typeface="Arial"/>
              <a:buChar char="•"/>
            </a:pPr>
            <a:r>
              <a:rPr lang="en-US" sz="3371">
                <a:solidFill>
                  <a:srgbClr val="000000"/>
                </a:solidFill>
                <a:latin typeface="Arimo"/>
              </a:rPr>
              <a:t>SCL line is then pulsed high and then low.</a:t>
            </a:r>
          </a:p>
          <a:p>
            <a:pPr marL="728007" indent="-364003" lvl="1">
              <a:lnSpc>
                <a:spcPts val="5057"/>
              </a:lnSpc>
              <a:buFont typeface="Arial"/>
              <a:buChar char="•"/>
            </a:pPr>
            <a:r>
              <a:rPr lang="en-US" sz="3371">
                <a:solidFill>
                  <a:srgbClr val="000000"/>
                </a:solidFill>
                <a:latin typeface="Arimo"/>
              </a:rPr>
              <a:t>For every 8 bits transferred, the device receiving the data sends back an acknowledge bit.</a:t>
            </a:r>
          </a:p>
          <a:p>
            <a:pPr algn="l">
              <a:lnSpc>
                <a:spcPts val="5057"/>
              </a:lnSpc>
              <a:spcBef>
                <a:spcPct val="0"/>
              </a:spcBef>
            </a:pP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412669" y="2526666"/>
            <a:ext cx="11316947" cy="1771348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500062"/>
            <a:ext cx="1408488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Open Sans Bold"/>
              </a:rPr>
              <a:t>Data transfer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46189" y="3576985"/>
            <a:ext cx="16795623" cy="313303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500062"/>
            <a:ext cx="1408488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Open Sans Bold"/>
              </a:rPr>
              <a:t>Message format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736735" y="1638300"/>
            <a:ext cx="11853201" cy="8098179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16975" y="409575"/>
            <a:ext cx="1408488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8160"/>
              </a:lnSpc>
              <a:spcBef>
                <a:spcPct val="0"/>
              </a:spcBef>
            </a:pPr>
            <a:r>
              <a:rPr lang="en-US" sz="6800">
                <a:solidFill>
                  <a:srgbClr val="000000"/>
                </a:solidFill>
                <a:latin typeface="Open Sans Bold"/>
              </a:rPr>
              <a:t>Design of I2C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690645" y="912409"/>
            <a:ext cx="12906710" cy="84621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44384" r="0" b="13637"/>
          <a:stretch>
            <a:fillRect/>
          </a:stretch>
        </p:blipFill>
        <p:spPr>
          <a:xfrm flipH="false" flipV="false" rot="0">
            <a:off x="993622" y="2571750"/>
            <a:ext cx="16300757" cy="5143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509587"/>
            <a:ext cx="1408488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080"/>
              </a:lnSpc>
              <a:spcBef>
                <a:spcPct val="0"/>
              </a:spcBef>
            </a:pPr>
            <a:r>
              <a:rPr lang="en-US" sz="5900">
                <a:solidFill>
                  <a:srgbClr val="000000"/>
                </a:solidFill>
                <a:latin typeface="Open Sans Bold"/>
              </a:rPr>
              <a:t>I2C in Arduino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958" t="0" r="2288" b="0"/>
          <a:stretch>
            <a:fillRect/>
          </a:stretch>
        </p:blipFill>
        <p:spPr>
          <a:xfrm flipH="false" flipV="false" rot="0">
            <a:off x="2424172" y="1525983"/>
            <a:ext cx="13770736" cy="7235033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7362825" y="8227617"/>
            <a:ext cx="9020175" cy="685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81705" y="320399"/>
            <a:ext cx="1408488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080"/>
              </a:lnSpc>
              <a:spcBef>
                <a:spcPct val="0"/>
              </a:spcBef>
            </a:pPr>
            <a:r>
              <a:rPr lang="en-US" sz="5900">
                <a:solidFill>
                  <a:srgbClr val="000000"/>
                </a:solidFill>
                <a:latin typeface="Open Sans Bold"/>
              </a:rPr>
              <a:t>Example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631662" y="1206224"/>
            <a:ext cx="11024676" cy="8231758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81705" y="320399"/>
            <a:ext cx="14084886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080"/>
              </a:lnSpc>
              <a:spcBef>
                <a:spcPct val="0"/>
              </a:spcBef>
            </a:pPr>
            <a:r>
              <a:rPr lang="en-US" sz="5900">
                <a:solidFill>
                  <a:srgbClr val="000000"/>
                </a:solidFill>
                <a:latin typeface="Open Sans Bold"/>
              </a:rPr>
              <a:t>Example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9525"/>
            <a:ext cx="10574068" cy="68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5315"/>
              </a:lnSpc>
              <a:spcBef>
                <a:spcPct val="0"/>
              </a:spcBef>
            </a:pPr>
            <a:r>
              <a:rPr lang="en-US" sz="4429">
                <a:solidFill>
                  <a:srgbClr val="000000"/>
                </a:solidFill>
                <a:latin typeface="Open Sans Bold"/>
              </a:rPr>
              <a:t>Program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0346" y="952500"/>
            <a:ext cx="16608954" cy="933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#include &lt;Wire.h&gt;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int ADXLAddress = 0x53; // Device address in which is also included the 8th bit for selecting the mode, read in this case.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#define X_Axis_Register_DATAX0 0x32 // Hexadecimal address for the DATAX0 internal register.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#define X_Axis_Register_DATAX1 0x33 // Hexadecimal address for the DATAX1 internal register.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#define Power_Register 0x2D // Power Control Register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int X0,X1,X_out;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void setup() {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  Wire.begin(); // Initiate the Wire library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  Serial.begin(9600);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  delay(100);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  // Enable measurement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  Wire.beginTransmission(ADXLAddress);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  Wire.write(Power_Register);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  // Bit D3 High for measuring enable (0000 1000)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  Wire.write(8);  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  Wire.endTransmission();</a:t>
            </a:r>
          </a:p>
          <a:p>
            <a:pPr>
              <a:lnSpc>
                <a:spcPts val="3720"/>
              </a:lnSpc>
              <a:spcBef>
                <a:spcPct val="0"/>
              </a:spcBef>
            </a:pPr>
            <a:r>
              <a:rPr lang="en-US" sz="3100">
                <a:solidFill>
                  <a:srgbClr val="000000"/>
                </a:solidFill>
                <a:latin typeface="Open Sans Bold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9525"/>
            <a:ext cx="10574068" cy="68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5315"/>
              </a:lnSpc>
              <a:spcBef>
                <a:spcPct val="0"/>
              </a:spcBef>
            </a:pPr>
            <a:r>
              <a:rPr lang="en-US" sz="4429">
                <a:solidFill>
                  <a:srgbClr val="000000"/>
                </a:solidFill>
                <a:latin typeface="Open Sans Bold"/>
              </a:rPr>
              <a:t>Program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1079" y="1028700"/>
            <a:ext cx="17625841" cy="886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725"/>
              </a:lnSpc>
              <a:spcBef>
                <a:spcPct val="0"/>
              </a:spcBef>
            </a:pP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void loop() {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Wire.beginTransmission(ADXLAddress); // Begin transmission to the Sensor 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//Ask the particular registers for data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Wire.write(X_Axis_Register_DATAX0);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Wire.write(X_Axis_Register_DATAX1); 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Wire.endTransmission(); // Ends the transmission and transmits the data from the two registers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Wire.requestFrom(ADXLAddress,2); // Request the transmitted two bytes from the two registers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if(Wire.available()&lt;=2) {  // 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  X0 = Wire.read(); // Reads the data from the register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  X1 = Wire.read();   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}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Serial.print("X0= ");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Serial.print(X0);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Serial.print("   X1= ");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  Serial.println(X1);</a:t>
            </a:r>
          </a:p>
          <a:p>
            <a:pPr>
              <a:lnSpc>
                <a:spcPts val="3725"/>
              </a:lnSpc>
              <a:spcBef>
                <a:spcPct val="0"/>
              </a:spcBef>
            </a:pPr>
            <a:r>
              <a:rPr lang="en-US" sz="3104">
                <a:solidFill>
                  <a:srgbClr val="000000"/>
                </a:solidFill>
                <a:latin typeface="Open Sans Bold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91488"/>
            <a:ext cx="14825039" cy="330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64273" indent="-382137" lvl="1">
              <a:lnSpc>
                <a:spcPts val="5309"/>
              </a:lnSpc>
              <a:buFont typeface="Arial"/>
              <a:buChar char="•"/>
            </a:pPr>
            <a:r>
              <a:rPr lang="en-US" sz="3539">
                <a:solidFill>
                  <a:srgbClr val="000000"/>
                </a:solidFill>
                <a:latin typeface="Open Sans"/>
              </a:rPr>
              <a:t>Low Pin Count(2 Pins)</a:t>
            </a:r>
          </a:p>
          <a:p>
            <a:pPr marL="764273" indent="-382137" lvl="1">
              <a:lnSpc>
                <a:spcPts val="5309"/>
              </a:lnSpc>
              <a:buFont typeface="Arial"/>
              <a:buChar char="•"/>
            </a:pPr>
            <a:r>
              <a:rPr lang="en-US" sz="3539">
                <a:solidFill>
                  <a:srgbClr val="000000"/>
                </a:solidFill>
                <a:latin typeface="Open Sans"/>
              </a:rPr>
              <a:t>Addressing built-in</a:t>
            </a:r>
          </a:p>
          <a:p>
            <a:pPr marL="764273" indent="-382137" lvl="1">
              <a:lnSpc>
                <a:spcPts val="5309"/>
              </a:lnSpc>
              <a:buFont typeface="Arial"/>
              <a:buChar char="•"/>
            </a:pPr>
            <a:r>
              <a:rPr lang="en-US" sz="3539">
                <a:solidFill>
                  <a:srgbClr val="000000"/>
                </a:solidFill>
                <a:latin typeface="Open Sans"/>
              </a:rPr>
              <a:t>Faster than UART</a:t>
            </a:r>
          </a:p>
          <a:p>
            <a:pPr marL="764273" indent="-382137" lvl="1">
              <a:lnSpc>
                <a:spcPts val="5309"/>
              </a:lnSpc>
              <a:buFont typeface="Arial"/>
              <a:buChar char="•"/>
            </a:pPr>
            <a:r>
              <a:rPr lang="en-US" sz="3539">
                <a:solidFill>
                  <a:srgbClr val="000000"/>
                </a:solidFill>
                <a:latin typeface="Open Sans"/>
              </a:rPr>
              <a:t>Better error handling mechanism</a:t>
            </a:r>
          </a:p>
          <a:p>
            <a:pPr algn="l">
              <a:lnSpc>
                <a:spcPts val="530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860407"/>
            <a:ext cx="13408858" cy="263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64273" indent="-382137" lvl="1">
              <a:lnSpc>
                <a:spcPts val="5309"/>
              </a:lnSpc>
              <a:buFont typeface="Arial"/>
              <a:buChar char="•"/>
            </a:pPr>
            <a:r>
              <a:rPr lang="en-US" sz="3539">
                <a:solidFill>
                  <a:srgbClr val="000000"/>
                </a:solidFill>
                <a:latin typeface="Open Sans"/>
              </a:rPr>
              <a:t>Half-Duplex,400 kbps max</a:t>
            </a:r>
          </a:p>
          <a:p>
            <a:pPr marL="764273" indent="-382137" lvl="1">
              <a:lnSpc>
                <a:spcPts val="5309"/>
              </a:lnSpc>
              <a:buFont typeface="Arial"/>
              <a:buChar char="•"/>
            </a:pPr>
            <a:r>
              <a:rPr lang="en-US" sz="3539">
                <a:solidFill>
                  <a:srgbClr val="000000"/>
                </a:solidFill>
                <a:latin typeface="Open Sans"/>
              </a:rPr>
              <a:t>Careful consideration of hardware</a:t>
            </a:r>
          </a:p>
          <a:p>
            <a:pPr marL="764273" indent="-382137" lvl="1">
              <a:lnSpc>
                <a:spcPts val="5309"/>
              </a:lnSpc>
              <a:buFont typeface="Arial"/>
              <a:buChar char="•"/>
            </a:pPr>
            <a:r>
              <a:rPr lang="en-US" sz="3539">
                <a:solidFill>
                  <a:srgbClr val="000000"/>
                </a:solidFill>
                <a:latin typeface="Open Sans"/>
              </a:rPr>
              <a:t>More complicated than SPI or UART</a:t>
            </a:r>
          </a:p>
          <a:p>
            <a:pPr algn="l" marL="764273" indent="-382137" lvl="1">
              <a:lnSpc>
                <a:spcPts val="5309"/>
              </a:lnSpc>
              <a:buFont typeface="Arial"/>
              <a:buChar char="•"/>
            </a:pPr>
            <a:r>
              <a:rPr lang="en-US" sz="3539">
                <a:solidFill>
                  <a:srgbClr val="000000"/>
                </a:solidFill>
                <a:latin typeface="Open Sans"/>
              </a:rPr>
              <a:t>Address Conflicts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56190"/>
            <a:ext cx="1482503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Open Sans Bold"/>
              </a:rPr>
              <a:t>Advantages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94335"/>
            <a:ext cx="1482503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0" indent="0" lvl="0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Open Sans Bold"/>
              </a:rPr>
              <a:t>Disadvantages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1334" y="4662488"/>
            <a:ext cx="1398533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38"/>
              </a:lnSpc>
              <a:spcBef>
                <a:spcPct val="0"/>
              </a:spcBef>
            </a:pPr>
            <a:r>
              <a:rPr lang="en-US" sz="6365">
                <a:solidFill>
                  <a:srgbClr val="000000"/>
                </a:solidFill>
                <a:latin typeface="Open Sa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DAFAxmyA9C8</dc:identifier>
  <dcterms:modified xsi:type="dcterms:W3CDTF">2011-08-01T06:04:30Z</dcterms:modified>
  <cp:revision>1</cp:revision>
  <dc:title>I2C</dc:title>
</cp:coreProperties>
</file>