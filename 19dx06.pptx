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Raleway"/>
      <p:regular r:id="rId24"/>
      <p:bold r:id="rId25"/>
      <p:italic r:id="rId26"/>
      <p:boldItalic r:id="rId27"/>
    </p:embeddedFont>
    <p:embeddedFont>
      <p:font typeface="Lato"/>
      <p:regular r:id="rId28"/>
      <p:bold r:id="rId29"/>
      <p:italic r:id="rId30"/>
      <p:boldItalic r:id="rId31"/>
    </p:embeddedFont>
    <p:embeddedFont>
      <p:font typeface="Raleway Medium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36" roundtripDataSignature="AMtx7miKpcijO9OmOjR7cDRUSI37BJwi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aleway-regular.fntdata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aleway-italic.fntdata"/><Relationship Id="rId25" Type="http://schemas.openxmlformats.org/officeDocument/2006/relationships/font" Target="fonts/Raleway-bold.fntdata"/><Relationship Id="rId28" Type="http://schemas.openxmlformats.org/officeDocument/2006/relationships/font" Target="fonts/Lato-regular.fntdata"/><Relationship Id="rId27" Type="http://schemas.openxmlformats.org/officeDocument/2006/relationships/font" Target="fonts/Raleway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boldItalic.fntdata"/><Relationship Id="rId30" Type="http://schemas.openxmlformats.org/officeDocument/2006/relationships/font" Target="fonts/Lato-italic.fntdata"/><Relationship Id="rId11" Type="http://schemas.openxmlformats.org/officeDocument/2006/relationships/slide" Target="slides/slide6.xml"/><Relationship Id="rId33" Type="http://schemas.openxmlformats.org/officeDocument/2006/relationships/font" Target="fonts/RalewayMedium-bold.fntdata"/><Relationship Id="rId10" Type="http://schemas.openxmlformats.org/officeDocument/2006/relationships/slide" Target="slides/slide5.xml"/><Relationship Id="rId32" Type="http://schemas.openxmlformats.org/officeDocument/2006/relationships/font" Target="fonts/RalewayMedium-regular.fntdata"/><Relationship Id="rId13" Type="http://schemas.openxmlformats.org/officeDocument/2006/relationships/slide" Target="slides/slide8.xml"/><Relationship Id="rId35" Type="http://schemas.openxmlformats.org/officeDocument/2006/relationships/font" Target="fonts/RalewayMedium-boldItalic.fntdata"/><Relationship Id="rId12" Type="http://schemas.openxmlformats.org/officeDocument/2006/relationships/slide" Target="slides/slide7.xml"/><Relationship Id="rId34" Type="http://schemas.openxmlformats.org/officeDocument/2006/relationships/font" Target="fonts/RalewayMedium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customschemas.google.com/relationships/presentationmetadata" Target="meta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p2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2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" name="Google Shape;14;p21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1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" name="Google Shape;19;p2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0" name="Google Shape;20;p2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2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" name="Google Shape;22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3" name="Google Shape;23;p2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4" name="Google Shape;24;p2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29" name="Google Shape;29;p2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oogle Shape;31;p2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2" name="Google Shape;32;p2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2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" name="Google Shape;34;p2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2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" name="Google Shape;38;p2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9" name="Google Shape;39;p2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2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" name="Google Shape;41;p2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2" name="Google Shape;42;p26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3" name="Google Shape;43;p26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4" name="Google Shape;44;p2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7" name="Google Shape;47;p2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8" name="Google Shape;48;p2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2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" name="Google Shape;50;p27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1" name="Google Shape;51;p2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" name="Google Shape;54;p2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5" name="Google Shape;55;p2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2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" name="Google Shape;57;p28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8" name="Google Shape;58;p28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9" name="Google Shape;59;p2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oogle Shape;61;p29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62" name="Google Shape;62;p2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2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4" name="Google Shape;64;p29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2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" name="Google Shape;68;p30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9" name="Google Shape;69;p3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3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1" name="Google Shape;71;p30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72" name="Google Shape;72;p30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73" name="Google Shape;73;p30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4" name="Google Shape;74;p3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oogle Shape;76;p3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7" name="Google Shape;77;p3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3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" name="Google Shape;79;p3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0" name="Google Shape;80;p3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1" name="Google Shape;81;p3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2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 txBox="1"/>
          <p:nvPr>
            <p:ph type="ctrTitle"/>
          </p:nvPr>
        </p:nvSpPr>
        <p:spPr>
          <a:xfrm>
            <a:off x="727950" y="1338600"/>
            <a:ext cx="7688100" cy="24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t/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 sz="2300">
                <a:latin typeface="Arial"/>
                <a:ea typeface="Arial"/>
                <a:cs typeface="Arial"/>
                <a:sym typeface="Arial"/>
              </a:rPr>
              <a:t>ASSIGNMENT TOPIC: IOT DESIGN METHODOLOGY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en" sz="2300">
                <a:latin typeface="Arial"/>
                <a:ea typeface="Arial"/>
                <a:cs typeface="Arial"/>
                <a:sym typeface="Arial"/>
              </a:rPr>
              <a:t>COURSE NAME: BUILDING INTERNET OF THINGS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2300">
                <a:latin typeface="Arial"/>
                <a:ea typeface="Arial"/>
                <a:cs typeface="Arial"/>
                <a:sym typeface="Arial"/>
              </a:rPr>
              <a:t>COURSE CODE: Z18602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729450" y="3324946"/>
            <a:ext cx="7315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Done by: P. M. DEEPAK(19DX06)</a:t>
            </a:r>
            <a:r>
              <a:rPr b="0" i="0" lang="en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/>
          <p:nvPr>
            <p:ph type="title"/>
          </p:nvPr>
        </p:nvSpPr>
        <p:spPr>
          <a:xfrm>
            <a:off x="187500" y="571750"/>
            <a:ext cx="37440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IoT Design Methodology</a:t>
            </a:r>
            <a:endParaRPr/>
          </a:p>
        </p:txBody>
      </p:sp>
      <p:sp>
        <p:nvSpPr>
          <p:cNvPr id="93" name="Google Shape;93;p2"/>
          <p:cNvSpPr txBox="1"/>
          <p:nvPr>
            <p:ph idx="1" type="body"/>
          </p:nvPr>
        </p:nvSpPr>
        <p:spPr>
          <a:xfrm>
            <a:off x="187500" y="1487650"/>
            <a:ext cx="32415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300"/>
              <a:buNone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An IoT design methodology is an important part of the IoT design process. It provides a step-by-step approach for designing, prototyping, and testing IoT technology.</a:t>
            </a:r>
            <a:endParaRPr/>
          </a:p>
        </p:txBody>
      </p:sp>
      <p:pic>
        <p:nvPicPr>
          <p:cNvPr id="94" name="Google Shape;9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2890" y="647950"/>
            <a:ext cx="5261100" cy="434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Step 1: Purpose and Requirement Specification </a:t>
            </a:r>
            <a:endParaRPr/>
          </a:p>
        </p:txBody>
      </p:sp>
      <p:sp>
        <p:nvSpPr>
          <p:cNvPr id="100" name="Google Shape;100;p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just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Raleway Medium"/>
              <a:buChar char="●"/>
            </a:pPr>
            <a:r>
              <a:rPr lang="en" sz="230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Define the purpose and requirements of the system</a:t>
            </a:r>
            <a:endParaRPr sz="2300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746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Raleway Medium"/>
              <a:buChar char="●"/>
            </a:pPr>
            <a:r>
              <a:rPr lang="en" sz="230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The system purpose, behavior and requirement are captured.(data collection, data analysis, data privacy and security, user interface)</a:t>
            </a:r>
            <a:endParaRPr sz="2300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IoT Based Air Quality Monitoring</a:t>
            </a:r>
            <a:endParaRPr/>
          </a:p>
        </p:txBody>
      </p:sp>
      <p:sp>
        <p:nvSpPr>
          <p:cNvPr id="106" name="Google Shape;106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en" sz="1400">
                <a:solidFill>
                  <a:schemeClr val="accent3"/>
                </a:solidFill>
              </a:rPr>
              <a:t>Purpose:</a:t>
            </a:r>
            <a:r>
              <a:rPr b="1" lang="en" sz="1400"/>
              <a:t> </a:t>
            </a:r>
            <a:r>
              <a:rPr lang="en" sz="1400"/>
              <a:t>A IoT Based air quality monitoring system that allows monitoring  using a web application</a:t>
            </a:r>
            <a:endParaRPr sz="14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b="1" lang="en" sz="1400">
                <a:solidFill>
                  <a:schemeClr val="accent3"/>
                </a:solidFill>
              </a:rPr>
              <a:t>Behaviour:</a:t>
            </a:r>
            <a:r>
              <a:rPr lang="en" sz="1400"/>
              <a:t> This IoT system monitors the quality of air, CO2 and pressure in the atmosphere. The data are collected by the sensors PMS5003 PM2.5 Particulate Matter Sensor, MQ-135 Air Quality Sensor, BME280 Barometric Pressure Sensor. These data can be monitored in real time with a cloud based application</a:t>
            </a:r>
            <a:endParaRPr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IoT Based Air Quality Monitoring</a:t>
            </a:r>
            <a:endParaRPr/>
          </a:p>
        </p:txBody>
      </p:sp>
      <p:sp>
        <p:nvSpPr>
          <p:cNvPr id="112" name="Google Shape;112;p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en" sz="1400">
                <a:solidFill>
                  <a:schemeClr val="accent3"/>
                </a:solidFill>
              </a:rPr>
              <a:t>Data Analysis Requirements:</a:t>
            </a:r>
            <a:r>
              <a:rPr b="1" lang="en" sz="1400"/>
              <a:t> </a:t>
            </a:r>
            <a:r>
              <a:rPr lang="en" sz="1400"/>
              <a:t>System should perform local analysis of data.</a:t>
            </a:r>
            <a:endParaRPr sz="14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en" sz="1400">
                <a:solidFill>
                  <a:schemeClr val="accent3"/>
                </a:solidFill>
              </a:rPr>
              <a:t>System Management Requirement: </a:t>
            </a:r>
            <a:r>
              <a:rPr lang="en" sz="1400"/>
              <a:t>System should remotely provide monitoring and control functions</a:t>
            </a:r>
            <a:endParaRPr sz="14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b="1" lang="en" sz="1400">
                <a:solidFill>
                  <a:schemeClr val="accent3"/>
                </a:solidFill>
              </a:rPr>
              <a:t>Application Deployment Requirement: </a:t>
            </a:r>
            <a:r>
              <a:rPr lang="en" sz="1400"/>
              <a:t>Deployed locally on device, but acts remotely without manual intervention.</a:t>
            </a:r>
            <a:endParaRPr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STEP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2: </a:t>
            </a:r>
            <a:r>
              <a:rPr lang="en"/>
              <a:t>Process Specification</a:t>
            </a:r>
            <a:endParaRPr/>
          </a:p>
        </p:txBody>
      </p:sp>
      <p:sp>
        <p:nvSpPr>
          <p:cNvPr id="118" name="Google Shape;118;p6"/>
          <p:cNvSpPr txBox="1"/>
          <p:nvPr>
            <p:ph idx="1" type="body"/>
          </p:nvPr>
        </p:nvSpPr>
        <p:spPr>
          <a:xfrm>
            <a:off x="729450" y="2078875"/>
            <a:ext cx="3438600" cy="25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Defines the process with the help of use cases</a:t>
            </a:r>
            <a:endParaRPr sz="1600"/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The use cases are formally described based on Purpose and requirement specification</a:t>
            </a:r>
            <a:endParaRPr sz="1600"/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In physical state datas can be monitored through readings displayed and when user is out data can be monitored through cloud based application.</a:t>
            </a:r>
            <a:endParaRPr sz="1600"/>
          </a:p>
        </p:txBody>
      </p:sp>
      <p:pic>
        <p:nvPicPr>
          <p:cNvPr id="119" name="Google Shape;11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54725" y="469313"/>
            <a:ext cx="3687349" cy="4609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"/>
          <p:cNvSpPr txBox="1"/>
          <p:nvPr>
            <p:ph type="title"/>
          </p:nvPr>
        </p:nvSpPr>
        <p:spPr>
          <a:xfrm>
            <a:off x="727650" y="58870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STEP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3: </a:t>
            </a:r>
            <a:r>
              <a:rPr lang="en"/>
              <a:t>Domain Model Specification</a:t>
            </a:r>
            <a:endParaRPr/>
          </a:p>
        </p:txBody>
      </p:sp>
      <p:sp>
        <p:nvSpPr>
          <p:cNvPr id="125" name="Google Shape;125;p7"/>
          <p:cNvSpPr txBox="1"/>
          <p:nvPr>
            <p:ph idx="1" type="body"/>
          </p:nvPr>
        </p:nvSpPr>
        <p:spPr>
          <a:xfrm>
            <a:off x="727650" y="1438750"/>
            <a:ext cx="4009800" cy="3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1405"/>
              <a:t>Describes the main concepts, entities and objects in the domain of IoT system to be designed</a:t>
            </a:r>
            <a:endParaRPr sz="140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" sz="1405"/>
              <a:t>Entities, Objects and Concepts include the following: </a:t>
            </a:r>
            <a:endParaRPr sz="1405"/>
          </a:p>
          <a:p>
            <a:pPr indent="-317817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405"/>
              <a:buAutoNum type="arabicPeriod"/>
            </a:pPr>
            <a:r>
              <a:rPr lang="en" sz="1405"/>
              <a:t>Physical Entity</a:t>
            </a:r>
            <a:endParaRPr sz="1405"/>
          </a:p>
          <a:p>
            <a:pPr indent="-317817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5"/>
              <a:buAutoNum type="arabicPeriod"/>
            </a:pPr>
            <a:r>
              <a:rPr lang="en" sz="1405"/>
              <a:t>Virtual Entity</a:t>
            </a:r>
            <a:endParaRPr sz="1405"/>
          </a:p>
          <a:p>
            <a:pPr indent="-317817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5"/>
              <a:buAutoNum type="arabicPeriod"/>
            </a:pPr>
            <a:r>
              <a:rPr lang="en" sz="1405"/>
              <a:t>Device</a:t>
            </a:r>
            <a:endParaRPr sz="1405"/>
          </a:p>
          <a:p>
            <a:pPr indent="-317817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5"/>
              <a:buAutoNum type="arabicPeriod"/>
            </a:pPr>
            <a:r>
              <a:rPr lang="en" sz="1405"/>
              <a:t>Resource</a:t>
            </a:r>
            <a:endParaRPr sz="1405"/>
          </a:p>
          <a:p>
            <a:pPr indent="-317817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5"/>
              <a:buAutoNum type="arabicPeriod"/>
            </a:pPr>
            <a:r>
              <a:rPr lang="en" sz="1405"/>
              <a:t>Service</a:t>
            </a:r>
            <a:endParaRPr sz="1405"/>
          </a:p>
        </p:txBody>
      </p:sp>
      <p:sp>
        <p:nvSpPr>
          <p:cNvPr id="126" name="Google Shape;126;p7"/>
          <p:cNvSpPr txBox="1"/>
          <p:nvPr>
            <p:ph idx="1" type="body"/>
          </p:nvPr>
        </p:nvSpPr>
        <p:spPr>
          <a:xfrm>
            <a:off x="4878050" y="1438750"/>
            <a:ext cx="4009800" cy="3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en" sz="1405"/>
              <a:t>Example:</a:t>
            </a:r>
            <a:endParaRPr b="1" sz="140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en" sz="1405"/>
              <a:t>Physical Entity: </a:t>
            </a:r>
            <a:r>
              <a:rPr lang="en" sz="1405"/>
              <a:t>Display</a:t>
            </a:r>
            <a:endParaRPr sz="140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en" sz="1405"/>
              <a:t>Virtual Entity: </a:t>
            </a:r>
            <a:r>
              <a:rPr lang="en" sz="1405"/>
              <a:t>Representation of physical entity</a:t>
            </a:r>
            <a:endParaRPr sz="140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en" sz="1405"/>
              <a:t>Device: </a:t>
            </a:r>
            <a:r>
              <a:rPr lang="en" sz="1405"/>
              <a:t>ESP8266, </a:t>
            </a:r>
            <a:r>
              <a:rPr lang="en" sz="1400"/>
              <a:t>PMS5003, MQ-135, BME280</a:t>
            </a:r>
            <a:endParaRPr sz="14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en" sz="1400"/>
              <a:t>Resource: </a:t>
            </a:r>
            <a:r>
              <a:rPr lang="en" sz="1400"/>
              <a:t>ThingSpeak</a:t>
            </a:r>
            <a:endParaRPr sz="14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b="1" lang="en" sz="1400"/>
              <a:t>Service: </a:t>
            </a:r>
            <a:r>
              <a:rPr lang="en" sz="1400"/>
              <a:t>ThingSpeak</a:t>
            </a:r>
            <a:endParaRPr sz="1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"/>
          <p:cNvSpPr txBox="1"/>
          <p:nvPr>
            <p:ph idx="4294967295" type="title"/>
          </p:nvPr>
        </p:nvSpPr>
        <p:spPr>
          <a:xfrm>
            <a:off x="379500" y="1731900"/>
            <a:ext cx="2484300" cy="21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Domain Model Specification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Diagram</a:t>
            </a:r>
            <a:endParaRPr/>
          </a:p>
        </p:txBody>
      </p:sp>
      <p:pic>
        <p:nvPicPr>
          <p:cNvPr id="132" name="Google Shape;132;p8"/>
          <p:cNvPicPr preferRelativeResize="0"/>
          <p:nvPr/>
        </p:nvPicPr>
        <p:blipFill rotWithShape="1">
          <a:blip r:embed="rId3">
            <a:alphaModFix/>
          </a:blip>
          <a:srcRect b="0" l="1351" r="0" t="1409"/>
          <a:stretch/>
        </p:blipFill>
        <p:spPr>
          <a:xfrm>
            <a:off x="3094850" y="216375"/>
            <a:ext cx="5760176" cy="4488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STEP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4: </a:t>
            </a:r>
            <a:r>
              <a:rPr lang="en"/>
              <a:t>Information Model Specification</a:t>
            </a:r>
            <a:endParaRPr/>
          </a:p>
        </p:txBody>
      </p:sp>
      <p:sp>
        <p:nvSpPr>
          <p:cNvPr id="138" name="Google Shape;138;p9"/>
          <p:cNvSpPr txBox="1"/>
          <p:nvPr>
            <p:ph idx="1" type="body"/>
          </p:nvPr>
        </p:nvSpPr>
        <p:spPr>
          <a:xfrm>
            <a:off x="729450" y="2078875"/>
            <a:ext cx="3549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400"/>
              <a:t>Defines the structure of all the information in the IoT system.</a:t>
            </a:r>
            <a:endParaRPr sz="14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n" sz="1400"/>
              <a:t>It does not describe the specifics of how the information is represented or stored</a:t>
            </a:r>
            <a:endParaRPr sz="14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lang="en" sz="1400"/>
              <a:t>This adds more information to Virtual entities by defining their attributes and relations</a:t>
            </a:r>
            <a:endParaRPr sz="1400"/>
          </a:p>
        </p:txBody>
      </p:sp>
      <p:pic>
        <p:nvPicPr>
          <p:cNvPr id="139" name="Google Shape;139;p9"/>
          <p:cNvPicPr preferRelativeResize="0"/>
          <p:nvPr/>
        </p:nvPicPr>
        <p:blipFill rotWithShape="1">
          <a:blip r:embed="rId3">
            <a:alphaModFix/>
          </a:blip>
          <a:srcRect b="0" l="1671" r="0" t="2685"/>
          <a:stretch/>
        </p:blipFill>
        <p:spPr>
          <a:xfrm>
            <a:off x="4507425" y="1898525"/>
            <a:ext cx="4636575" cy="281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STEP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5: </a:t>
            </a:r>
            <a:r>
              <a:rPr lang="en"/>
              <a:t>Service Specification</a:t>
            </a:r>
            <a:endParaRPr/>
          </a:p>
        </p:txBody>
      </p:sp>
      <p:sp>
        <p:nvSpPr>
          <p:cNvPr id="145" name="Google Shape;145;p1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 sz="1412"/>
              <a:t>The fifth step in the IoT design methodology is to define the service specifications. </a:t>
            </a:r>
            <a:endParaRPr sz="1412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1412"/>
              <a:t>Service specifications define the services in the IoT system, </a:t>
            </a:r>
            <a:endParaRPr sz="1412"/>
          </a:p>
          <a:p>
            <a:pPr indent="-318293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13"/>
              <a:buChar char="●"/>
            </a:pPr>
            <a:r>
              <a:rPr lang="en" sz="1412"/>
              <a:t>service types, </a:t>
            </a:r>
            <a:endParaRPr sz="1412"/>
          </a:p>
          <a:p>
            <a:pPr indent="-318293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13"/>
              <a:buChar char="●"/>
            </a:pPr>
            <a:r>
              <a:rPr lang="en" sz="1412"/>
              <a:t>service inputs/output, </a:t>
            </a:r>
            <a:endParaRPr sz="1412"/>
          </a:p>
          <a:p>
            <a:pPr indent="-318293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13"/>
              <a:buChar char="●"/>
            </a:pPr>
            <a:r>
              <a:rPr lang="en" sz="1412"/>
              <a:t>service endpoints, </a:t>
            </a:r>
            <a:endParaRPr sz="1412"/>
          </a:p>
          <a:p>
            <a:pPr indent="-318293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13"/>
              <a:buChar char="●"/>
            </a:pPr>
            <a:r>
              <a:rPr lang="en" sz="1412"/>
              <a:t>service schedules, </a:t>
            </a:r>
            <a:endParaRPr sz="1412"/>
          </a:p>
          <a:p>
            <a:pPr indent="-318293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13"/>
              <a:buChar char="●"/>
            </a:pPr>
            <a:r>
              <a:rPr lang="en" sz="1412"/>
              <a:t>service preconditions and </a:t>
            </a:r>
            <a:endParaRPr sz="1412"/>
          </a:p>
          <a:p>
            <a:pPr indent="-318293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13"/>
              <a:buChar char="●"/>
            </a:pPr>
            <a:r>
              <a:rPr lang="en" sz="1412"/>
              <a:t>service effects.</a:t>
            </a:r>
            <a:endParaRPr sz="1412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1950" y="267163"/>
            <a:ext cx="3687349" cy="46091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1" name="Google Shape;151;p11"/>
          <p:cNvCxnSpPr/>
          <p:nvPr/>
        </p:nvCxnSpPr>
        <p:spPr>
          <a:xfrm flipH="1">
            <a:off x="3730825" y="2793500"/>
            <a:ext cx="517800" cy="2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pic>
        <p:nvPicPr>
          <p:cNvPr id="152" name="Google Shape;152;p11"/>
          <p:cNvPicPr preferRelativeResize="0"/>
          <p:nvPr/>
        </p:nvPicPr>
        <p:blipFill rotWithShape="1">
          <a:blip r:embed="rId4">
            <a:alphaModFix/>
          </a:blip>
          <a:srcRect b="2028" l="0" r="0" t="0"/>
          <a:stretch/>
        </p:blipFill>
        <p:spPr>
          <a:xfrm>
            <a:off x="4248625" y="1531900"/>
            <a:ext cx="4598051" cy="292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3"/>
          <p:cNvSpPr txBox="1"/>
          <p:nvPr>
            <p:ph type="title"/>
          </p:nvPr>
        </p:nvSpPr>
        <p:spPr>
          <a:xfrm>
            <a:off x="727650" y="5662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STEP6: IoT level Specification</a:t>
            </a:r>
            <a:endParaRPr/>
          </a:p>
        </p:txBody>
      </p:sp>
      <p:pic>
        <p:nvPicPr>
          <p:cNvPr id="158" name="Google Shape;15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566225"/>
            <a:ext cx="4162575" cy="4253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3"/>
          <p:cNvSpPr txBox="1"/>
          <p:nvPr/>
        </p:nvSpPr>
        <p:spPr>
          <a:xfrm>
            <a:off x="511750" y="1699925"/>
            <a:ext cx="3486300" cy="17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65100" lvl="0" marL="2286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•"/>
            </a:pPr>
            <a:r>
              <a:rPr b="0" i="0" lang="en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 level-4 IoT system has multiple nodes that perform local analysis. Data is stored in the cloud and application is cloud-based.</a:t>
            </a:r>
            <a:endParaRPr b="0" i="0" sz="1400" u="none" cap="none" strike="noStrike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190500" lvl="0" marL="2286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•"/>
            </a:pPr>
            <a:r>
              <a:rPr b="0" i="0" lang="en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Suitable for solutions where multiple nodes are required, the data involved is big and the analysis requirements are computationally intensive.</a:t>
            </a:r>
            <a:endParaRPr b="0" i="0" sz="1400" u="none" cap="none" strike="noStrike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STEP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7: </a:t>
            </a:r>
            <a:r>
              <a:rPr lang="en"/>
              <a:t>Functional View Specification</a:t>
            </a:r>
            <a:endParaRPr/>
          </a:p>
        </p:txBody>
      </p:sp>
      <p:sp>
        <p:nvSpPr>
          <p:cNvPr id="165" name="Google Shape;165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600"/>
              <a:t>•Define the functions of IoT System grouped into various functional groups.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lang="en" sz="1600"/>
              <a:t>•These functional groups provide functionalities for interacting with the concepts defined in Domain model specification.</a:t>
            </a:r>
            <a:endParaRPr sz="1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4525" y="498550"/>
            <a:ext cx="7474949" cy="464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STEP8: Operational View Specification</a:t>
            </a:r>
            <a:endParaRPr/>
          </a:p>
        </p:txBody>
      </p:sp>
      <p:sp>
        <p:nvSpPr>
          <p:cNvPr id="176" name="Google Shape;176;p16"/>
          <p:cNvSpPr txBox="1"/>
          <p:nvPr>
            <p:ph idx="1" type="body"/>
          </p:nvPr>
        </p:nvSpPr>
        <p:spPr>
          <a:xfrm>
            <a:off x="729450" y="2078875"/>
            <a:ext cx="39018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300"/>
              <a:buNone/>
            </a:pPr>
            <a:r>
              <a:rPr lang="en" sz="1600"/>
              <a:t>In this step, various options pertaining to the IoT system deployment and operation are defined, such as, service hosting options, storage options, device options, application hosting options, etc</a:t>
            </a:r>
            <a:endParaRPr sz="1600"/>
          </a:p>
        </p:txBody>
      </p:sp>
      <p:sp>
        <p:nvSpPr>
          <p:cNvPr id="177" name="Google Shape;177;p16"/>
          <p:cNvSpPr txBox="1"/>
          <p:nvPr>
            <p:ph idx="1" type="body"/>
          </p:nvPr>
        </p:nvSpPr>
        <p:spPr>
          <a:xfrm>
            <a:off x="4819700" y="2078875"/>
            <a:ext cx="39018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en" sz="1600"/>
              <a:t>Application: </a:t>
            </a:r>
            <a:r>
              <a:rPr lang="en" sz="1600"/>
              <a:t>Thingspeak</a:t>
            </a:r>
            <a:endParaRPr sz="16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en" sz="1600"/>
              <a:t>Services:</a:t>
            </a:r>
            <a:r>
              <a:rPr lang="en" sz="1600"/>
              <a:t> REST</a:t>
            </a:r>
            <a:endParaRPr sz="16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en" sz="1600"/>
              <a:t>Communication: </a:t>
            </a:r>
            <a:r>
              <a:rPr lang="en" sz="1600"/>
              <a:t>REST APIs</a:t>
            </a:r>
            <a:endParaRPr sz="16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b="1" lang="en" sz="1600"/>
              <a:t>Management:</a:t>
            </a:r>
            <a:r>
              <a:rPr lang="en" sz="1600"/>
              <a:t> ESP Device Management and ThingSpeak Management</a:t>
            </a:r>
            <a:endParaRPr sz="16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7"/>
          <p:cNvSpPr txBox="1"/>
          <p:nvPr>
            <p:ph type="title"/>
          </p:nvPr>
        </p:nvSpPr>
        <p:spPr>
          <a:xfrm>
            <a:off x="847400" y="569775"/>
            <a:ext cx="6276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4444"/>
              <a:buNone/>
            </a:pPr>
            <a:r>
              <a:rPr lang="en"/>
              <a:t>STEP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9: </a:t>
            </a:r>
            <a:r>
              <a:rPr lang="en"/>
              <a:t>Device and component Integration</a:t>
            </a:r>
            <a:endParaRPr sz="2000"/>
          </a:p>
        </p:txBody>
      </p:sp>
      <p:pic>
        <p:nvPicPr>
          <p:cNvPr id="183" name="Google Shape;183;p17"/>
          <p:cNvPicPr preferRelativeResize="0"/>
          <p:nvPr/>
        </p:nvPicPr>
        <p:blipFill rotWithShape="1">
          <a:blip r:embed="rId3">
            <a:alphaModFix/>
          </a:blip>
          <a:srcRect b="0" l="0" r="26105" t="21507"/>
          <a:stretch/>
        </p:blipFill>
        <p:spPr>
          <a:xfrm>
            <a:off x="847400" y="1314612"/>
            <a:ext cx="5730125" cy="342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8"/>
          <p:cNvSpPr txBox="1"/>
          <p:nvPr>
            <p:ph type="title"/>
          </p:nvPr>
        </p:nvSpPr>
        <p:spPr>
          <a:xfrm>
            <a:off x="492975" y="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STEP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10: </a:t>
            </a:r>
            <a:r>
              <a:rPr lang="en"/>
              <a:t>Application Development</a:t>
            </a:r>
            <a:endParaRPr/>
          </a:p>
        </p:txBody>
      </p:sp>
      <p:sp>
        <p:nvSpPr>
          <p:cNvPr id="189" name="Google Shape;189;p1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/>
          </a:p>
        </p:txBody>
      </p:sp>
      <p:pic>
        <p:nvPicPr>
          <p:cNvPr id="190" name="Google Shape;19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9999" y="535200"/>
            <a:ext cx="7767624" cy="4549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9"/>
          <p:cNvSpPr txBox="1"/>
          <p:nvPr>
            <p:ph type="title"/>
          </p:nvPr>
        </p:nvSpPr>
        <p:spPr>
          <a:xfrm>
            <a:off x="727800" y="1947150"/>
            <a:ext cx="7688400" cy="12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56338"/>
              <a:buNone/>
            </a:pPr>
            <a:r>
              <a:rPr lang="en" sz="7100"/>
              <a:t>THANK YOU</a:t>
            </a:r>
            <a:endParaRPr sz="7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