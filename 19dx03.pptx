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70" r:id="rId15"/>
    <p:sldId id="271" r:id="rId16"/>
    <p:sldId id="273" r:id="rId17"/>
    <p:sldId id="272" r:id="rId18"/>
    <p:sldId id="274" r:id="rId19"/>
    <p:sldId id="275" r:id="rId20"/>
    <p:sldId id="268" r:id="rId21"/>
  </p:sldIdLst>
  <p:sldSz cx="18288000" cy="10287000"/>
  <p:notesSz cx="6858000" cy="9144000"/>
  <p:embeddedFontLst>
    <p:embeddedFont>
      <p:font typeface="Arimo" panose="020B0604020202020204" pitchFamily="34" charset="0"/>
      <p:regular r:id="rId22"/>
    </p:embeddedFont>
    <p:embeddedFont>
      <p:font typeface="Bukhari Script" pitchFamily="2" charset="0"/>
      <p:regular r:id="rId23"/>
    </p:embeddedFont>
    <p:embeddedFont>
      <p:font typeface="Calibri" panose="020F0502020204030204" pitchFamily="34" charset="0"/>
      <p:regular r:id="rId24"/>
      <p:bold r:id="rId25"/>
      <p:italic r:id="rId26"/>
      <p:boldItalic r:id="rId27"/>
    </p:embeddedFont>
    <p:embeddedFont>
      <p:font typeface="Open Sans" panose="020B0606030504020204" pitchFamily="34" charset="0"/>
      <p:regular r:id="rId28"/>
      <p:bold r:id="rId29"/>
      <p:italic r:id="rId30"/>
      <p:boldItalic r:id="rId31"/>
    </p:embeddedFont>
    <p:embeddedFont>
      <p:font typeface="Open Sans Bold" panose="020B0806030504020204" pitchFamily="34" charset="0"/>
      <p:regular r:id="rId32"/>
    </p:embeddedFont>
    <p:embeddedFont>
      <p:font typeface="Open Sans Light" panose="020B0306030504020204" pitchFamily="34" charset="0"/>
      <p:regular r:id="rId33"/>
      <p:italic r:id="rId34"/>
    </p:embeddedFont>
    <p:embeddedFont>
      <p:font typeface="Open Sans Light Bold" panose="020B0806030504020204" pitchFamily="34"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font" Target="fonts/font5.fntdata" /><Relationship Id="rId39"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font" Target="fonts/font13.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4.fntdata" /><Relationship Id="rId33" Type="http://schemas.openxmlformats.org/officeDocument/2006/relationships/font" Target="fonts/font12.fntdata" /><Relationship Id="rId38"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font" Target="fonts/font8.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3.fntdata" /><Relationship Id="rId32" Type="http://schemas.openxmlformats.org/officeDocument/2006/relationships/font" Target="fonts/font11.fntdata" /><Relationship Id="rId37"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2.fntdata" /><Relationship Id="rId28" Type="http://schemas.openxmlformats.org/officeDocument/2006/relationships/font" Target="fonts/font7.fntdata" /><Relationship Id="rId36"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font" Target="fonts/font10.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1.fntdata" /><Relationship Id="rId27" Type="http://schemas.openxmlformats.org/officeDocument/2006/relationships/font" Target="fonts/font6.fntdata" /><Relationship Id="rId30" Type="http://schemas.openxmlformats.org/officeDocument/2006/relationships/font" Target="fonts/font9.fntdata" /><Relationship Id="rId35" Type="http://schemas.openxmlformats.org/officeDocument/2006/relationships/font" Target="fonts/font14.fntdata"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image" Target="../media/image3.emf" /><Relationship Id="rId1" Type="http://schemas.openxmlformats.org/officeDocument/2006/relationships/slideLayout" Target="../slideLayouts/slideLayout3.xml" /></Relationships>
</file>

<file path=ppt/slides/_rels/slide1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6.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6.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077700" y="0"/>
            <a:ext cx="6210300" cy="10287000"/>
          </a:xfrm>
          <a:prstGeom prst="rect">
            <a:avLst/>
          </a:prstGeom>
          <a:solidFill>
            <a:srgbClr val="EBEBEB"/>
          </a:solidFill>
        </p:spPr>
      </p:sp>
      <p:pic>
        <p:nvPicPr>
          <p:cNvPr id="3" name="Picture 3"/>
          <p:cNvPicPr>
            <a:picLocks noChangeAspect="1"/>
          </p:cNvPicPr>
          <p:nvPr/>
        </p:nvPicPr>
        <p:blipFill>
          <a:blip r:embed="rId2"/>
          <a:srcRect l="11845" r="7385"/>
          <a:stretch>
            <a:fillRect/>
          </a:stretch>
        </p:blipFill>
        <p:spPr>
          <a:xfrm>
            <a:off x="12077700" y="1"/>
            <a:ext cx="6210300" cy="10287000"/>
          </a:xfrm>
          <a:prstGeom prst="rect">
            <a:avLst/>
          </a:prstGeom>
        </p:spPr>
      </p:pic>
      <p:sp>
        <p:nvSpPr>
          <p:cNvPr id="4" name="TextBox 4"/>
          <p:cNvSpPr txBox="1"/>
          <p:nvPr/>
        </p:nvSpPr>
        <p:spPr>
          <a:xfrm>
            <a:off x="381000" y="2224153"/>
            <a:ext cx="11540174" cy="4197559"/>
          </a:xfrm>
          <a:prstGeom prst="rect">
            <a:avLst/>
          </a:prstGeom>
        </p:spPr>
        <p:txBody>
          <a:bodyPr wrap="square" lIns="0" tIns="0" rIns="0" bIns="0" rtlCol="0" anchor="t">
            <a:spAutoFit/>
          </a:bodyPr>
          <a:lstStyle/>
          <a:p>
            <a:pPr>
              <a:lnSpc>
                <a:spcPts val="4680"/>
              </a:lnSpc>
            </a:pPr>
            <a:r>
              <a:rPr lang="en-US" sz="3900" spc="-78" dirty="0">
                <a:solidFill>
                  <a:srgbClr val="191919"/>
                </a:solidFill>
                <a:latin typeface="Arial" panose="020B0604020202020204" pitchFamily="34" charset="0"/>
                <a:cs typeface="Arial" panose="020B0604020202020204" pitchFamily="34" charset="0"/>
              </a:rPr>
              <a:t>Assignment Topic :</a:t>
            </a:r>
            <a:r>
              <a:rPr lang="en-US" sz="3900" spc="-78" dirty="0">
                <a:solidFill>
                  <a:srgbClr val="191919"/>
                </a:solidFill>
                <a:latin typeface="Open Sans Light" panose="020B0306030504020204" pitchFamily="34" charset="0"/>
                <a:ea typeface="Open Sans Light" panose="020B0306030504020204" pitchFamily="34" charset="0"/>
                <a:cs typeface="Open Sans Light" panose="020B0306030504020204" pitchFamily="34" charset="0"/>
              </a:rPr>
              <a:t> communication system using publish subscribe</a:t>
            </a:r>
          </a:p>
          <a:p>
            <a:pPr>
              <a:lnSpc>
                <a:spcPts val="4680"/>
              </a:lnSpc>
            </a:pPr>
            <a:r>
              <a:rPr lang="en-US" sz="3900" spc="-78" dirty="0">
                <a:solidFill>
                  <a:srgbClr val="191919"/>
                </a:solidFill>
                <a:latin typeface="Arial" panose="020B0604020202020204" pitchFamily="34" charset="0"/>
                <a:cs typeface="Arial" panose="020B0604020202020204" pitchFamily="34" charset="0"/>
              </a:rPr>
              <a:t>Course name : </a:t>
            </a:r>
            <a:r>
              <a:rPr lang="en-US" sz="3900" spc="-78" dirty="0">
                <a:solidFill>
                  <a:srgbClr val="191919"/>
                </a:solidFill>
                <a:latin typeface="Open Sans Light" panose="020B0306030504020204" pitchFamily="34" charset="0"/>
                <a:ea typeface="Open Sans Light" panose="020B0306030504020204" pitchFamily="34" charset="0"/>
                <a:cs typeface="Open Sans Light" panose="020B0306030504020204" pitchFamily="34" charset="0"/>
              </a:rPr>
              <a:t>Internet of things</a:t>
            </a:r>
          </a:p>
          <a:p>
            <a:pPr>
              <a:lnSpc>
                <a:spcPts val="4680"/>
              </a:lnSpc>
            </a:pPr>
            <a:r>
              <a:rPr lang="en-US" sz="3900" spc="-78" dirty="0">
                <a:solidFill>
                  <a:srgbClr val="191919"/>
                </a:solidFill>
                <a:latin typeface="Arial" panose="020B0604020202020204" pitchFamily="34" charset="0"/>
                <a:cs typeface="Arial" panose="020B0604020202020204" pitchFamily="34" charset="0"/>
              </a:rPr>
              <a:t>Course code : </a:t>
            </a:r>
            <a:r>
              <a:rPr lang="en-US" sz="3900" spc="-78" dirty="0">
                <a:solidFill>
                  <a:srgbClr val="191919"/>
                </a:solidFill>
                <a:latin typeface="Open Sans Light" panose="020B0306030504020204" pitchFamily="34" charset="0"/>
                <a:ea typeface="Open Sans Light" panose="020B0306030504020204" pitchFamily="34" charset="0"/>
                <a:cs typeface="Open Sans Light" panose="020B0306030504020204" pitchFamily="34" charset="0"/>
              </a:rPr>
              <a:t>Z18602</a:t>
            </a:r>
          </a:p>
          <a:p>
            <a:pPr>
              <a:lnSpc>
                <a:spcPts val="4680"/>
              </a:lnSpc>
            </a:pPr>
            <a:r>
              <a:rPr lang="en-US" sz="3900" spc="-78" dirty="0">
                <a:solidFill>
                  <a:srgbClr val="191919"/>
                </a:solidFill>
                <a:latin typeface="Arial" panose="020B0604020202020204" pitchFamily="34" charset="0"/>
                <a:cs typeface="Arial" panose="020B0604020202020204" pitchFamily="34" charset="0"/>
              </a:rPr>
              <a:t>Review on paper : </a:t>
            </a:r>
            <a:r>
              <a:rPr lang="en-US" sz="3900" spc="-78" dirty="0">
                <a:solidFill>
                  <a:srgbClr val="191919"/>
                </a:solidFill>
                <a:latin typeface="Open Sans Light" panose="020B0306030504020204" pitchFamily="34" charset="0"/>
                <a:ea typeface="Open Sans Light" panose="020B0306030504020204" pitchFamily="34" charset="0"/>
                <a:cs typeface="Open Sans Light" panose="020B0306030504020204" pitchFamily="34" charset="0"/>
              </a:rPr>
              <a:t>IOT communication system using publish subscribe by IEEE</a:t>
            </a:r>
          </a:p>
          <a:p>
            <a:pPr>
              <a:lnSpc>
                <a:spcPts val="4680"/>
              </a:lnSpc>
            </a:pPr>
            <a:endParaRPr lang="en-US" sz="3900" spc="-78" dirty="0">
              <a:solidFill>
                <a:srgbClr val="191919"/>
              </a:solidFill>
              <a:latin typeface="Open Sans Light"/>
            </a:endParaRPr>
          </a:p>
        </p:txBody>
      </p:sp>
      <p:sp>
        <p:nvSpPr>
          <p:cNvPr id="5" name="TextBox 5"/>
          <p:cNvSpPr txBox="1"/>
          <p:nvPr/>
        </p:nvSpPr>
        <p:spPr>
          <a:xfrm>
            <a:off x="8382000" y="8062847"/>
            <a:ext cx="3539174" cy="1657350"/>
          </a:xfrm>
          <a:prstGeom prst="rect">
            <a:avLst/>
          </a:prstGeom>
        </p:spPr>
        <p:txBody>
          <a:bodyPr lIns="0" tIns="0" rIns="0" bIns="0" rtlCol="0" anchor="t">
            <a:spAutoFit/>
          </a:bodyPr>
          <a:lstStyle/>
          <a:p>
            <a:pPr>
              <a:lnSpc>
                <a:spcPts val="4357"/>
              </a:lnSpc>
            </a:pPr>
            <a:r>
              <a:rPr lang="en-US" sz="3630" spc="-72" dirty="0">
                <a:solidFill>
                  <a:srgbClr val="191919"/>
                </a:solidFill>
                <a:latin typeface="Open Sans Light Bold"/>
              </a:rPr>
              <a:t>presentation by </a:t>
            </a:r>
            <a:r>
              <a:rPr lang="en-US" sz="3630" spc="-72" dirty="0">
                <a:solidFill>
                  <a:srgbClr val="191919"/>
                </a:solidFill>
                <a:latin typeface="Open Sans Light"/>
              </a:rPr>
              <a:t>V.balaji</a:t>
            </a:r>
          </a:p>
          <a:p>
            <a:pPr>
              <a:lnSpc>
                <a:spcPts val="4357"/>
              </a:lnSpc>
            </a:pPr>
            <a:r>
              <a:rPr lang="en-US" sz="3630" spc="-72" dirty="0">
                <a:solidFill>
                  <a:srgbClr val="191919"/>
                </a:solidFill>
                <a:latin typeface="Open Sans Light"/>
              </a:rPr>
              <a:t>19dx03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4228774"/>
            <a:ext cx="16230600" cy="1829451"/>
          </a:xfrm>
          <a:prstGeom prst="rect">
            <a:avLst/>
          </a:prstGeom>
        </p:spPr>
        <p:txBody>
          <a:bodyPr lIns="0" tIns="0" rIns="0" bIns="0" rtlCol="0" anchor="t">
            <a:spAutoFit/>
          </a:bodyPr>
          <a:lstStyle/>
          <a:p>
            <a:pPr algn="ctr">
              <a:lnSpc>
                <a:spcPts val="7363"/>
              </a:lnSpc>
            </a:pPr>
            <a:r>
              <a:rPr lang="en-US" sz="5259" dirty="0">
                <a:solidFill>
                  <a:srgbClr val="000000"/>
                </a:solidFill>
                <a:latin typeface="Open Sans Bold"/>
              </a:rPr>
              <a:t>IOT communication system using publish subscribe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524515"/>
            <a:ext cx="11129343" cy="903594"/>
          </a:xfrm>
          <a:prstGeom prst="rect">
            <a:avLst/>
          </a:prstGeom>
        </p:spPr>
        <p:txBody>
          <a:bodyPr lIns="0" tIns="0" rIns="0" bIns="0" rtlCol="0" anchor="t">
            <a:spAutoFit/>
          </a:bodyPr>
          <a:lstStyle/>
          <a:p>
            <a:pPr algn="ctr">
              <a:lnSpc>
                <a:spcPts val="7420"/>
              </a:lnSpc>
            </a:pPr>
            <a:r>
              <a:rPr lang="en-US" sz="5300" dirty="0">
                <a:solidFill>
                  <a:srgbClr val="000000"/>
                </a:solidFill>
                <a:latin typeface="Open Sans Bold"/>
              </a:rPr>
              <a:t>IOT - communication model </a:t>
            </a:r>
          </a:p>
        </p:txBody>
      </p:sp>
      <p:sp>
        <p:nvSpPr>
          <p:cNvPr id="3" name="TextBox 3"/>
          <p:cNvSpPr txBox="1"/>
          <p:nvPr/>
        </p:nvSpPr>
        <p:spPr>
          <a:xfrm>
            <a:off x="1513506" y="2311471"/>
            <a:ext cx="13491253" cy="1907713"/>
          </a:xfrm>
          <a:prstGeom prst="rect">
            <a:avLst/>
          </a:prstGeom>
        </p:spPr>
        <p:txBody>
          <a:bodyPr lIns="0" tIns="0" rIns="0" bIns="0" rtlCol="0" anchor="t">
            <a:spAutoFit/>
          </a:bodyPr>
          <a:lstStyle/>
          <a:p>
            <a:pPr algn="just">
              <a:lnSpc>
                <a:spcPts val="5143"/>
              </a:lnSpc>
            </a:pPr>
            <a:r>
              <a:rPr lang="en-US" sz="3428" dirty="0">
                <a:solidFill>
                  <a:srgbClr val="000000"/>
                </a:solidFill>
                <a:latin typeface="Open Sans Light"/>
              </a:rPr>
              <a:t>Communication models used in IoT have great value. The IoTs allow people and things to be connected any time, any space, with anything and anyone, using any network and any service.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52500"/>
            <a:ext cx="7784306" cy="662940"/>
          </a:xfrm>
          <a:prstGeom prst="rect">
            <a:avLst/>
          </a:prstGeom>
        </p:spPr>
        <p:txBody>
          <a:bodyPr lIns="0" tIns="0" rIns="0" bIns="0" rtlCol="0" anchor="t">
            <a:spAutoFit/>
          </a:bodyPr>
          <a:lstStyle/>
          <a:p>
            <a:pPr algn="ctr">
              <a:lnSpc>
                <a:spcPts val="5459"/>
              </a:lnSpc>
            </a:pPr>
            <a:r>
              <a:rPr lang="en-US" sz="3899" dirty="0">
                <a:solidFill>
                  <a:srgbClr val="000000"/>
                </a:solidFill>
                <a:latin typeface="Open Sans Light Bold"/>
              </a:rPr>
              <a:t>Types of Communication Model</a:t>
            </a:r>
          </a:p>
        </p:txBody>
      </p:sp>
      <p:sp>
        <p:nvSpPr>
          <p:cNvPr id="3" name="TextBox 3"/>
          <p:cNvSpPr txBox="1"/>
          <p:nvPr/>
        </p:nvSpPr>
        <p:spPr>
          <a:xfrm>
            <a:off x="3881193" y="2625090"/>
            <a:ext cx="5830371" cy="2565126"/>
          </a:xfrm>
          <a:prstGeom prst="rect">
            <a:avLst/>
          </a:prstGeom>
        </p:spPr>
        <p:txBody>
          <a:bodyPr lIns="0" tIns="0" rIns="0" bIns="0" rtlCol="0" anchor="t">
            <a:spAutoFit/>
          </a:bodyPr>
          <a:lstStyle/>
          <a:p>
            <a:pPr>
              <a:lnSpc>
                <a:spcPts val="5099"/>
              </a:lnSpc>
            </a:pPr>
            <a:r>
              <a:rPr lang="en-US" sz="3399" dirty="0">
                <a:solidFill>
                  <a:srgbClr val="000000"/>
                </a:solidFill>
                <a:latin typeface="Open Sans Light"/>
              </a:rPr>
              <a:t>1. Request &amp; Response Model</a:t>
            </a:r>
          </a:p>
          <a:p>
            <a:pPr>
              <a:lnSpc>
                <a:spcPts val="5099"/>
              </a:lnSpc>
            </a:pPr>
            <a:r>
              <a:rPr lang="en-US" sz="3399" dirty="0">
                <a:solidFill>
                  <a:srgbClr val="000000"/>
                </a:solidFill>
                <a:latin typeface="Open Sans Light"/>
              </a:rPr>
              <a:t>2. Publish-Subscribe Model</a:t>
            </a:r>
          </a:p>
          <a:p>
            <a:pPr>
              <a:lnSpc>
                <a:spcPts val="5099"/>
              </a:lnSpc>
            </a:pPr>
            <a:r>
              <a:rPr lang="en-US" sz="3399" dirty="0">
                <a:solidFill>
                  <a:srgbClr val="000000"/>
                </a:solidFill>
                <a:latin typeface="Open Sans Light"/>
              </a:rPr>
              <a:t>3. Push-Pull Model</a:t>
            </a:r>
          </a:p>
          <a:p>
            <a:pPr>
              <a:lnSpc>
                <a:spcPts val="5099"/>
              </a:lnSpc>
            </a:pPr>
            <a:r>
              <a:rPr lang="en-US" sz="3399" dirty="0">
                <a:solidFill>
                  <a:srgbClr val="000000"/>
                </a:solidFill>
                <a:latin typeface="Open Sans Light"/>
              </a:rPr>
              <a:t>4. Exclusive Pair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21234" y="2097154"/>
            <a:ext cx="7484566" cy="580390"/>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Open Sans Light Bold"/>
              </a:rPr>
              <a:t>PUBLISHER SUBSCRIBER MODEL</a:t>
            </a:r>
          </a:p>
        </p:txBody>
      </p:sp>
      <p:sp>
        <p:nvSpPr>
          <p:cNvPr id="3" name="TextBox 3"/>
          <p:cNvSpPr txBox="1"/>
          <p:nvPr/>
        </p:nvSpPr>
        <p:spPr>
          <a:xfrm>
            <a:off x="821234" y="3219577"/>
            <a:ext cx="17079342" cy="2895321"/>
          </a:xfrm>
          <a:prstGeom prst="rect">
            <a:avLst/>
          </a:prstGeom>
        </p:spPr>
        <p:txBody>
          <a:bodyPr lIns="0" tIns="0" rIns="0" bIns="0" rtlCol="0" anchor="t">
            <a:spAutoFit/>
          </a:bodyPr>
          <a:lstStyle/>
          <a:p>
            <a:pPr marL="726406" lvl="1" indent="-363203" algn="just">
              <a:lnSpc>
                <a:spcPts val="5820"/>
              </a:lnSpc>
              <a:buFont typeface="Arial"/>
              <a:buChar char="•"/>
            </a:pPr>
            <a:r>
              <a:rPr lang="en-US" sz="3364">
                <a:solidFill>
                  <a:srgbClr val="000000"/>
                </a:solidFill>
                <a:latin typeface="Open Sans Light"/>
              </a:rPr>
              <a:t>Publish/Subscribe is a communication mechanism or paradigm for distributed systems.</a:t>
            </a:r>
          </a:p>
          <a:p>
            <a:pPr marL="726406" lvl="1" indent="-363203" algn="just">
              <a:lnSpc>
                <a:spcPts val="5820"/>
              </a:lnSpc>
              <a:buFont typeface="Arial"/>
              <a:buChar char="•"/>
            </a:pPr>
            <a:r>
              <a:rPr lang="en-US" sz="3364">
                <a:solidFill>
                  <a:srgbClr val="000000"/>
                </a:solidFill>
                <a:latin typeface="Open Sans Light"/>
              </a:rPr>
              <a:t>Each node that is on a publish/subscribe network communicates with each other by publishing data and receiving  data anonymously.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81000" y="2705100"/>
            <a:ext cx="12630745" cy="1180465"/>
          </a:xfrm>
          <a:prstGeom prst="rect">
            <a:avLst/>
          </a:prstGeom>
        </p:spPr>
        <p:txBody>
          <a:bodyPr lIns="0" tIns="0" rIns="0" bIns="0" rtlCol="0" anchor="t">
            <a:spAutoFit/>
          </a:bodyPr>
          <a:lstStyle/>
          <a:p>
            <a:pPr marL="734059" lvl="1" indent="-367030" algn="just">
              <a:lnSpc>
                <a:spcPts val="4759"/>
              </a:lnSpc>
              <a:buFont typeface="Arial"/>
              <a:buChar char="•"/>
            </a:pPr>
            <a:r>
              <a:rPr lang="en-US" sz="3399" dirty="0">
                <a:solidFill>
                  <a:srgbClr val="000000"/>
                </a:solidFill>
                <a:latin typeface="Open Sans Light"/>
              </a:rPr>
              <a:t>The publish/subscribe mechanism embraces three principles.</a:t>
            </a:r>
          </a:p>
          <a:p>
            <a:pPr algn="just">
              <a:lnSpc>
                <a:spcPts val="4759"/>
              </a:lnSpc>
            </a:pPr>
            <a:r>
              <a:rPr lang="en-US" sz="3399" dirty="0">
                <a:solidFill>
                  <a:srgbClr val="000000"/>
                </a:solidFill>
                <a:latin typeface="Open Sans Light"/>
              </a:rPr>
              <a:t>       They are</a:t>
            </a:r>
          </a:p>
        </p:txBody>
      </p:sp>
      <p:sp>
        <p:nvSpPr>
          <p:cNvPr id="3" name="TextBox 3"/>
          <p:cNvSpPr txBox="1"/>
          <p:nvPr/>
        </p:nvSpPr>
        <p:spPr>
          <a:xfrm>
            <a:off x="4953000" y="4838700"/>
            <a:ext cx="6879257" cy="2004459"/>
          </a:xfrm>
          <a:prstGeom prst="rect">
            <a:avLst/>
          </a:prstGeom>
        </p:spPr>
        <p:txBody>
          <a:bodyPr lIns="0" tIns="0" rIns="0" bIns="0" rtlCol="0" anchor="t">
            <a:spAutoFit/>
          </a:bodyPr>
          <a:lstStyle/>
          <a:p>
            <a:pPr marL="829965" lvl="1" indent="-414983" algn="just">
              <a:lnSpc>
                <a:spcPts val="5381"/>
              </a:lnSpc>
              <a:buFont typeface="Arial"/>
              <a:buChar char="•"/>
            </a:pPr>
            <a:r>
              <a:rPr lang="en-US" sz="3844" dirty="0">
                <a:solidFill>
                  <a:srgbClr val="000000"/>
                </a:solidFill>
                <a:latin typeface="Open Sans Light"/>
              </a:rPr>
              <a:t>space decoupling</a:t>
            </a:r>
          </a:p>
          <a:p>
            <a:pPr marL="829965" lvl="1" indent="-414983" algn="just">
              <a:lnSpc>
                <a:spcPts val="5381"/>
              </a:lnSpc>
              <a:buFont typeface="Arial"/>
              <a:buChar char="•"/>
            </a:pPr>
            <a:r>
              <a:rPr lang="en-US" sz="3844" dirty="0">
                <a:solidFill>
                  <a:srgbClr val="000000"/>
                </a:solidFill>
                <a:latin typeface="Open Sans Light"/>
              </a:rPr>
              <a:t>time decoupling</a:t>
            </a:r>
          </a:p>
          <a:p>
            <a:pPr marL="829965" lvl="1" indent="-414983" algn="just">
              <a:lnSpc>
                <a:spcPts val="5381"/>
              </a:lnSpc>
              <a:buFont typeface="Arial"/>
              <a:buChar char="•"/>
            </a:pPr>
            <a:r>
              <a:rPr lang="en-US" sz="3844" dirty="0">
                <a:solidFill>
                  <a:srgbClr val="000000"/>
                </a:solidFill>
                <a:latin typeface="Open Sans Light"/>
              </a:rPr>
              <a:t>Synchronization decoupling</a:t>
            </a:r>
          </a:p>
        </p:txBody>
      </p:sp>
      <p:sp>
        <p:nvSpPr>
          <p:cNvPr id="5" name="Title 4">
            <a:extLst>
              <a:ext uri="{FF2B5EF4-FFF2-40B4-BE49-F238E27FC236}">
                <a16:creationId xmlns:a16="http://schemas.microsoft.com/office/drawing/2014/main" id="{E1A0B78B-8D1F-4CAB-B1A6-855ABFFC0989}"/>
              </a:ext>
            </a:extLst>
          </p:cNvPr>
          <p:cNvSpPr>
            <a:spLocks noGrp="1"/>
          </p:cNvSpPr>
          <p:nvPr>
            <p:ph type="title"/>
          </p:nvPr>
        </p:nvSpPr>
        <p:spPr>
          <a:xfrm>
            <a:off x="381000" y="1180465"/>
            <a:ext cx="4419600" cy="1143000"/>
          </a:xfrm>
        </p:spPr>
        <p:txBody>
          <a:bodyPr>
            <a:noAutofit/>
          </a:bodyPr>
          <a:lstStyle/>
          <a:p>
            <a:r>
              <a:rPr lang="en-US" sz="5200" b="1" dirty="0">
                <a:latin typeface="Open Sans Bold" panose="020B0806030504020204" charset="0"/>
                <a:ea typeface="Open Sans Bold" panose="020B0806030504020204" charset="0"/>
                <a:cs typeface="Open Sans Bold" panose="020B0806030504020204" charset="0"/>
              </a:rPr>
              <a:t>Principles</a:t>
            </a:r>
            <a:endParaRPr lang="en-IN" sz="5200" b="1" dirty="0">
              <a:latin typeface="Open Sans Bold" panose="020B0806030504020204" charset="0"/>
              <a:ea typeface="Open Sans Bold" panose="020B0806030504020204" charset="0"/>
              <a:cs typeface="Open Sans Bold" panose="020B0806030504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3400" y="1257300"/>
            <a:ext cx="6350437" cy="874214"/>
          </a:xfrm>
          <a:prstGeom prst="rect">
            <a:avLst/>
          </a:prstGeom>
        </p:spPr>
        <p:txBody>
          <a:bodyPr wrap="square" lIns="0" tIns="0" rIns="0" bIns="0" rtlCol="0" anchor="t">
            <a:spAutoFit/>
          </a:bodyPr>
          <a:lstStyle/>
          <a:p>
            <a:pPr algn="ctr">
              <a:lnSpc>
                <a:spcPts val="7279"/>
              </a:lnSpc>
            </a:pPr>
            <a:r>
              <a:rPr lang="en-US" sz="5199" dirty="0">
                <a:solidFill>
                  <a:srgbClr val="000000"/>
                </a:solidFill>
                <a:latin typeface="Open Sans Bold"/>
              </a:rPr>
              <a:t>Space decoupling</a:t>
            </a:r>
          </a:p>
        </p:txBody>
      </p:sp>
      <p:sp>
        <p:nvSpPr>
          <p:cNvPr id="3" name="TextBox 3"/>
          <p:cNvSpPr txBox="1"/>
          <p:nvPr/>
        </p:nvSpPr>
        <p:spPr>
          <a:xfrm>
            <a:off x="1028700" y="2973630"/>
            <a:ext cx="15991151" cy="2518410"/>
          </a:xfrm>
          <a:prstGeom prst="rect">
            <a:avLst/>
          </a:prstGeom>
        </p:spPr>
        <p:txBody>
          <a:bodyPr lIns="0" tIns="0" rIns="0" bIns="0" rtlCol="0" anchor="t">
            <a:spAutoFit/>
          </a:bodyPr>
          <a:lstStyle/>
          <a:p>
            <a:pPr marL="734059" lvl="1" indent="-367030" algn="just">
              <a:lnSpc>
                <a:spcPts val="5099"/>
              </a:lnSpc>
              <a:buFont typeface="Arial"/>
              <a:buChar char="•"/>
            </a:pPr>
            <a:r>
              <a:rPr lang="en-US" sz="3399" dirty="0">
                <a:solidFill>
                  <a:srgbClr val="000000"/>
                </a:solidFill>
                <a:latin typeface="Open Sans Light"/>
              </a:rPr>
              <a:t>space decoupling means that the interaction between publishers and subscriber occurs anonymously.</a:t>
            </a:r>
          </a:p>
          <a:p>
            <a:pPr marL="734059" lvl="1" indent="-367030" algn="just">
              <a:lnSpc>
                <a:spcPts val="5099"/>
              </a:lnSpc>
              <a:buFont typeface="Arial"/>
              <a:buChar char="•"/>
            </a:pPr>
            <a:r>
              <a:rPr lang="en-US" sz="3399" dirty="0">
                <a:solidFill>
                  <a:srgbClr val="000000"/>
                </a:solidFill>
                <a:latin typeface="Open Sans Light"/>
              </a:rPr>
              <a:t>The publishers and subscribers do not know each other's information about each other.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162943"/>
            <a:ext cx="16423257" cy="4527201"/>
          </a:xfrm>
          <a:prstGeom prst="rect">
            <a:avLst/>
          </a:prstGeom>
        </p:spPr>
        <p:txBody>
          <a:bodyPr lIns="0" tIns="0" rIns="0" bIns="0" rtlCol="0" anchor="t">
            <a:spAutoFit/>
          </a:bodyPr>
          <a:lstStyle/>
          <a:p>
            <a:pPr marL="733880" lvl="1" indent="-366940" algn="just">
              <a:lnSpc>
                <a:spcPts val="5098"/>
              </a:lnSpc>
              <a:buFont typeface="Arial"/>
              <a:buChar char="•"/>
            </a:pPr>
            <a:r>
              <a:rPr lang="en-US" sz="3399" dirty="0">
                <a:solidFill>
                  <a:srgbClr val="000000"/>
                </a:solidFill>
                <a:latin typeface="Open Sans Light"/>
              </a:rPr>
              <a:t>Time decoupling means that the publisher and subscriber should not be active at the same time.</a:t>
            </a:r>
          </a:p>
          <a:p>
            <a:pPr marL="733880" lvl="1" indent="-366940" algn="just">
              <a:lnSpc>
                <a:spcPts val="5098"/>
              </a:lnSpc>
              <a:buFont typeface="Arial"/>
              <a:buChar char="•"/>
            </a:pPr>
            <a:r>
              <a:rPr lang="en-US" sz="3399" dirty="0">
                <a:solidFill>
                  <a:srgbClr val="000000"/>
                </a:solidFill>
                <a:latin typeface="Open Sans Light"/>
              </a:rPr>
              <a:t>The publisher can publish some events even though the subscribers are not currently online.</a:t>
            </a:r>
          </a:p>
          <a:p>
            <a:pPr marL="733880" lvl="1" indent="-366940" algn="just">
              <a:lnSpc>
                <a:spcPts val="5098"/>
              </a:lnSpc>
              <a:buFont typeface="Arial"/>
              <a:buChar char="•"/>
            </a:pPr>
            <a:r>
              <a:rPr lang="en-US" sz="3399" dirty="0">
                <a:solidFill>
                  <a:srgbClr val="000000"/>
                </a:solidFill>
                <a:latin typeface="Open Sans Light"/>
              </a:rPr>
              <a:t>When the subscriber has been active again, then he will get a notification message will be a new event.</a:t>
            </a:r>
          </a:p>
          <a:p>
            <a:pPr marL="733880" lvl="1" indent="-366940" algn="just">
              <a:lnSpc>
                <a:spcPts val="5098"/>
              </a:lnSpc>
              <a:buFont typeface="Arial"/>
              <a:buChar char="•"/>
            </a:pPr>
            <a:r>
              <a:rPr lang="en-US" sz="3399" dirty="0">
                <a:solidFill>
                  <a:srgbClr val="000000"/>
                </a:solidFill>
                <a:latin typeface="Open Sans Light"/>
              </a:rPr>
              <a:t>The publisher can still produce events even though subscriber is not active.</a:t>
            </a:r>
          </a:p>
        </p:txBody>
      </p:sp>
      <p:sp>
        <p:nvSpPr>
          <p:cNvPr id="3" name="TextBox 3"/>
          <p:cNvSpPr txBox="1"/>
          <p:nvPr/>
        </p:nvSpPr>
        <p:spPr>
          <a:xfrm>
            <a:off x="1028700" y="1409700"/>
            <a:ext cx="5584031" cy="887095"/>
          </a:xfrm>
          <a:prstGeom prst="rect">
            <a:avLst/>
          </a:prstGeom>
        </p:spPr>
        <p:txBody>
          <a:bodyPr lIns="0" tIns="0" rIns="0" bIns="0" rtlCol="0" anchor="t">
            <a:spAutoFit/>
          </a:bodyPr>
          <a:lstStyle/>
          <a:p>
            <a:pPr algn="ctr">
              <a:lnSpc>
                <a:spcPts val="7279"/>
              </a:lnSpc>
            </a:pPr>
            <a:r>
              <a:rPr lang="en-US" sz="5199" dirty="0">
                <a:solidFill>
                  <a:srgbClr val="000000"/>
                </a:solidFill>
                <a:latin typeface="Open Sans Bold"/>
              </a:rPr>
              <a:t>Time decoupling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33450"/>
            <a:ext cx="9704865" cy="887095"/>
          </a:xfrm>
          <a:prstGeom prst="rect">
            <a:avLst/>
          </a:prstGeom>
        </p:spPr>
        <p:txBody>
          <a:bodyPr lIns="0" tIns="0" rIns="0" bIns="0" rtlCol="0" anchor="t">
            <a:spAutoFit/>
          </a:bodyPr>
          <a:lstStyle/>
          <a:p>
            <a:pPr algn="ctr">
              <a:lnSpc>
                <a:spcPts val="7279"/>
              </a:lnSpc>
            </a:pPr>
            <a:r>
              <a:rPr lang="en-US" sz="5199" dirty="0">
                <a:solidFill>
                  <a:srgbClr val="000000"/>
                </a:solidFill>
                <a:latin typeface="Open Sans Bold"/>
              </a:rPr>
              <a:t>Synchronization decoupling</a:t>
            </a:r>
          </a:p>
        </p:txBody>
      </p:sp>
      <p:sp>
        <p:nvSpPr>
          <p:cNvPr id="3" name="TextBox 3"/>
          <p:cNvSpPr txBox="1"/>
          <p:nvPr/>
        </p:nvSpPr>
        <p:spPr>
          <a:xfrm>
            <a:off x="1028700" y="3248215"/>
            <a:ext cx="16230600" cy="2419277"/>
          </a:xfrm>
          <a:prstGeom prst="rect">
            <a:avLst/>
          </a:prstGeom>
        </p:spPr>
        <p:txBody>
          <a:bodyPr lIns="0" tIns="0" rIns="0" bIns="0" rtlCol="0" anchor="t">
            <a:spAutoFit/>
          </a:bodyPr>
          <a:lstStyle/>
          <a:p>
            <a:pPr marL="749346" lvl="1" indent="-374673" algn="just">
              <a:lnSpc>
                <a:spcPts val="4859"/>
              </a:lnSpc>
              <a:buFont typeface="Arial"/>
              <a:buChar char="•"/>
            </a:pPr>
            <a:r>
              <a:rPr lang="en-US" sz="3470" dirty="0">
                <a:solidFill>
                  <a:srgbClr val="000000"/>
                </a:solidFill>
                <a:latin typeface="Open Sans Light"/>
              </a:rPr>
              <a:t>publishers are not blocked while producing events, and subscribers can get asynchronously notified of the occurrence of an event while performing some concurrent activity.</a:t>
            </a:r>
          </a:p>
          <a:p>
            <a:pPr algn="just">
              <a:lnSpc>
                <a:spcPts val="4859"/>
              </a:lnSpc>
            </a:pPr>
            <a:endParaRPr lang="en-US" sz="3470" dirty="0">
              <a:solidFill>
                <a:srgbClr val="000000"/>
              </a:solidFill>
              <a:latin typeface="Open Sa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287822"/>
            <a:ext cx="13649933" cy="3844322"/>
          </a:xfrm>
          <a:prstGeom prst="rect">
            <a:avLst/>
          </a:prstGeom>
        </p:spPr>
        <p:txBody>
          <a:bodyPr lIns="0" tIns="0" rIns="0" bIns="0" rtlCol="0" anchor="t">
            <a:spAutoFit/>
          </a:bodyPr>
          <a:lstStyle/>
          <a:p>
            <a:pPr algn="just">
              <a:lnSpc>
                <a:spcPts val="5099"/>
              </a:lnSpc>
            </a:pPr>
            <a:r>
              <a:rPr lang="en-US" sz="3399" dirty="0">
                <a:solidFill>
                  <a:srgbClr val="000000"/>
                </a:solidFill>
                <a:latin typeface="Open Sans Light"/>
              </a:rPr>
              <a:t>This system uses the Publish-Subscribe system which consists of 3 parts, namely </a:t>
            </a:r>
          </a:p>
          <a:p>
            <a:pPr marL="734059" lvl="1" indent="-367030" algn="just">
              <a:lnSpc>
                <a:spcPts val="5099"/>
              </a:lnSpc>
              <a:buFont typeface="Arial"/>
              <a:buChar char="•"/>
            </a:pPr>
            <a:r>
              <a:rPr lang="en-US" sz="3399"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Publisher </a:t>
            </a:r>
            <a:r>
              <a:rPr lang="en-US" sz="3399" dirty="0">
                <a:solidFill>
                  <a:srgbClr val="000000"/>
                </a:solidFill>
                <a:latin typeface="Arimo"/>
              </a:rPr>
              <a:t> </a:t>
            </a:r>
          </a:p>
          <a:p>
            <a:pPr marL="734059" lvl="1" indent="-367030" algn="just">
              <a:lnSpc>
                <a:spcPts val="5099"/>
              </a:lnSpc>
              <a:buFont typeface="Arial"/>
              <a:buChar char="•"/>
            </a:pPr>
            <a:r>
              <a:rPr lang="en-US" sz="3399"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Broker  </a:t>
            </a:r>
          </a:p>
          <a:p>
            <a:pPr marL="734059" lvl="1" indent="-367030" algn="just">
              <a:lnSpc>
                <a:spcPts val="5099"/>
              </a:lnSpc>
              <a:buFont typeface="Arial"/>
              <a:buChar char="•"/>
            </a:pPr>
            <a:r>
              <a:rPr lang="en-US" sz="3399" dirty="0">
                <a:solidFill>
                  <a:srgbClr val="000000"/>
                </a:solidFill>
                <a:latin typeface="Open Sans Light"/>
              </a:rPr>
              <a:t>subscribe</a:t>
            </a:r>
          </a:p>
          <a:p>
            <a:pPr algn="just">
              <a:lnSpc>
                <a:spcPts val="4759"/>
              </a:lnSpc>
            </a:pPr>
            <a:endParaRPr lang="en-US" sz="3399" dirty="0">
              <a:solidFill>
                <a:srgbClr val="000000"/>
              </a:solidFill>
              <a:latin typeface="Open Sa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33450"/>
            <a:ext cx="3492698" cy="821250"/>
          </a:xfrm>
          <a:prstGeom prst="rect">
            <a:avLst/>
          </a:prstGeom>
        </p:spPr>
        <p:txBody>
          <a:bodyPr wrap="square" lIns="0" tIns="0" rIns="0" bIns="0" rtlCol="0" anchor="t">
            <a:spAutoFit/>
          </a:bodyPr>
          <a:lstStyle/>
          <a:p>
            <a:pPr algn="ctr">
              <a:lnSpc>
                <a:spcPts val="7279"/>
              </a:lnSpc>
            </a:pPr>
            <a:r>
              <a:rPr lang="en-US" sz="3600" dirty="0">
                <a:solidFill>
                  <a:srgbClr val="000000"/>
                </a:solidFill>
                <a:latin typeface="Open Sans Bold"/>
              </a:rPr>
              <a:t>Publishers</a:t>
            </a:r>
          </a:p>
        </p:txBody>
      </p:sp>
      <p:sp>
        <p:nvSpPr>
          <p:cNvPr id="3" name="TextBox 3"/>
          <p:cNvSpPr txBox="1"/>
          <p:nvPr/>
        </p:nvSpPr>
        <p:spPr>
          <a:xfrm>
            <a:off x="2753737" y="2198155"/>
            <a:ext cx="7061954" cy="580390"/>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000000"/>
                </a:solidFill>
                <a:latin typeface="Open Sans Light"/>
              </a:rPr>
              <a:t>publisher are the source of data </a:t>
            </a:r>
          </a:p>
        </p:txBody>
      </p:sp>
      <p:sp>
        <p:nvSpPr>
          <p:cNvPr id="4" name="TextBox 4"/>
          <p:cNvSpPr txBox="1"/>
          <p:nvPr/>
        </p:nvSpPr>
        <p:spPr>
          <a:xfrm>
            <a:off x="1028700" y="3115173"/>
            <a:ext cx="3492698" cy="821250"/>
          </a:xfrm>
          <a:prstGeom prst="rect">
            <a:avLst/>
          </a:prstGeom>
        </p:spPr>
        <p:txBody>
          <a:bodyPr lIns="0" tIns="0" rIns="0" bIns="0" rtlCol="0" anchor="t">
            <a:spAutoFit/>
          </a:bodyPr>
          <a:lstStyle/>
          <a:p>
            <a:pPr algn="ctr">
              <a:lnSpc>
                <a:spcPts val="7279"/>
              </a:lnSpc>
            </a:pPr>
            <a:r>
              <a:rPr lang="en-US" sz="3600" dirty="0">
                <a:solidFill>
                  <a:srgbClr val="000000"/>
                </a:solidFill>
                <a:latin typeface="Open Sans Bold"/>
              </a:rPr>
              <a:t>Subscriber</a:t>
            </a:r>
          </a:p>
        </p:txBody>
      </p:sp>
      <p:sp>
        <p:nvSpPr>
          <p:cNvPr id="5" name="TextBox 5"/>
          <p:cNvSpPr txBox="1"/>
          <p:nvPr/>
        </p:nvSpPr>
        <p:spPr>
          <a:xfrm>
            <a:off x="2775049" y="4546535"/>
            <a:ext cx="14667131" cy="1485663"/>
          </a:xfrm>
          <a:prstGeom prst="rect">
            <a:avLst/>
          </a:prstGeom>
        </p:spPr>
        <p:txBody>
          <a:bodyPr lIns="0" tIns="0" rIns="0" bIns="0" rtlCol="0" anchor="t">
            <a:spAutoFit/>
          </a:bodyPr>
          <a:lstStyle/>
          <a:p>
            <a:pPr marL="734059" lvl="1" indent="-367030" algn="just">
              <a:lnSpc>
                <a:spcPct val="150000"/>
              </a:lnSpc>
              <a:buFont typeface="Arial"/>
              <a:buChar char="•"/>
            </a:pPr>
            <a:r>
              <a:rPr lang="en-US" sz="3399" dirty="0">
                <a:solidFill>
                  <a:srgbClr val="000000"/>
                </a:solidFill>
                <a:latin typeface="Open Sans Light"/>
              </a:rPr>
              <a:t>The subscriber is the party that requests specific data by calling the subscribe function.</a:t>
            </a:r>
          </a:p>
        </p:txBody>
      </p:sp>
      <p:sp>
        <p:nvSpPr>
          <p:cNvPr id="6" name="TextBox 6"/>
          <p:cNvSpPr txBox="1"/>
          <p:nvPr/>
        </p:nvSpPr>
        <p:spPr>
          <a:xfrm>
            <a:off x="1028700" y="6057900"/>
            <a:ext cx="2705100" cy="821250"/>
          </a:xfrm>
          <a:prstGeom prst="rect">
            <a:avLst/>
          </a:prstGeom>
        </p:spPr>
        <p:txBody>
          <a:bodyPr wrap="square" lIns="0" tIns="0" rIns="0" bIns="0" rtlCol="0" anchor="t">
            <a:spAutoFit/>
          </a:bodyPr>
          <a:lstStyle/>
          <a:p>
            <a:pPr algn="ctr">
              <a:lnSpc>
                <a:spcPts val="7279"/>
              </a:lnSpc>
            </a:pPr>
            <a:r>
              <a:rPr lang="en-US" sz="3600" dirty="0">
                <a:solidFill>
                  <a:srgbClr val="000000"/>
                </a:solidFill>
                <a:latin typeface="Open Sans Bold"/>
              </a:rPr>
              <a:t>Broker</a:t>
            </a:r>
          </a:p>
        </p:txBody>
      </p:sp>
      <p:sp>
        <p:nvSpPr>
          <p:cNvPr id="7" name="TextBox 7"/>
          <p:cNvSpPr txBox="1"/>
          <p:nvPr/>
        </p:nvSpPr>
        <p:spPr>
          <a:xfrm>
            <a:off x="2775049" y="7213096"/>
            <a:ext cx="14667131" cy="2270301"/>
          </a:xfrm>
          <a:prstGeom prst="rect">
            <a:avLst/>
          </a:prstGeom>
        </p:spPr>
        <p:txBody>
          <a:bodyPr lIns="0" tIns="0" rIns="0" bIns="0" rtlCol="0" anchor="t">
            <a:spAutoFit/>
          </a:bodyPr>
          <a:lstStyle/>
          <a:p>
            <a:pPr marL="734059" lvl="1" indent="-367030" algn="just">
              <a:lnSpc>
                <a:spcPct val="150000"/>
              </a:lnSpc>
              <a:buFont typeface="Arial"/>
              <a:buChar char="•"/>
            </a:pPr>
            <a:r>
              <a:rPr lang="en-US" sz="3399" dirty="0">
                <a:solidFill>
                  <a:srgbClr val="000000"/>
                </a:solidFill>
                <a:latin typeface="Open Sans Light"/>
              </a:rPr>
              <a:t>Subscripts submitted by the subscriber are addressed to the broker to be managed and forwarded to the data provider who publishes the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04E31C-436F-4B9C-865F-C1AEFF9F35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0" y="2247900"/>
            <a:ext cx="8077200" cy="4267200"/>
          </a:xfrm>
          <a:prstGeom prst="rect">
            <a:avLst/>
          </a:prstGeom>
        </p:spPr>
      </p:pic>
      <p:sp>
        <p:nvSpPr>
          <p:cNvPr id="6" name="Title 5">
            <a:extLst>
              <a:ext uri="{FF2B5EF4-FFF2-40B4-BE49-F238E27FC236}">
                <a16:creationId xmlns:a16="http://schemas.microsoft.com/office/drawing/2014/main" id="{1315B8B0-C866-4226-B819-B1ABB22E4EEA}"/>
              </a:ext>
            </a:extLst>
          </p:cNvPr>
          <p:cNvSpPr>
            <a:spLocks noGrp="1"/>
          </p:cNvSpPr>
          <p:nvPr>
            <p:ph type="ctrTitle"/>
          </p:nvPr>
        </p:nvSpPr>
        <p:spPr>
          <a:xfrm>
            <a:off x="5029200" y="7505700"/>
            <a:ext cx="7772400" cy="1470025"/>
          </a:xfrm>
        </p:spPr>
        <p:txBody>
          <a:bodyPr/>
          <a:lstStyle/>
          <a:p>
            <a:r>
              <a:rPr lang="en-US" dirty="0"/>
              <a:t>Publish subscribe mechanism</a:t>
            </a:r>
            <a:endParaRPr lang="en-IN" dirty="0"/>
          </a:p>
        </p:txBody>
      </p:sp>
    </p:spTree>
    <p:extLst>
      <p:ext uri="{BB962C8B-B14F-4D97-AF65-F5344CB8AC3E}">
        <p14:creationId xmlns:p14="http://schemas.microsoft.com/office/powerpoint/2010/main" val="3015719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96766" y="1409700"/>
            <a:ext cx="8347234" cy="821250"/>
          </a:xfrm>
          <a:prstGeom prst="rect">
            <a:avLst/>
          </a:prstGeom>
        </p:spPr>
        <p:txBody>
          <a:bodyPr lIns="0" tIns="0" rIns="0" bIns="0" rtlCol="0" anchor="t">
            <a:spAutoFit/>
          </a:bodyPr>
          <a:lstStyle/>
          <a:p>
            <a:pPr algn="ctr">
              <a:lnSpc>
                <a:spcPts val="7279"/>
              </a:lnSpc>
            </a:pPr>
            <a:r>
              <a:rPr lang="en-US" sz="3600" b="1" dirty="0">
                <a:solidFill>
                  <a:srgbClr val="000000"/>
                </a:solidFill>
                <a:latin typeface="Open Sans"/>
              </a:rPr>
              <a:t>Task performed by brokers</a:t>
            </a:r>
          </a:p>
        </p:txBody>
      </p:sp>
      <p:sp>
        <p:nvSpPr>
          <p:cNvPr id="3" name="TextBox 3"/>
          <p:cNvSpPr txBox="1"/>
          <p:nvPr/>
        </p:nvSpPr>
        <p:spPr>
          <a:xfrm>
            <a:off x="2248643" y="2902684"/>
            <a:ext cx="15010657" cy="3054939"/>
          </a:xfrm>
          <a:prstGeom prst="rect">
            <a:avLst/>
          </a:prstGeom>
        </p:spPr>
        <p:txBody>
          <a:bodyPr lIns="0" tIns="0" rIns="0" bIns="0" rtlCol="0" anchor="t">
            <a:spAutoFit/>
          </a:bodyPr>
          <a:lstStyle/>
          <a:p>
            <a:pPr marL="734059" lvl="1" indent="-367030" algn="just">
              <a:lnSpc>
                <a:spcPct val="150000"/>
              </a:lnSpc>
              <a:buFont typeface="Arial"/>
              <a:buChar char="•"/>
            </a:pPr>
            <a:r>
              <a:rPr lang="en-US" sz="3399" dirty="0">
                <a:solidFill>
                  <a:srgbClr val="000000"/>
                </a:solidFill>
                <a:latin typeface="Open Sans Light"/>
              </a:rPr>
              <a:t>Stores the subscription</a:t>
            </a:r>
          </a:p>
          <a:p>
            <a:pPr marL="734059" lvl="1" indent="-367030" algn="just">
              <a:lnSpc>
                <a:spcPct val="150000"/>
              </a:lnSpc>
              <a:buFont typeface="Arial"/>
              <a:buChar char="•"/>
            </a:pPr>
            <a:r>
              <a:rPr lang="en-US" sz="3399" dirty="0">
                <a:solidFill>
                  <a:srgbClr val="000000"/>
                </a:solidFill>
                <a:latin typeface="Open Sans Light"/>
              </a:rPr>
              <a:t>Accept and host events published by publishers</a:t>
            </a:r>
          </a:p>
          <a:p>
            <a:pPr marL="734059" lvl="1" indent="-367030" algn="just">
              <a:lnSpc>
                <a:spcPct val="150000"/>
              </a:lnSpc>
              <a:buFont typeface="Arial"/>
              <a:buChar char="•"/>
            </a:pPr>
            <a:r>
              <a:rPr lang="en-US" sz="3399" dirty="0">
                <a:solidFill>
                  <a:srgbClr val="000000"/>
                </a:solidFill>
                <a:latin typeface="Open Sans Light"/>
              </a:rPr>
              <a:t>Connecting the subscriber with the publisher as a qualified data provider provided by the subscriber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52EAF7C-DD9A-4AF1-96BD-DCEFBF69CDD2}"/>
              </a:ext>
            </a:extLst>
          </p:cNvPr>
          <p:cNvPicPr>
            <a:picLocks noChangeAspect="1"/>
          </p:cNvPicPr>
          <p:nvPr/>
        </p:nvPicPr>
        <p:blipFill rotWithShape="1">
          <a:blip r:embed="rId2"/>
          <a:srcRect r="51598"/>
          <a:stretch/>
        </p:blipFill>
        <p:spPr>
          <a:xfrm>
            <a:off x="3556000" y="1714500"/>
            <a:ext cx="10922000" cy="6702136"/>
          </a:xfrm>
          <a:prstGeom prst="rect">
            <a:avLst/>
          </a:prstGeom>
        </p:spPr>
      </p:pic>
      <p:sp>
        <p:nvSpPr>
          <p:cNvPr id="7" name="Title 6">
            <a:extLst>
              <a:ext uri="{FF2B5EF4-FFF2-40B4-BE49-F238E27FC236}">
                <a16:creationId xmlns:a16="http://schemas.microsoft.com/office/drawing/2014/main" id="{5FD94253-415C-4399-A43C-4CA0BB1702F5}"/>
              </a:ext>
            </a:extLst>
          </p:cNvPr>
          <p:cNvSpPr>
            <a:spLocks noGrp="1"/>
          </p:cNvSpPr>
          <p:nvPr>
            <p:ph type="title"/>
          </p:nvPr>
        </p:nvSpPr>
        <p:spPr>
          <a:xfrm>
            <a:off x="3581400" y="8724900"/>
            <a:ext cx="11582400" cy="609600"/>
          </a:xfrm>
        </p:spPr>
        <p:txBody>
          <a:bodyPr>
            <a:noAutofit/>
          </a:bodyPr>
          <a:lstStyle/>
          <a:p>
            <a:pPr algn="just"/>
            <a:r>
              <a:rPr lang="en-US" sz="2800" dirty="0">
                <a:effectLst/>
                <a:latin typeface="Times New Roman" panose="02020603050405020304" pitchFamily="18" charset="0"/>
                <a:ea typeface="Times New Roman" panose="02020603050405020304" pitchFamily="18" charset="0"/>
              </a:rPr>
              <a:t>The</a:t>
            </a:r>
            <a:r>
              <a:rPr lang="en-US" sz="2800" spc="-1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underlying</a:t>
            </a:r>
            <a:r>
              <a:rPr lang="en-US" sz="2800" spc="-1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architecture</a:t>
            </a:r>
            <a:r>
              <a:rPr lang="en-US" sz="2800" spc="-1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of</a:t>
            </a:r>
            <a:r>
              <a:rPr lang="en-US" sz="2800" spc="-10" dirty="0">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publishing/subscribe</a:t>
            </a:r>
            <a:endParaRPr lang="en-IN" sz="2800" dirty="0"/>
          </a:p>
        </p:txBody>
      </p:sp>
    </p:spTree>
    <p:extLst>
      <p:ext uri="{BB962C8B-B14F-4D97-AF65-F5344CB8AC3E}">
        <p14:creationId xmlns:p14="http://schemas.microsoft.com/office/powerpoint/2010/main" val="2124655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E0D2-EE49-46A0-9879-F0816C5B89AD}"/>
              </a:ext>
            </a:extLst>
          </p:cNvPr>
          <p:cNvSpPr>
            <a:spLocks noGrp="1"/>
          </p:cNvSpPr>
          <p:nvPr>
            <p:ph type="title"/>
          </p:nvPr>
        </p:nvSpPr>
        <p:spPr>
          <a:xfrm>
            <a:off x="5029200" y="8191500"/>
            <a:ext cx="8229600" cy="1143000"/>
          </a:xfrm>
        </p:spPr>
        <p:txBody>
          <a:bodyPr>
            <a:normAutofit/>
          </a:bodyPr>
          <a:lstStyle/>
          <a:p>
            <a:r>
              <a:rPr lang="en-US" sz="2800" b="1" dirty="0">
                <a:latin typeface="Times New Roman" panose="02020603050405020304" pitchFamily="18" charset="0"/>
                <a:cs typeface="Times New Roman" panose="02020603050405020304" pitchFamily="18" charset="0"/>
              </a:rPr>
              <a:t>Working principle of this system</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725DBA8-0C42-418E-98EB-E5BD63C4D3BD}"/>
              </a:ext>
            </a:extLst>
          </p:cNvPr>
          <p:cNvPicPr>
            <a:picLocks noChangeAspect="1"/>
          </p:cNvPicPr>
          <p:nvPr/>
        </p:nvPicPr>
        <p:blipFill>
          <a:blip r:embed="rId2"/>
          <a:stretch>
            <a:fillRect/>
          </a:stretch>
        </p:blipFill>
        <p:spPr>
          <a:xfrm>
            <a:off x="3578829" y="1562100"/>
            <a:ext cx="11130342" cy="6629400"/>
          </a:xfrm>
          <a:prstGeom prst="rect">
            <a:avLst/>
          </a:prstGeom>
        </p:spPr>
      </p:pic>
    </p:spTree>
    <p:extLst>
      <p:ext uri="{BB962C8B-B14F-4D97-AF65-F5344CB8AC3E}">
        <p14:creationId xmlns:p14="http://schemas.microsoft.com/office/powerpoint/2010/main" val="3111664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8960-006C-4ED6-8A3B-9A7440FDDEEC}"/>
              </a:ext>
            </a:extLst>
          </p:cNvPr>
          <p:cNvSpPr>
            <a:spLocks noGrp="1"/>
          </p:cNvSpPr>
          <p:nvPr>
            <p:ph type="ctrTitle"/>
          </p:nvPr>
        </p:nvSpPr>
        <p:spPr>
          <a:xfrm>
            <a:off x="533400" y="1181100"/>
            <a:ext cx="16992600" cy="1470025"/>
          </a:xfrm>
        </p:spPr>
        <p:txBody>
          <a:bodyPr>
            <a:noAutofit/>
          </a:bodyPr>
          <a:lstStyle/>
          <a:p>
            <a:r>
              <a:rPr lang="en-US" sz="5200" b="1" dirty="0">
                <a:latin typeface="Open Sans" panose="020B0606030504020204" pitchFamily="34" charset="0"/>
                <a:ea typeface="Open Sans" panose="020B0606030504020204" pitchFamily="34" charset="0"/>
                <a:cs typeface="Open Sans" panose="020B0606030504020204" pitchFamily="34" charset="0"/>
              </a:rPr>
              <a:t>Interaction between Publisher and Subscriber </a:t>
            </a:r>
            <a:endParaRPr lang="en-IN" sz="52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ubtitle 2">
            <a:extLst>
              <a:ext uri="{FF2B5EF4-FFF2-40B4-BE49-F238E27FC236}">
                <a16:creationId xmlns:a16="http://schemas.microsoft.com/office/drawing/2014/main" id="{1C1F8A06-1D06-4F55-AE2E-50B260E7CF8F}"/>
              </a:ext>
            </a:extLst>
          </p:cNvPr>
          <p:cNvSpPr>
            <a:spLocks noGrp="1"/>
          </p:cNvSpPr>
          <p:nvPr>
            <p:ph type="subTitle" idx="1"/>
          </p:nvPr>
        </p:nvSpPr>
        <p:spPr>
          <a:xfrm>
            <a:off x="1371600" y="2857500"/>
            <a:ext cx="15544800" cy="6553200"/>
          </a:xfrm>
        </p:spPr>
        <p:txBody>
          <a:bodyPr>
            <a:normAutofit lnSpcReduction="10000"/>
          </a:bodyPr>
          <a:lstStyle/>
          <a:p>
            <a:pPr marL="457200" indent="-457200" algn="just">
              <a:lnSpc>
                <a:spcPct val="150000"/>
              </a:lnSpc>
              <a:buFont typeface="Arial" panose="020B0604020202020204" pitchFamily="34" charset="0"/>
              <a:buChar char="•"/>
            </a:pPr>
            <a:r>
              <a:rPr lang="en-US" sz="3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The publisher will send the event to the publish-subscribe system in the form of state information.</a:t>
            </a:r>
          </a:p>
          <a:p>
            <a:pPr marL="457200" indent="-457200" algn="just">
              <a:lnSpc>
                <a:spcPct val="150000"/>
              </a:lnSpc>
              <a:buFont typeface="Arial" panose="020B0604020202020204" pitchFamily="34" charset="0"/>
              <a:buChar char="•"/>
            </a:pPr>
            <a:r>
              <a:rPr lang="en-US" sz="3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The subscriber sends the subscripts set in the subscription language to the publish-subscribe system .</a:t>
            </a:r>
          </a:p>
          <a:p>
            <a:pPr marL="457200" indent="-457200" algn="just">
              <a:lnSpc>
                <a:spcPct val="150000"/>
              </a:lnSpc>
              <a:buFont typeface="Arial" panose="020B0604020202020204" pitchFamily="34" charset="0"/>
              <a:buChar char="•"/>
            </a:pPr>
            <a:r>
              <a:rPr lang="en-IN" sz="3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The subscriber will notify by the interest through the monitoring evaluation process.</a:t>
            </a:r>
          </a:p>
          <a:p>
            <a:pPr marL="457200" indent="-457200" algn="just">
              <a:lnSpc>
                <a:spcPct val="150000"/>
              </a:lnSpc>
              <a:buFont typeface="Arial" panose="020B0604020202020204" pitchFamily="34" charset="0"/>
              <a:buChar char="•"/>
            </a:pPr>
            <a:r>
              <a:rPr lang="en-IN" sz="3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The subscription translator will translate the existing subscription.</a:t>
            </a:r>
          </a:p>
          <a:p>
            <a:pPr marL="457200" indent="-457200" algn="just">
              <a:lnSpc>
                <a:spcPct val="150000"/>
              </a:lnSpc>
              <a:buFont typeface="Arial" panose="020B0604020202020204" pitchFamily="34" charset="0"/>
              <a:buChar char="•"/>
            </a:pPr>
            <a:r>
              <a:rPr lang="en-IN" sz="3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Notification to subscriber entity will handle by the broker.</a:t>
            </a:r>
          </a:p>
        </p:txBody>
      </p:sp>
    </p:spTree>
    <p:extLst>
      <p:ext uri="{BB962C8B-B14F-4D97-AF65-F5344CB8AC3E}">
        <p14:creationId xmlns:p14="http://schemas.microsoft.com/office/powerpoint/2010/main" val="2210469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8BE1B-1D46-409C-A2D1-507BDFCF2220}"/>
              </a:ext>
            </a:extLst>
          </p:cNvPr>
          <p:cNvSpPr>
            <a:spLocks noGrp="1"/>
          </p:cNvSpPr>
          <p:nvPr>
            <p:ph type="title"/>
          </p:nvPr>
        </p:nvSpPr>
        <p:spPr>
          <a:xfrm>
            <a:off x="5029200" y="8718434"/>
            <a:ext cx="8229600" cy="1143000"/>
          </a:xfrm>
        </p:spPr>
        <p:txBody>
          <a:bodyPr>
            <a:normAutofit/>
          </a:bodyPr>
          <a:lstStyle/>
          <a:p>
            <a:r>
              <a:rPr lang="en-US" sz="2800" dirty="0">
                <a:latin typeface="Times New Roman" panose="02020603050405020304" pitchFamily="18" charset="0"/>
                <a:cs typeface="Times New Roman" panose="02020603050405020304" pitchFamily="18" charset="0"/>
              </a:rPr>
              <a:t>Interaction between the Publisher and Subscriber </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0082088-29E8-4134-B6C9-924CF85DDD57}"/>
              </a:ext>
            </a:extLst>
          </p:cNvPr>
          <p:cNvPicPr>
            <a:picLocks noChangeAspect="1"/>
          </p:cNvPicPr>
          <p:nvPr/>
        </p:nvPicPr>
        <p:blipFill>
          <a:blip r:embed="rId2"/>
          <a:stretch>
            <a:fillRect/>
          </a:stretch>
        </p:blipFill>
        <p:spPr>
          <a:xfrm>
            <a:off x="4648200" y="228600"/>
            <a:ext cx="8991600" cy="8489834"/>
          </a:xfrm>
          <a:prstGeom prst="rect">
            <a:avLst/>
          </a:prstGeom>
        </p:spPr>
      </p:pic>
    </p:spTree>
    <p:extLst>
      <p:ext uri="{BB962C8B-B14F-4D97-AF65-F5344CB8AC3E}">
        <p14:creationId xmlns:p14="http://schemas.microsoft.com/office/powerpoint/2010/main" val="3144492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45B3-8F8F-499B-BCA6-36E9D275DEB1}"/>
              </a:ext>
            </a:extLst>
          </p:cNvPr>
          <p:cNvSpPr>
            <a:spLocks noGrp="1"/>
          </p:cNvSpPr>
          <p:nvPr>
            <p:ph type="ctrTitle"/>
          </p:nvPr>
        </p:nvSpPr>
        <p:spPr>
          <a:xfrm>
            <a:off x="685800" y="1181100"/>
            <a:ext cx="7772400" cy="1470025"/>
          </a:xfrm>
        </p:spPr>
        <p:txBody>
          <a:bodyPr>
            <a:normAutofit/>
          </a:bodyPr>
          <a:lstStyle/>
          <a:p>
            <a:r>
              <a:rPr lang="en-US" sz="5200" b="1" dirty="0">
                <a:latin typeface="Open Sans Bold" panose="020B0806030504020204" charset="0"/>
                <a:ea typeface="Open Sans Bold" panose="020B0806030504020204" charset="0"/>
                <a:cs typeface="Open Sans Bold" panose="020B0806030504020204" charset="0"/>
              </a:rPr>
              <a:t>Adaptive method </a:t>
            </a:r>
            <a:endParaRPr lang="en-IN" sz="5200" b="1" dirty="0">
              <a:latin typeface="Open Sans Bold" panose="020B0806030504020204" charset="0"/>
              <a:ea typeface="Open Sans Bold" panose="020B0806030504020204" charset="0"/>
              <a:cs typeface="Open Sans Bold" panose="020B0806030504020204" charset="0"/>
            </a:endParaRPr>
          </a:p>
        </p:txBody>
      </p:sp>
      <p:sp>
        <p:nvSpPr>
          <p:cNvPr id="3" name="Subtitle 2">
            <a:extLst>
              <a:ext uri="{FF2B5EF4-FFF2-40B4-BE49-F238E27FC236}">
                <a16:creationId xmlns:a16="http://schemas.microsoft.com/office/drawing/2014/main" id="{5018B284-7A03-4023-AE78-5698DA915DCB}"/>
              </a:ext>
            </a:extLst>
          </p:cNvPr>
          <p:cNvSpPr>
            <a:spLocks noGrp="1"/>
          </p:cNvSpPr>
          <p:nvPr>
            <p:ph type="subTitle" idx="1"/>
          </p:nvPr>
        </p:nvSpPr>
        <p:spPr>
          <a:xfrm>
            <a:off x="1371600" y="2651125"/>
            <a:ext cx="16306800" cy="7369175"/>
          </a:xfrm>
        </p:spPr>
        <p:txBody>
          <a:bodyPr>
            <a:normAutofit fontScale="92500"/>
          </a:bodyPr>
          <a:lstStyle/>
          <a:p>
            <a:pPr marL="457200" indent="-457200" algn="just">
              <a:lnSpc>
                <a:spcPct val="160000"/>
              </a:lnSpc>
              <a:buFont typeface="Arial" panose="020B0604020202020204" pitchFamily="34" charset="0"/>
              <a:buChar char="•"/>
            </a:pPr>
            <a:r>
              <a:rPr lang="en-IN" sz="3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The idle manager sets the publisher status to  active and does not publish event to the broker.</a:t>
            </a:r>
          </a:p>
          <a:p>
            <a:pPr marL="457200" indent="-457200" algn="just">
              <a:lnSpc>
                <a:spcPct val="160000"/>
              </a:lnSpc>
              <a:buFont typeface="Arial" panose="020B0604020202020204" pitchFamily="34" charset="0"/>
              <a:buChar char="•"/>
            </a:pPr>
            <a:r>
              <a:rPr lang="en-IN"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A subscriber to carry out the monitoring process, requires the rules for communicating.</a:t>
            </a:r>
          </a:p>
          <a:p>
            <a:pPr marL="457200" indent="-457200" algn="just">
              <a:lnSpc>
                <a:spcPct val="160000"/>
              </a:lnSpc>
              <a:buFont typeface="Arial" panose="020B0604020202020204" pitchFamily="34" charset="0"/>
              <a:buChar char="•"/>
            </a:pPr>
            <a:r>
              <a:rPr lang="en-IN" sz="3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The message sent to the broker translated to then a process of evaluating the suitability of interest.</a:t>
            </a:r>
          </a:p>
          <a:p>
            <a:pPr marL="457200" indent="-457200" algn="just">
              <a:lnSpc>
                <a:spcPct val="160000"/>
              </a:lnSpc>
              <a:buFont typeface="Arial" panose="020B0604020202020204" pitchFamily="34" charset="0"/>
              <a:buChar char="•"/>
            </a:pPr>
            <a:r>
              <a:rPr lang="en-US"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publishers will keep publishing event information to the broker's side whenever they get new information.</a:t>
            </a:r>
          </a:p>
          <a:p>
            <a:pPr marL="457200" indent="-457200" algn="just">
              <a:lnSpc>
                <a:spcPct val="160000"/>
              </a:lnSpc>
              <a:buFont typeface="Arial" panose="020B0604020202020204" pitchFamily="34" charset="0"/>
              <a:buChar char="•"/>
            </a:pPr>
            <a:r>
              <a:rPr lang="en-US" sz="3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The publishing process will be performed if there is an interest in the information from the subscriber on the adaptive method. </a:t>
            </a:r>
            <a:endParaRPr lang="en-IN" sz="3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884079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AEEBBBC-63D4-4E28-A860-FDD9ED9A6795}"/>
              </a:ext>
            </a:extLst>
          </p:cNvPr>
          <p:cNvSpPr>
            <a:spLocks noGrp="1"/>
          </p:cNvSpPr>
          <p:nvPr>
            <p:ph type="ctrTitle"/>
          </p:nvPr>
        </p:nvSpPr>
        <p:spPr>
          <a:xfrm>
            <a:off x="609600" y="593661"/>
            <a:ext cx="9753600" cy="1470025"/>
          </a:xfrm>
        </p:spPr>
        <p:txBody>
          <a:bodyPr/>
          <a:lstStyle/>
          <a:p>
            <a:r>
              <a:rPr lang="en-US" dirty="0">
                <a:latin typeface="Open Sans Bold" panose="020B0806030504020204" charset="0"/>
                <a:ea typeface="Open Sans Bold" panose="020B0806030504020204" charset="0"/>
                <a:cs typeface="Open Sans Bold" panose="020B0806030504020204" charset="0"/>
              </a:rPr>
              <a:t>Flow diagram of adaptive method</a:t>
            </a:r>
            <a:endParaRPr lang="en-IN" dirty="0">
              <a:latin typeface="Open Sans Bold" panose="020B0806030504020204" charset="0"/>
              <a:ea typeface="Open Sans Bold" panose="020B0806030504020204" charset="0"/>
              <a:cs typeface="Open Sans Bold" panose="020B0806030504020204" charset="0"/>
            </a:endParaRPr>
          </a:p>
        </p:txBody>
      </p:sp>
      <p:pic>
        <p:nvPicPr>
          <p:cNvPr id="8" name="Picture 7">
            <a:extLst>
              <a:ext uri="{FF2B5EF4-FFF2-40B4-BE49-F238E27FC236}">
                <a16:creationId xmlns:a16="http://schemas.microsoft.com/office/drawing/2014/main" id="{6A3D94B1-B098-4C49-B1B8-DD86231D7922}"/>
              </a:ext>
            </a:extLst>
          </p:cNvPr>
          <p:cNvPicPr>
            <a:picLocks noChangeAspect="1"/>
          </p:cNvPicPr>
          <p:nvPr/>
        </p:nvPicPr>
        <p:blipFill rotWithShape="1">
          <a:blip r:embed="rId2"/>
          <a:srcRect t="1195"/>
          <a:stretch/>
        </p:blipFill>
        <p:spPr>
          <a:xfrm>
            <a:off x="6096000" y="2171699"/>
            <a:ext cx="7391400" cy="7770129"/>
          </a:xfrm>
          <a:prstGeom prst="rect">
            <a:avLst/>
          </a:prstGeom>
        </p:spPr>
      </p:pic>
    </p:spTree>
    <p:extLst>
      <p:ext uri="{BB962C8B-B14F-4D97-AF65-F5344CB8AC3E}">
        <p14:creationId xmlns:p14="http://schemas.microsoft.com/office/powerpoint/2010/main" val="1477548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63963" y="3990189"/>
            <a:ext cx="5543281" cy="1309373"/>
          </a:xfrm>
          <a:prstGeom prst="rect">
            <a:avLst/>
          </a:prstGeom>
        </p:spPr>
        <p:txBody>
          <a:bodyPr lIns="0" tIns="0" rIns="0" bIns="0" rtlCol="0" anchor="t">
            <a:spAutoFit/>
          </a:bodyPr>
          <a:lstStyle/>
          <a:p>
            <a:pPr algn="ctr">
              <a:lnSpc>
                <a:spcPts val="10779"/>
              </a:lnSpc>
            </a:pPr>
            <a:r>
              <a:rPr lang="en-US" sz="7699" dirty="0">
                <a:solidFill>
                  <a:srgbClr val="5271FF"/>
                </a:solidFill>
                <a:latin typeface="Bukhari Scrip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539</TotalTime>
  <Words>567</Words>
  <Application>Microsoft Office PowerPoint</Application>
  <PresentationFormat>Custom</PresentationFormat>
  <Paragraphs>65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Principles</vt:lpstr>
      <vt:lpstr>PowerPoint Presentation</vt:lpstr>
      <vt:lpstr>PowerPoint Presentation</vt:lpstr>
      <vt:lpstr>PowerPoint Presentation</vt:lpstr>
      <vt:lpstr>PowerPoint Presentation</vt:lpstr>
      <vt:lpstr>PowerPoint Presentation</vt:lpstr>
      <vt:lpstr>Publish subscribe mechanism</vt:lpstr>
      <vt:lpstr>PowerPoint Presentation</vt:lpstr>
      <vt:lpstr>The underlying architecture of publishing/subscribe</vt:lpstr>
      <vt:lpstr>Working principle of this system</vt:lpstr>
      <vt:lpstr>Interaction between Publisher and Subscriber </vt:lpstr>
      <vt:lpstr>Interaction between the Publisher and Subscriber </vt:lpstr>
      <vt:lpstr>Adaptive method </vt:lpstr>
      <vt:lpstr>Flow diagram of adaptive method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Z18602 - Internet of things</dc:title>
  <cp:lastModifiedBy>Balaji V</cp:lastModifiedBy>
  <cp:revision>26</cp:revision>
  <dcterms:created xsi:type="dcterms:W3CDTF">2006-08-16T00:00:00Z</dcterms:created>
  <dcterms:modified xsi:type="dcterms:W3CDTF">2022-05-19T06:47:57Z</dcterms:modified>
  <dc:identifier>DAE85dAVyHc</dc:identifier>
</cp:coreProperties>
</file>