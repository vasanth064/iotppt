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E758A8-D92A-4630-A9B2-117D28392AA1}">
  <a:tblStyle styleId="{B7E758A8-D92A-4630-A9B2-117D28392A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2a170adb22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2a170adb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28b6b6941e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28b6b694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IEEE		</a:t>
            </a:r>
            <a:r>
              <a:rPr lang="en"/>
              <a:t>Institute of Electrical and Electronics Engineers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LW-WPANS	Low Power Wireless Personal Area Network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2a4f0f313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2a4f0f3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IEEE		Institute of Electrical and Electronics Engineers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LW-WPANS	Low Power Wireless Personal Area Network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8b6b6941e_0_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28b6b6941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8b6b6941e_0_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28b6b6941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8b6b6941e_0_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28b6b6941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Piconet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28b6b6941e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28b6b6941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8b6b6941e_0_3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8b6b6941e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IEEE		Institute of Electrical and Electronics Engineers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LW-WPANS	Low Power Wireless Personal Area Network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28b6b6941e_0_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28b6b6941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2a4f0f3139_0_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2a4f0f313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IEEE		Institute of Electrical and Electronics Engineers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LW-WPANS	Low Power Wireless Personal Area Network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28b6b6941e_0_1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28b6b6941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28b6b6941e_0_1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28b6b6941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28b6b6941e_0_15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28b6b6941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IEEE		Institute of Electrical and Electronics Engineers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LW-WPANS	Low Power Wireless Personal Area Network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28b6b6941e_0_2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28b6b6941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28b6b6941e_0_1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28b6b6941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IEEE		Institute of Electrical and Electronics Engineers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LW-WPANS	Low Power Wireless Personal Area Network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28b6b6941e_0_2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28b6b6941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IEEE		Institute of Electrical and Electronics Engineers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LW-WPANS	Low Power Wireless Personal Area Network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28b6b6941e_0_1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28b6b6941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" type="body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600"/>
              </a:spcBef>
              <a:spcAft>
                <a:spcPts val="0"/>
              </a:spcAft>
              <a:buSzPts val="2400"/>
              <a:buChar char="▷"/>
              <a:defRPr i="1"/>
            </a:lvl1pPr>
            <a:lvl2pPr indent="-381000" lvl="1" marL="914400" rtl="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2pPr>
            <a:lvl3pPr indent="-381000" lvl="2" marL="1371600" rtl="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3pPr>
            <a:lvl4pPr indent="-381000" lvl="3" marL="18288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4pPr>
            <a:lvl5pPr indent="-381000" lvl="4" marL="2286000" rtl="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5pPr>
            <a:lvl6pPr indent="-381000" lvl="5" marL="2743200" rtl="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6pPr>
            <a:lvl7pPr indent="-381000" lvl="6" marL="32004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7pPr>
            <a:lvl8pPr indent="-381000" lvl="7" marL="3657600" rtl="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8pPr>
            <a:lvl9pPr indent="-381000" lvl="8" marL="41148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9pPr>
          </a:lstStyle>
          <a:p/>
        </p:txBody>
      </p:sp>
      <p:sp>
        <p:nvSpPr>
          <p:cNvPr id="25" name="Google Shape;25;p4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chemeClr val="accent6"/>
                </a:solidFill>
              </a:rPr>
              <a:t>“</a:t>
            </a:r>
            <a:endParaRPr b="1" sz="9600">
              <a:solidFill>
                <a:schemeClr val="accent6"/>
              </a:solidFill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893625" y="1200150"/>
            <a:ext cx="3136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219456" y="1200150"/>
            <a:ext cx="3136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893700" y="1200150"/>
            <a:ext cx="23712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5" name="Google Shape;55;p7"/>
          <p:cNvSpPr txBox="1"/>
          <p:nvPr>
            <p:ph idx="2" type="body"/>
          </p:nvPr>
        </p:nvSpPr>
        <p:spPr>
          <a:xfrm>
            <a:off x="3386404" y="1200150"/>
            <a:ext cx="23712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5879107" y="1200150"/>
            <a:ext cx="23712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93700" y="4649963"/>
            <a:ext cx="6462600" cy="35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▷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ctrTitle"/>
          </p:nvPr>
        </p:nvSpPr>
        <p:spPr>
          <a:xfrm>
            <a:off x="838200" y="358648"/>
            <a:ext cx="7772400" cy="30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COURSE TITLE :</a:t>
            </a:r>
            <a:r>
              <a:rPr b="1" lang="en" sz="3300"/>
              <a:t> </a:t>
            </a:r>
            <a:r>
              <a:rPr lang="en" sz="2600"/>
              <a:t>Building Internet Of Things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COURSE CODE :</a:t>
            </a:r>
            <a:r>
              <a:rPr b="1" lang="en" sz="2900"/>
              <a:t> </a:t>
            </a:r>
            <a:r>
              <a:rPr lang="en" sz="2600"/>
              <a:t>Z18602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Bluetooth &amp; Z-Wave    </a:t>
            </a:r>
            <a:r>
              <a:rPr b="1" lang="en" sz="3300"/>
              <a:t>Communication Protocols</a:t>
            </a:r>
            <a:endParaRPr b="1" sz="3300"/>
          </a:p>
        </p:txBody>
      </p:sp>
      <p:sp>
        <p:nvSpPr>
          <p:cNvPr id="89" name="Google Shape;89;p12"/>
          <p:cNvSpPr txBox="1"/>
          <p:nvPr/>
        </p:nvSpPr>
        <p:spPr>
          <a:xfrm>
            <a:off x="7299900" y="4095900"/>
            <a:ext cx="1844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Lato"/>
                <a:ea typeface="Lato"/>
                <a:cs typeface="Lato"/>
                <a:sym typeface="Lato"/>
              </a:rPr>
              <a:t>PRESENTED BY</a:t>
            </a:r>
            <a:endParaRPr b="1" sz="1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Vasanth V V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19dx27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4294967295" type="ctrTitle"/>
          </p:nvPr>
        </p:nvSpPr>
        <p:spPr>
          <a:xfrm>
            <a:off x="778225" y="2383444"/>
            <a:ext cx="6623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</a:rPr>
              <a:t>Bluetooth</a:t>
            </a:r>
            <a:endParaRPr b="1" sz="7200">
              <a:solidFill>
                <a:schemeClr val="lt1"/>
              </a:solidFill>
            </a:endParaRPr>
          </a:p>
        </p:txBody>
      </p:sp>
      <p:sp>
        <p:nvSpPr>
          <p:cNvPr id="95" name="Google Shape;95;p13"/>
          <p:cNvSpPr txBox="1"/>
          <p:nvPr>
            <p:ph idx="4294967295" type="subTitle"/>
          </p:nvPr>
        </p:nvSpPr>
        <p:spPr>
          <a:xfrm>
            <a:off x="778225" y="3697325"/>
            <a:ext cx="77025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 Bluetooth is a short-range wireless</a:t>
            </a:r>
            <a:r>
              <a:rPr lang="en">
                <a:solidFill>
                  <a:schemeClr val="lt1"/>
                </a:solidFill>
              </a:rPr>
              <a:t> technology standard.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893700" y="119963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Bluetooth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893700" y="1373600"/>
            <a:ext cx="7587000" cy="28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▷"/>
            </a:pPr>
            <a:r>
              <a:rPr lang="en" sz="2000">
                <a:solidFill>
                  <a:schemeClr val="dk2"/>
                </a:solidFill>
              </a:rPr>
              <a:t>Bluetooth is wireless technology for exchanging data over short distances.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</a:rPr>
              <a:t>Bluetooth functions on an IEEE standard of 802.15.4, the standard for LW-WPANS.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</a:rPr>
              <a:t>Bluetooth operates in the globally unlicensed 2.4GHz short range radio frequency spectrum.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9625" y="119975"/>
            <a:ext cx="859650" cy="13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893700" y="119963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Why </a:t>
            </a:r>
            <a:r>
              <a:rPr b="1" lang="en">
                <a:solidFill>
                  <a:srgbClr val="000000"/>
                </a:solidFill>
              </a:rPr>
              <a:t>BLE over Bluetooth ?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893700" y="1373600"/>
            <a:ext cx="7587000" cy="34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  <a:highlight>
                  <a:srgbClr val="FFFFFF"/>
                </a:highlight>
              </a:rPr>
              <a:t>Using Bluetooth for IoT applications is not feasible</a:t>
            </a:r>
            <a:endParaRPr sz="20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  <a:highlight>
                  <a:srgbClr val="FFFFFF"/>
                </a:highlight>
              </a:rPr>
              <a:t>Bluetooth can handle a lot of data, but consumes a lot of battery life.</a:t>
            </a:r>
            <a:endParaRPr sz="20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  <a:highlight>
                  <a:srgbClr val="FFFFFF"/>
                </a:highlight>
              </a:rPr>
              <a:t>BLE is developed to take care of sending small chunks of data.</a:t>
            </a:r>
            <a:endParaRPr sz="20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  <a:highlight>
                  <a:srgbClr val="FFFFFF"/>
                </a:highlight>
              </a:rPr>
              <a:t>BLE can run IoT devices even with coin cells, thereby reducing the power usage.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9625" y="119975"/>
            <a:ext cx="859650" cy="13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855650" y="830125"/>
            <a:ext cx="2576100" cy="5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/>
              <a:t>Working Principle</a:t>
            </a:r>
            <a:endParaRPr i="1" sz="2200"/>
          </a:p>
        </p:txBody>
      </p:sp>
      <p:grpSp>
        <p:nvGrpSpPr>
          <p:cNvPr id="118" name="Google Shape;118;p16"/>
          <p:cNvGrpSpPr/>
          <p:nvPr/>
        </p:nvGrpSpPr>
        <p:grpSpPr>
          <a:xfrm>
            <a:off x="5632317" y="2002063"/>
            <a:ext cx="3305700" cy="2612287"/>
            <a:chOff x="5632317" y="1189775"/>
            <a:chExt cx="3305700" cy="3483049"/>
          </a:xfrm>
        </p:grpSpPr>
        <p:sp>
          <p:nvSpPr>
            <p:cNvPr id="119" name="Google Shape;119;p16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i="1" lang="en" sz="23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Connection</a:t>
              </a:r>
              <a:endParaRPr b="1" i="1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6167077" y="2057124"/>
              <a:ext cx="25146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>
                  <a:solidFill>
                    <a:schemeClr val="dk2"/>
                  </a:solidFill>
                  <a:highlight>
                    <a:srgbClr val="FFFFFF"/>
                  </a:highlight>
                  <a:latin typeface="Lato"/>
                  <a:ea typeface="Lato"/>
                  <a:cs typeface="Lato"/>
                  <a:sym typeface="Lato"/>
                </a:rPr>
                <a:t>A device either actively participates in the network or enters a low-power sleep mode.</a:t>
              </a:r>
              <a:endPara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0" y="2002224"/>
            <a:ext cx="3546900" cy="2612126"/>
            <a:chOff x="0" y="1189989"/>
            <a:chExt cx="3546900" cy="3482834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i="1" lang="en" sz="23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Inquiry</a:t>
              </a:r>
              <a:endParaRPr b="1" i="1" sz="2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235925" y="2057124"/>
              <a:ext cx="27084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The process </a:t>
              </a:r>
              <a:r>
                <a:rPr lang="en" sz="16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carried</a:t>
              </a:r>
              <a:r>
                <a:rPr lang="en" sz="16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 out by one Bluetooth device that tries to find other device near it.</a:t>
              </a:r>
              <a:endPara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2944204" y="2002063"/>
            <a:ext cx="3305700" cy="2612287"/>
            <a:chOff x="2944204" y="1189775"/>
            <a:chExt cx="3305700" cy="3483049"/>
          </a:xfrm>
        </p:grpSpPr>
        <p:sp>
          <p:nvSpPr>
            <p:cNvPr id="125" name="Google Shape;125;p16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i="1" lang="en" sz="23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Paging</a:t>
              </a:r>
              <a:endParaRPr b="1" i="1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3210950" y="2057124"/>
              <a:ext cx="27621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The process of forming a connection between two Bluetooth devices.</a:t>
              </a:r>
              <a:endPara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6"/>
          <p:cNvSpPr txBox="1"/>
          <p:nvPr>
            <p:ph type="title"/>
          </p:nvPr>
        </p:nvSpPr>
        <p:spPr>
          <a:xfrm>
            <a:off x="893700" y="119963"/>
            <a:ext cx="6462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Bluetooth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129" name="Google Shape;12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9625" y="119975"/>
            <a:ext cx="859650" cy="13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893700" y="119963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Bluetooth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855650" y="1623625"/>
            <a:ext cx="7587000" cy="28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</a:rPr>
              <a:t>When a Bluetooth device is powered on, it tries to operate as one of the slave devices of an already running master device.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</a:rPr>
              <a:t>It then starts listening for a master’s inquiry for new devices and responds to it.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</a:rPr>
              <a:t>The inquiry phase lets the master know the address of the slave.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9625" y="119975"/>
            <a:ext cx="859650" cy="13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title"/>
          </p:nvPr>
        </p:nvSpPr>
        <p:spPr>
          <a:xfrm>
            <a:off x="855650" y="850400"/>
            <a:ext cx="3521700" cy="5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/>
              <a:t>Working Principle - </a:t>
            </a:r>
            <a:r>
              <a:rPr i="1" lang="en" sz="2200"/>
              <a:t>Inquiry</a:t>
            </a:r>
            <a:endParaRPr i="1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893700" y="119963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Bluetooth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893700" y="1667300"/>
            <a:ext cx="7587000" cy="24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</a:rPr>
              <a:t>Once a master knows the address of a slave, it opens a connection toward it.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</a:rPr>
              <a:t>Then, The slave responds to the master’s paging request and the two devices synchronize over the frequency hopping sequence, which is unique to each piconet.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45" name="Google Shape;145;p1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9625" y="119975"/>
            <a:ext cx="859650" cy="13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>
            <p:ph type="title"/>
          </p:nvPr>
        </p:nvSpPr>
        <p:spPr>
          <a:xfrm>
            <a:off x="855650" y="830125"/>
            <a:ext cx="3953400" cy="5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/>
              <a:t>Working Principle - Paging</a:t>
            </a:r>
            <a:endParaRPr i="1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893700" y="119963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Bluetooth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893700" y="1518150"/>
            <a:ext cx="75870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</a:rPr>
              <a:t>Once a connection is established, the devices can optionally authenticate each other and then communicate.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</a:rPr>
              <a:t>Devices not engaged in transmissions can enter into power saving mode or end the connection.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</a:rPr>
              <a:t>Master and slave can switch roles, which may be necessary when a device wants to participate in more than one piconet.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54" name="Google Shape;154;p1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9625" y="119975"/>
            <a:ext cx="859650" cy="13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title"/>
          </p:nvPr>
        </p:nvSpPr>
        <p:spPr>
          <a:xfrm>
            <a:off x="893700" y="850400"/>
            <a:ext cx="4830000" cy="5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/>
              <a:t>Working Principle - </a:t>
            </a:r>
            <a:r>
              <a:rPr i="1" lang="en" sz="2200"/>
              <a:t>Connection</a:t>
            </a:r>
            <a:endParaRPr i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0"/>
          <p:cNvSpPr txBox="1"/>
          <p:nvPr>
            <p:ph type="title"/>
          </p:nvPr>
        </p:nvSpPr>
        <p:spPr>
          <a:xfrm>
            <a:off x="893700" y="119963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Bluetooth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9625" y="119975"/>
            <a:ext cx="859650" cy="131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988" y="1576025"/>
            <a:ext cx="7058025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286775" y="1363400"/>
            <a:ext cx="4206300" cy="15846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txBody>
          <a:bodyPr anchorCtr="0" anchor="t" bIns="91425" lIns="91425" spcFirstLastPara="1" rIns="1143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ACTIVE MODE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Actively transmitting or receiving data.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4667075" y="1363400"/>
            <a:ext cx="4206300" cy="15846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txBody>
          <a:bodyPr anchorCtr="0" anchor="t" bIns="91425" lIns="114300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SNIFF MODE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Sleeps and only listens for transmissions at a set interval.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286775" y="3121900"/>
            <a:ext cx="4206300" cy="15846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txBody>
          <a:bodyPr anchorCtr="0" anchor="b" bIns="91425" lIns="91425" spcFirstLastPara="1" rIns="1143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device sleeps for a defined period and then returns to active mode.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HOLD MODE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4667075" y="3121900"/>
            <a:ext cx="4206300" cy="15846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txBody>
          <a:bodyPr anchorCtr="0" anchor="b" bIns="91425" lIns="114300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slave will become inactive until the master tells it to wake bac</a:t>
            </a: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 </a:t>
            </a: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up.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PARK MODE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3285625" y="1738389"/>
            <a:ext cx="2417100" cy="24171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 rot="5400000">
            <a:off x="3459879" y="1738389"/>
            <a:ext cx="2417100" cy="24171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 rot="10800000">
            <a:off x="3459879" y="1914006"/>
            <a:ext cx="2417100" cy="24171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 rot="-5400000">
            <a:off x="3285625" y="1914006"/>
            <a:ext cx="2417100" cy="24171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3842100" y="2242577"/>
            <a:ext cx="409477" cy="43849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A</a:t>
            </a:r>
          </a:p>
        </p:txBody>
      </p:sp>
      <p:sp>
        <p:nvSpPr>
          <p:cNvPr id="179" name="Google Shape;179;p21"/>
          <p:cNvSpPr/>
          <p:nvPr/>
        </p:nvSpPr>
        <p:spPr>
          <a:xfrm>
            <a:off x="4857720" y="2250297"/>
            <a:ext cx="273602" cy="33597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s</a:t>
            </a:r>
          </a:p>
        </p:txBody>
      </p:sp>
      <p:sp>
        <p:nvSpPr>
          <p:cNvPr id="180" name="Google Shape;180;p21"/>
          <p:cNvSpPr/>
          <p:nvPr/>
        </p:nvSpPr>
        <p:spPr>
          <a:xfrm>
            <a:off x="3807513" y="3348952"/>
            <a:ext cx="368715" cy="43849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H</a:t>
            </a:r>
          </a:p>
        </p:txBody>
      </p:sp>
      <p:sp>
        <p:nvSpPr>
          <p:cNvPr id="181" name="Google Shape;181;p21"/>
          <p:cNvSpPr/>
          <p:nvPr/>
        </p:nvSpPr>
        <p:spPr>
          <a:xfrm>
            <a:off x="4971979" y="3356672"/>
            <a:ext cx="325482" cy="43849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P</a:t>
            </a:r>
          </a:p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893700" y="119963"/>
            <a:ext cx="6462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Bluetooth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952" y="119975"/>
            <a:ext cx="701324" cy="106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>
            <p:ph type="title"/>
          </p:nvPr>
        </p:nvSpPr>
        <p:spPr>
          <a:xfrm>
            <a:off x="893700" y="696900"/>
            <a:ext cx="4254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/>
              <a:t>Modes of Operation</a:t>
            </a:r>
            <a:endParaRPr i="1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893700" y="220663"/>
            <a:ext cx="6462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Bluetooth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90" name="Google Shape;190;p2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9625" y="119975"/>
            <a:ext cx="859650" cy="13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>
            <p:ph type="title"/>
          </p:nvPr>
        </p:nvSpPr>
        <p:spPr>
          <a:xfrm>
            <a:off x="1001150" y="844625"/>
            <a:ext cx="4254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/>
              <a:t>Applications</a:t>
            </a:r>
            <a:endParaRPr i="1" sz="2000"/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5688" y="1337225"/>
            <a:ext cx="6252634" cy="350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99" name="Google Shape;199;p23"/>
          <p:cNvGraphicFramePr/>
          <p:nvPr/>
        </p:nvGraphicFramePr>
        <p:xfrm>
          <a:off x="1020950" y="118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{B7E758A8-D92A-4630-A9B2-117D28392AA1}</a:tableStyleId>
              </a:tblPr>
              <a:tblGrid>
                <a:gridCol w="3167675"/>
                <a:gridCol w="3167675"/>
              </a:tblGrid>
              <a:tr h="3375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SPECIFICATION</a:t>
                      </a:r>
                      <a:endParaRPr b="1"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</a:t>
                      </a:r>
                      <a:endParaRPr b="1"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IEEE Standard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802.15.1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Network Type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Mesh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Max Nodes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Operating Band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ISM band, 2.4 to 2.485 GHz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Spread Spectrum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Adaptive Frequency Hopping (AFH)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Throughput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 Mbit/s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Modulation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Gaussian Frequency Shift Keying (GFSK) 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Distance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~(10 - 100 meters)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3"/>
          <p:cNvSpPr txBox="1"/>
          <p:nvPr>
            <p:ph type="title"/>
          </p:nvPr>
        </p:nvSpPr>
        <p:spPr>
          <a:xfrm>
            <a:off x="893700" y="119963"/>
            <a:ext cx="6462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Bluetooth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201" name="Google Shape;2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952" y="119975"/>
            <a:ext cx="701324" cy="106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>
            <p:ph type="title"/>
          </p:nvPr>
        </p:nvSpPr>
        <p:spPr>
          <a:xfrm>
            <a:off x="893700" y="696900"/>
            <a:ext cx="4254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/>
              <a:t>Specifications</a:t>
            </a:r>
            <a:endParaRPr i="1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idx="4294967295" type="ctrTitle"/>
          </p:nvPr>
        </p:nvSpPr>
        <p:spPr>
          <a:xfrm>
            <a:off x="778225" y="2383444"/>
            <a:ext cx="6623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</a:rPr>
              <a:t>Z-Wave</a:t>
            </a:r>
            <a:endParaRPr b="1" sz="7200">
              <a:solidFill>
                <a:schemeClr val="lt1"/>
              </a:solidFill>
            </a:endParaRPr>
          </a:p>
        </p:txBody>
      </p:sp>
      <p:sp>
        <p:nvSpPr>
          <p:cNvPr id="208" name="Google Shape;208;p24"/>
          <p:cNvSpPr txBox="1"/>
          <p:nvPr>
            <p:ph idx="4294967295" type="subTitle"/>
          </p:nvPr>
        </p:nvSpPr>
        <p:spPr>
          <a:xfrm>
            <a:off x="778225" y="3697325"/>
            <a:ext cx="77025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 low power MAC protocol</a:t>
            </a:r>
            <a:r>
              <a:rPr lang="en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9" name="Google Shape;209;p2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893700" y="119963"/>
            <a:ext cx="6462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Z-Wave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893700" y="1373600"/>
            <a:ext cx="7587000" cy="36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  <a:highlight>
                  <a:srgbClr val="FFFFFF"/>
                </a:highlight>
              </a:rPr>
              <a:t>The Z-Wave protocol is an interoperable, wireless, RF-based communication technology.</a:t>
            </a:r>
            <a:endParaRPr sz="20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  <a:highlight>
                  <a:srgbClr val="FFFFFF"/>
                </a:highlight>
              </a:rPr>
              <a:t>The Z-Wave protocol makes use of low-energy radio waves to enable communication between smart devices and appliances. </a:t>
            </a:r>
            <a:endParaRPr sz="20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  <a:highlight>
                  <a:srgbClr val="FFFFFF"/>
                </a:highlight>
              </a:rPr>
              <a:t>Z-Wave is under the IEEE  standard of 802.15.4.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29245" r="30063" t="0"/>
          <a:stretch/>
        </p:blipFill>
        <p:spPr>
          <a:xfrm>
            <a:off x="7853825" y="119975"/>
            <a:ext cx="1175451" cy="1124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855650" y="830125"/>
            <a:ext cx="25761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/>
              <a:t>Working</a:t>
            </a:r>
            <a:endParaRPr i="1" sz="2200"/>
          </a:p>
        </p:txBody>
      </p:sp>
      <p:grpSp>
        <p:nvGrpSpPr>
          <p:cNvPr id="223" name="Google Shape;223;p26"/>
          <p:cNvGrpSpPr/>
          <p:nvPr/>
        </p:nvGrpSpPr>
        <p:grpSpPr>
          <a:xfrm>
            <a:off x="5632317" y="2002063"/>
            <a:ext cx="3305700" cy="2612287"/>
            <a:chOff x="5632317" y="1189775"/>
            <a:chExt cx="3305700" cy="3483049"/>
          </a:xfrm>
        </p:grpSpPr>
        <p:sp>
          <p:nvSpPr>
            <p:cNvPr id="224" name="Google Shape;224;p26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i="1" lang="en" sz="23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Slave</a:t>
              </a:r>
              <a:endParaRPr b="1" i="1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5" name="Google Shape;225;p26"/>
            <p:cNvSpPr txBox="1"/>
            <p:nvPr/>
          </p:nvSpPr>
          <p:spPr>
            <a:xfrm>
              <a:off x="6167077" y="2057124"/>
              <a:ext cx="25146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The slave devices act based on the commands initiated by the controllers.</a:t>
              </a:r>
              <a:endPara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26" name="Google Shape;226;p26"/>
          <p:cNvGrpSpPr/>
          <p:nvPr/>
        </p:nvGrpSpPr>
        <p:grpSpPr>
          <a:xfrm>
            <a:off x="0" y="2002224"/>
            <a:ext cx="3546900" cy="2612126"/>
            <a:chOff x="0" y="1189989"/>
            <a:chExt cx="3546900" cy="3482834"/>
          </a:xfrm>
        </p:grpSpPr>
        <p:sp>
          <p:nvSpPr>
            <p:cNvPr id="227" name="Google Shape;227;p26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i="1" lang="en" sz="23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Controller</a:t>
              </a:r>
              <a:endParaRPr b="1" i="1" sz="2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28" name="Google Shape;228;p26"/>
            <p:cNvSpPr txBox="1"/>
            <p:nvPr/>
          </p:nvSpPr>
          <p:spPr>
            <a:xfrm>
              <a:off x="235925" y="2057124"/>
              <a:ext cx="27084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The primary controller is the one which creates the Z-Wave network.</a:t>
              </a:r>
              <a:endPara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29" name="Google Shape;229;p26"/>
          <p:cNvGrpSpPr/>
          <p:nvPr/>
        </p:nvGrpSpPr>
        <p:grpSpPr>
          <a:xfrm>
            <a:off x="2944204" y="2002063"/>
            <a:ext cx="3305700" cy="2612287"/>
            <a:chOff x="2944204" y="1189775"/>
            <a:chExt cx="3305700" cy="3483049"/>
          </a:xfrm>
        </p:grpSpPr>
        <p:sp>
          <p:nvSpPr>
            <p:cNvPr id="230" name="Google Shape;230;p26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i="1" lang="en" sz="20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Secondary Controller</a:t>
              </a:r>
              <a:endParaRPr b="1" i="1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1" name="Google Shape;231;p26"/>
            <p:cNvSpPr txBox="1"/>
            <p:nvPr/>
          </p:nvSpPr>
          <p:spPr>
            <a:xfrm>
              <a:off x="3210950" y="2057124"/>
              <a:ext cx="27621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The secondary controllers are added in the network by the primary controller.</a:t>
              </a:r>
              <a:endPara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32" name="Google Shape;232;p2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6"/>
          <p:cNvSpPr txBox="1"/>
          <p:nvPr>
            <p:ph type="title"/>
          </p:nvPr>
        </p:nvSpPr>
        <p:spPr>
          <a:xfrm>
            <a:off x="893700" y="119963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Z-Wave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234" name="Google Shape;234;p26"/>
          <p:cNvPicPr preferRelativeResize="0"/>
          <p:nvPr/>
        </p:nvPicPr>
        <p:blipFill rotWithShape="1">
          <a:blip r:embed="rId3">
            <a:alphaModFix/>
          </a:blip>
          <a:srcRect b="0" l="29245" r="30063" t="0"/>
          <a:stretch/>
        </p:blipFill>
        <p:spPr>
          <a:xfrm>
            <a:off x="7853825" y="119975"/>
            <a:ext cx="1175451" cy="1124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27"/>
          <p:cNvSpPr txBox="1"/>
          <p:nvPr>
            <p:ph idx="1" type="body"/>
          </p:nvPr>
        </p:nvSpPr>
        <p:spPr>
          <a:xfrm>
            <a:off x="893700" y="1373600"/>
            <a:ext cx="7587000" cy="3293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  <a:highlight>
                  <a:schemeClr val="lt1"/>
                </a:highlight>
              </a:rPr>
              <a:t>It is based on master-slave mesh type ad-hoc network</a:t>
            </a:r>
            <a:r>
              <a:rPr lang="en" sz="2000">
                <a:solidFill>
                  <a:schemeClr val="dk2"/>
                </a:solidFill>
                <a:highlight>
                  <a:schemeClr val="lt1"/>
                </a:highlight>
              </a:rPr>
              <a:t> that can connect numerous Z-Wave devices simultaneously.</a:t>
            </a:r>
            <a:endParaRPr sz="20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  <a:highlight>
                  <a:schemeClr val="lt1"/>
                </a:highlight>
              </a:rPr>
              <a:t>It consists of one primary controller, one or more than one secondary controller and many slave devices.</a:t>
            </a:r>
            <a:endParaRPr sz="20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Char char="▷"/>
            </a:pPr>
            <a:r>
              <a:rPr lang="en" sz="2000">
                <a:solidFill>
                  <a:schemeClr val="dk2"/>
                </a:solidFill>
                <a:highlight>
                  <a:schemeClr val="lt1"/>
                </a:highlight>
              </a:rPr>
              <a:t>A command is sent from the controller to a hub, and then the command is routed to the destination device.</a:t>
            </a:r>
            <a:endParaRPr sz="20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41" name="Google Shape;241;p27"/>
          <p:cNvSpPr txBox="1"/>
          <p:nvPr>
            <p:ph type="title"/>
          </p:nvPr>
        </p:nvSpPr>
        <p:spPr>
          <a:xfrm>
            <a:off x="893700" y="119963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Z-Wave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242" name="Google Shape;242;p27"/>
          <p:cNvPicPr preferRelativeResize="0"/>
          <p:nvPr/>
        </p:nvPicPr>
        <p:blipFill rotWithShape="1">
          <a:blip r:embed="rId3">
            <a:alphaModFix/>
          </a:blip>
          <a:srcRect b="0" l="29245" r="30063" t="0"/>
          <a:stretch/>
        </p:blipFill>
        <p:spPr>
          <a:xfrm>
            <a:off x="7853825" y="119975"/>
            <a:ext cx="1175451" cy="112471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7"/>
          <p:cNvSpPr txBox="1"/>
          <p:nvPr>
            <p:ph type="title"/>
          </p:nvPr>
        </p:nvSpPr>
        <p:spPr>
          <a:xfrm>
            <a:off x="855650" y="830125"/>
            <a:ext cx="25761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/>
              <a:t>Working</a:t>
            </a:r>
            <a:endParaRPr i="1"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28"/>
          <p:cNvSpPr txBox="1"/>
          <p:nvPr>
            <p:ph type="title"/>
          </p:nvPr>
        </p:nvSpPr>
        <p:spPr>
          <a:xfrm>
            <a:off x="893700" y="119963"/>
            <a:ext cx="6462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Z-Wave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250" name="Google Shape;250;p28"/>
          <p:cNvPicPr preferRelativeResize="0"/>
          <p:nvPr/>
        </p:nvPicPr>
        <p:blipFill rotWithShape="1">
          <a:blip r:embed="rId3">
            <a:alphaModFix/>
          </a:blip>
          <a:srcRect b="0" l="29245" r="30063" t="0"/>
          <a:stretch/>
        </p:blipFill>
        <p:spPr>
          <a:xfrm>
            <a:off x="7853825" y="119975"/>
            <a:ext cx="1175451" cy="1124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0713" y="1527650"/>
            <a:ext cx="5362575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57" name="Google Shape;257;p29"/>
          <p:cNvGraphicFramePr/>
          <p:nvPr/>
        </p:nvGraphicFramePr>
        <p:xfrm>
          <a:off x="1020950" y="118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{B7E758A8-D92A-4630-A9B2-117D28392AA1}</a:tableStyleId>
              </a:tblPr>
              <a:tblGrid>
                <a:gridCol w="3167675"/>
                <a:gridCol w="3167675"/>
              </a:tblGrid>
              <a:tr h="3375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SPECIFICATION</a:t>
                      </a:r>
                      <a:endParaRPr b="1"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</a:t>
                      </a:r>
                      <a:endParaRPr b="1"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IEEE Standard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802.15.4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Network Type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Mesh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Max Nodes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232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Operating Band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915 MHz ISM band and 868 MHz RFID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Spread Spectrum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Direct Sequence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(DS)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Throughput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kbit/ s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Modulation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Gaussian Frequency Shift Keying (GFSK) 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Distance</a:t>
                      </a:r>
                      <a:endParaRPr sz="120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 meters with no obstructions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8" name="Google Shape;258;p29"/>
          <p:cNvSpPr txBox="1"/>
          <p:nvPr>
            <p:ph type="title"/>
          </p:nvPr>
        </p:nvSpPr>
        <p:spPr>
          <a:xfrm>
            <a:off x="893700" y="696900"/>
            <a:ext cx="4254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/>
              <a:t>Specifications</a:t>
            </a:r>
            <a:endParaRPr i="1" sz="2000"/>
          </a:p>
        </p:txBody>
      </p:sp>
      <p:sp>
        <p:nvSpPr>
          <p:cNvPr id="259" name="Google Shape;259;p29"/>
          <p:cNvSpPr txBox="1"/>
          <p:nvPr>
            <p:ph type="title"/>
          </p:nvPr>
        </p:nvSpPr>
        <p:spPr>
          <a:xfrm>
            <a:off x="893700" y="119963"/>
            <a:ext cx="6462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Z-Wave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260" name="Google Shape;260;p29"/>
          <p:cNvPicPr preferRelativeResize="0"/>
          <p:nvPr/>
        </p:nvPicPr>
        <p:blipFill rotWithShape="1">
          <a:blip r:embed="rId3">
            <a:alphaModFix/>
          </a:blip>
          <a:srcRect b="0" l="29245" r="30063" t="0"/>
          <a:stretch/>
        </p:blipFill>
        <p:spPr>
          <a:xfrm>
            <a:off x="7853825" y="119975"/>
            <a:ext cx="1175451" cy="1124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/>
          <p:nvPr>
            <p:ph idx="4294967295" type="subTitle"/>
          </p:nvPr>
        </p:nvSpPr>
        <p:spPr>
          <a:xfrm>
            <a:off x="916025" y="1468463"/>
            <a:ext cx="55611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accent1"/>
                </a:solidFill>
              </a:rPr>
              <a:t>Thank You</a:t>
            </a:r>
            <a:endParaRPr b="1" sz="4800">
              <a:solidFill>
                <a:schemeClr val="accent1"/>
              </a:solidFill>
            </a:endParaRPr>
          </a:p>
        </p:txBody>
      </p:sp>
      <p:sp>
        <p:nvSpPr>
          <p:cNvPr id="266" name="Google Shape;266;p3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