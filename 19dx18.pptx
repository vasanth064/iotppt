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Nunito Medium"/>
      <p:regular r:id="rId24"/>
      <p:bold r:id="rId25"/>
      <p:italic r:id="rId26"/>
      <p:boldItalic r:id="rId27"/>
    </p:embeddedFont>
    <p:embeddedFont>
      <p:font typeface="Nunito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A9E1FD-962D-4198-B069-CE265FC56018}">
  <a:tblStyle styleId="{58A9E1FD-962D-4198-B069-CE265FC56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NunitoMedium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Medium-italic.fntdata"/><Relationship Id="rId25" Type="http://schemas.openxmlformats.org/officeDocument/2006/relationships/font" Target="fonts/NunitoMedium-bold.fntdata"/><Relationship Id="rId28" Type="http://schemas.openxmlformats.org/officeDocument/2006/relationships/font" Target="fonts/NunitoExtraBold-bold.fntdata"/><Relationship Id="rId27" Type="http://schemas.openxmlformats.org/officeDocument/2006/relationships/font" Target="fonts/Nuni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73749cb3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273749cb3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b0340558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b0340558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968de0b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968de0b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a7631d8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a7631d8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968de0bf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2968de0bf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968de0b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2968de0b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968de0bf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968de0bf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968de0bf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2968de0bf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2968de0bf3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2968de0bf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968de0bf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968de0bf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968de0bf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968de0bf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968de0bf3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968de0bf3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5933475" y="4021100"/>
            <a:ext cx="25704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/>
              <a:t>Presentation </a:t>
            </a:r>
            <a:r>
              <a:rPr b="1" lang="en"/>
              <a:t>By</a:t>
            </a:r>
            <a:endParaRPr b="1"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/>
              <a:t>D Rajkumar 19DX18</a:t>
            </a:r>
            <a:endParaRPr b="1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365450" y="1444050"/>
            <a:ext cx="6413100" cy="22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Assignment on: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Building Internet of Things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Course Name: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Internet of Things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Course Code: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Z18602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Topic: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Secure MQTT for Internet of Things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800">
                <a:latin typeface="Nunito"/>
                <a:ea typeface="Nunito"/>
                <a:cs typeface="Nunito"/>
                <a:sym typeface="Nunito"/>
              </a:rPr>
              <a:t>Reference: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Secure MQTT for Internet of Things (IoT) by IEEE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1179125"/>
            <a:ext cx="75057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What is MQTT ?</a:t>
            </a:r>
            <a:endParaRPr b="1" sz="2600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856588"/>
            <a:ext cx="7333200" cy="20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MQTT is a high-usage technology that was initially used to build connections within a network of devices. 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It is designed as an extremely lightweight publish/subscribe messaging transport that is ideal for connecting remote devices with a small code footprint and minimal network bandwidth. 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717300" y="1203088"/>
            <a:ext cx="7505700" cy="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40"/>
              <a:t>Why is MQTT used in IOT ?</a:t>
            </a:r>
            <a:endParaRPr b="1" sz="2640"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717300" y="1914200"/>
            <a:ext cx="7709400" cy="20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IoT system</a:t>
            </a: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 is</a:t>
            </a: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 a network of connected devices communicating with each other. MQTT fits well into this concept. 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658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It makes the interaction between devices efficiently, whatever the number of devices</a:t>
            </a: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 there is.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658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The Lightweight feature makes responses fastly and efficiently.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614550" y="1047225"/>
            <a:ext cx="75057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Methodology</a:t>
            </a:r>
            <a:endParaRPr b="1" sz="2600"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614550" y="1715765"/>
            <a:ext cx="7914900" cy="23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 server, or broker (Mosquitto), which communicates with the publishers and subscribers via an internet connection or a local network.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 publisher creates messages and publishes them to a certain topic.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 subscriber receives the messages relevant to the topic it is subscribed to.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M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QTT transmits messages in packets. 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The connection from a subscribing client to a broker is broken, then the broker will buffer messages and push them out to the subscriber when it is back online.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716850" y="775075"/>
            <a:ext cx="75057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MQTT Broker</a:t>
            </a:r>
            <a:endParaRPr b="1" sz="2600"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716850" y="1444625"/>
            <a:ext cx="77103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An MQTT broker acts as a go-between for the clients who are sending messages and the subscribers who are receiving those messages.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Nunito"/>
                <a:ea typeface="Nunito"/>
                <a:cs typeface="Nunito"/>
                <a:sym typeface="Nunito"/>
              </a:rPr>
              <a:t>Types of MQTT Brokers</a:t>
            </a:r>
            <a:endParaRPr b="1" sz="1400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Managed Brokers - Managed brokers don’t require to set up anything on the server to enable MQTT communication.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Self-Hosted Brokers - Self-hosted MQTT brokers requires to install the broker on own VPS or server with a static IP. There are several open-source implementations of MQTT brokers including mosquitto and hivemq.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175" y="376500"/>
            <a:ext cx="6905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>
            <p:ph idx="4294967295" type="title"/>
          </p:nvPr>
        </p:nvSpPr>
        <p:spPr>
          <a:xfrm>
            <a:off x="819138" y="4255638"/>
            <a:ext cx="75057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Model of how the MQTT Works</a:t>
            </a:r>
            <a:endParaRPr b="1"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496813"/>
            <a:ext cx="7505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MQTT Packets Architecture</a:t>
            </a:r>
            <a:endParaRPr b="1" sz="2600"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110000"/>
            <a:ext cx="75057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Fixed header</a:t>
            </a: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 - It is a mandatory part of the message comprising a control header and a packet size. The minimum size is 2 bytes and the maximum size is 5 bytes.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Variable header</a:t>
            </a: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 - It provides additional information about the packets. Its size may vary, depending on the message type. (Not always present)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Payload</a:t>
            </a: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 - It has a maximum size of 256 MB. It may include different commands, like switching on/off, data exchange, and reading sensor data. </a:t>
            </a: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(Not always present)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500" y="3010512"/>
            <a:ext cx="5961001" cy="16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605250" y="722250"/>
            <a:ext cx="7505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MQTT Security</a:t>
            </a:r>
            <a:endParaRPr b="1" sz="2600"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605250" y="1404750"/>
            <a:ext cx="7933500" cy="30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MQTT protocol security relies on the TLS/SSL cryptographic protocols. 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6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A server verifies that it is connected to the correct client by authenticating the client certificate with the SSL protocol, or by authenticating the client identity with a password. 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6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It authenticates the client with the password that is sent by the client to the server in an MQTT protocol header.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6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3"/>
              <a:buFont typeface="Nunito Medium"/>
              <a:buChar char="●"/>
            </a:pPr>
            <a:r>
              <a:rPr lang="en" sz="1402">
                <a:latin typeface="Nunito Medium"/>
                <a:ea typeface="Nunito Medium"/>
                <a:cs typeface="Nunito Medium"/>
                <a:sym typeface="Nunito Medium"/>
              </a:rPr>
              <a:t>The authentication methods of this protocol makes MQTT to not come in the top protocol based on security.</a:t>
            </a:r>
            <a:endParaRPr sz="1402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522600" y="520500"/>
            <a:ext cx="80988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Nunito ExtraBold"/>
                <a:ea typeface="Nunito ExtraBold"/>
                <a:cs typeface="Nunito ExtraBold"/>
                <a:sym typeface="Nunito ExtraBold"/>
              </a:rPr>
              <a:t>COAP</a:t>
            </a:r>
            <a:r>
              <a:rPr lang="en" sz="2600">
                <a:latin typeface="Nunito ExtraBold"/>
                <a:ea typeface="Nunito ExtraBold"/>
                <a:cs typeface="Nunito ExtraBold"/>
                <a:sym typeface="Nunito ExtraBold"/>
              </a:rPr>
              <a:t> VS MQTT</a:t>
            </a:r>
            <a:endParaRPr sz="26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952500" y="1227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{58A9E1FD-962D-4198-B069-CE265FC56018}</a:tableStyleId>
              </a:tblPr>
              <a:tblGrid>
                <a:gridCol w="3619500"/>
                <a:gridCol w="3619500"/>
              </a:tblGrid>
              <a:tr h="4691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is a UDP based protocol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is a TCP based Protocol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83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has 2 modes of communication publish/subscribe and request/response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works on a publish/subscribe model.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6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consumes low memory and efficient in power production.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is a lightweight protocol.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uses the DTLS and IPsec security protocols for encryption and authentication.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MQTT uses an SSL protocol for security.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</a:t>
                      </a: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 uses confirmable and non-confirmable messages to ensure message delivery.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MQTT has a three Quality of Services for message guarantee.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522600" y="659738"/>
            <a:ext cx="80988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Nunito ExtraBold"/>
                <a:ea typeface="Nunito ExtraBold"/>
                <a:cs typeface="Nunito ExtraBold"/>
                <a:sym typeface="Nunito ExtraBold"/>
              </a:rPr>
              <a:t>HTTP VS MQTT</a:t>
            </a:r>
            <a:endParaRPr sz="26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graphicFrame>
        <p:nvGraphicFramePr>
          <p:cNvPr id="184" name="Google Shape;184;p22"/>
          <p:cNvGraphicFramePr/>
          <p:nvPr/>
        </p:nvGraphicFramePr>
        <p:xfrm>
          <a:off x="952500" y="1351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{58A9E1FD-962D-4198-B069-CE265FC56018}</a:tableStyleId>
              </a:tblPr>
              <a:tblGrid>
                <a:gridCol w="3619500"/>
                <a:gridCol w="3619500"/>
              </a:tblGrid>
              <a:tr h="4691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HTTP is a web protocol.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MQTT is a binary protocol.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1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works on a request/response model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works on a publish/subscribe model.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0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This</a:t>
                      </a: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 protocol is heavy to handle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It is a lightweight protocol. But not as COAPs efficiency.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1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HTTPS uses an encryption protocol to encrypt communications.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MQTT uses an SSL protocol for security.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4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HTTP has 18.2ms of latency as compared to MQTT</a:t>
                      </a:r>
                      <a:endParaRPr sz="1200"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MQTT as 0ms latency</a:t>
                      </a:r>
                      <a:endParaRPr sz="1200"/>
                    </a:p>
                  </a:txBody>
                  <a:tcPr marT="91425" marB="182875" marR="91425" marL="91425">
                    <a:lnL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74E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19150" y="865500"/>
            <a:ext cx="7505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Use Cases</a:t>
            </a:r>
            <a:endParaRPr b="1" sz="2600"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19150" y="1648487"/>
            <a:ext cx="7505700" cy="26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b="1" lang="en" sz="1400">
                <a:latin typeface="Nunito"/>
                <a:ea typeface="Nunito"/>
                <a:cs typeface="Nunito"/>
                <a:sym typeface="Nunito"/>
              </a:rPr>
              <a:t>Agriculture: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 MQTT protocol and IoT sensors for agriculture enable seamless data collection and availability to cloud servers even for a challenged Internet connection.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b="1" lang="en" sz="1400">
                <a:latin typeface="Nunito"/>
                <a:ea typeface="Nunito"/>
                <a:cs typeface="Nunito"/>
                <a:sym typeface="Nunito"/>
              </a:rPr>
              <a:t>Facebook: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 Chats are associated with an MQTT topic, and all members of a chat group subscribe and publish to that topic.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</a:pPr>
            <a:r>
              <a:rPr b="1" lang="en" sz="1400">
                <a:latin typeface="Nunito"/>
                <a:ea typeface="Nunito"/>
                <a:cs typeface="Nunito"/>
                <a:sym typeface="Nunito"/>
              </a:rPr>
              <a:t>Wearables:</a:t>
            </a:r>
            <a:r>
              <a:rPr lang="en" sz="1400">
                <a:latin typeface="Nunito Medium"/>
                <a:ea typeface="Nunito Medium"/>
                <a:cs typeface="Nunito Medium"/>
                <a:sym typeface="Nunito Medium"/>
              </a:rPr>
              <a:t> The lightweight nature of the MQTT protocol makes it suitable for wearable devices due to its limited memory and bandwidth capacity.</a:t>
            </a:r>
            <a:endParaRPr sz="14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819150" y="1217563"/>
            <a:ext cx="7505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Conclusion</a:t>
            </a:r>
            <a:endParaRPr b="1" sz="2600"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819150" y="1987938"/>
            <a:ext cx="75057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Medium"/>
              <a:buChar char="●"/>
            </a:pP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MQTT is a strong competitor in the field of data transfer and network communication, although it is not number one at every point. 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Medium"/>
              <a:buChar char="●"/>
            </a:pP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For example, CoAP outperforms MQTT in latency performance, AMQP takes the lead in security. 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Medium"/>
              <a:buChar char="●"/>
            </a:pPr>
            <a:r>
              <a:rPr lang="en" sz="1200">
                <a:latin typeface="Nunito Medium"/>
                <a:ea typeface="Nunito Medium"/>
                <a:cs typeface="Nunito Medium"/>
                <a:sym typeface="Nunito Medium"/>
              </a:rPr>
              <a:t>Simple architecture, easy implementation, reliable message delivery, and high scalability are the strong benefits that will maintain an interest in the MQTT protocol for IoT.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1385850" y="188190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6040"/>
              <a:t>THANK </a:t>
            </a:r>
            <a:r>
              <a:rPr b="1" lang="en" sz="6040">
                <a:solidFill>
                  <a:schemeClr val="dk1"/>
                </a:solidFill>
              </a:rPr>
              <a:t>YOU</a:t>
            </a:r>
            <a:endParaRPr b="1" sz="604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